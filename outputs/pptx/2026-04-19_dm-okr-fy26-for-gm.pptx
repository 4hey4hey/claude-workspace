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顧客価値を、正しく・速く・持続的に届けるデリバリーラインを確立する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杉崎 TL（及川GM向け説明資料）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本資料について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杉崎TL＝チームOKR（一層統合）を、挑戦3＋基盤3の6本で構成する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だから、構造自体へのご承認をいただきたい（別論点2件は次回以降の議題）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2682240" cy="2377440"/>
          </a:xfrm>
          <a:prstGeom prst="roundRect">
            <a:avLst>
              <a:gd name="adj" fmla="val 115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50876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一層統合モデル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杉崎個人O＝チームO。SM/PO/DMの個人OはこのO由来で統一。ファイル一本化。（二層化は規模拡大時に再検討）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30880" y="1508760"/>
            <a:ext cx="2682240" cy="2377440"/>
          </a:xfrm>
          <a:prstGeom prst="roundRect">
            <a:avLst>
              <a:gd name="adj" fmla="val 115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9168" y="150876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5" name="Text 13"/>
          <p:cNvSpPr/>
          <p:nvPr/>
        </p:nvSpPr>
        <p:spPr>
          <a:xfrm>
            <a:off x="3368040" y="164592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挑戦3＋基盤3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8040" y="201168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挑戦KR（入口品質／フロー効率／学習ループ）＋基盤KR（健全性／能力強化／事業貢献PDCA）の6本建て。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96000" y="1508760"/>
            <a:ext cx="2682240" cy="2377440"/>
          </a:xfrm>
          <a:prstGeom prst="roundRect">
            <a:avLst>
              <a:gd name="adj" fmla="val 1154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14288" y="150876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9" name="Text 17"/>
          <p:cNvSpPr/>
          <p:nvPr/>
        </p:nvSpPr>
        <p:spPr>
          <a:xfrm>
            <a:off x="6233160" y="164592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別論点2件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3160" y="201168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Mission外のCorp兼務業務、Kraken PdM不在。本日は議題化まで。承認は次回以降。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メンバー別OKR連鎖・Q1ロードマップは 2026-04-05 既報告（KR②計画・Q1スケジュール詳細）に記載。本資料ではOKR構造そのものに絞る。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設計前提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壁打ちを通じて確定した5つの設計判断 ── OKR構造の根拠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だから、OKR構造そのものへの合意が、本日の承認の前提となる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560320"/>
                <a:gridCol w="2194560"/>
                <a:gridCol w="3200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選択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チームOKRと個人OKRの関係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(β) 一層統合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チームO＝杉崎個人O。SM/PO/DMのOはこのO由来で統一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Objective文言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ハイブリッド案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A案骨格＋「顧客価値」差し込み。5KRとの論理的写像を維持しつつ経営言語に寄せる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KR構成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挑戦3＋基盤3（KR⑦独立）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KR⑦（事業貢献PDCA）は基盤KR3として独立。詳細KPIは後日3者で確定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織り込み構造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モデルA（機能提供者）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デリバリーはHow（プロセスの質）、ビジネス側がWhat（成果）に責任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個人OKRの流入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2系統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チームKR由来（全員）＋DPG KR由来（該当者のみ、PJ責任者／支援者）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52628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見せ場の想定：及川GMとの1on1（口頭補足可能な前提）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Mission と Objective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作る力を、届く価値に変える ── 顧客価値を正しく・速く・持続的に届ける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だから、Missionと6KRは「ムダ／ムリ／ムラ」×「3軸」で整合している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023360" cy="1371600"/>
          </a:xfrm>
          <a:prstGeom prst="roundRect">
            <a:avLst>
              <a:gd name="adj" fmla="val 200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508760"/>
            <a:ext cx="398678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作る力を、届く価値に変える。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作る力が価値まで流れ切るように、流れを整える。ムダなく・ムリなく・ムラなく。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4206240" cy="1371600"/>
          </a:xfrm>
          <a:prstGeom prst="roundRect">
            <a:avLst>
              <a:gd name="adj" fmla="val 200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150876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0116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顧客価値を、正しく・速く・持続的に届けるデリバリーラインを確立する。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意味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担うKR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正しく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何を作るかの判断・検証の質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挑戦KR1（入口品質）＋挑戦KR3（学習ループ）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速く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着手からリリースまでのスピード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挑戦KR2（フロー効率）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持続的に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走り続けられる土台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基盤KR1（健全性）＋基盤KR2（能力強化）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65760" y="452628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当チームは「事業成果が生まれる条件」を整備する側（How責任）。事業成果（会員数・送客等）の責任は各プロダクト責任者（片山TL／髙松TL／柏木TL／湯浅PdM等）。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OKRツリー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Objectiveは挑戦3KR／基盤3KRに分解される ── 6KRは漏れなくObjectiveを支える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だから、6KRは意図的な網羅設計であり、分散した寄せ集めではない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5486400" cy="502920"/>
          </a:xfrm>
          <a:prstGeom prst="roundRect">
            <a:avLst>
              <a:gd name="adj" fmla="val 5455"/>
            </a:avLst>
          </a:prstGeom>
          <a:solidFill>
            <a:srgbClr val="004098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417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顧客価値を、正しく・速く・持続的に届けるデリバリーラインを確立する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62856" y="1920240"/>
            <a:ext cx="18288" cy="91440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002536"/>
            <a:ext cx="493776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2011680"/>
            <a:ext cx="18288" cy="164592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31736" y="2011680"/>
            <a:ext cx="18288" cy="164592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76272"/>
            <a:ext cx="3108960" cy="365760"/>
          </a:xfrm>
          <a:prstGeom prst="roundRect">
            <a:avLst>
              <a:gd name="adj" fmla="val 7500"/>
            </a:avLst>
          </a:prstGeom>
          <a:solidFill>
            <a:srgbClr val="00409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挑戦（速く届ける能力を磨く）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2176272"/>
            <a:ext cx="3108960" cy="365760"/>
          </a:xfrm>
          <a:prstGeom prst="roundRect">
            <a:avLst>
              <a:gd name="adj" fmla="val 7500"/>
            </a:avLst>
          </a:prstGeom>
          <a:solidFill>
            <a:srgbClr val="44446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基盤（走り続ける土台を守る）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93976" y="2542032"/>
            <a:ext cx="18288" cy="1883664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3026664"/>
            <a:ext cx="155448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724912"/>
            <a:ext cx="3108960" cy="621792"/>
          </a:xfrm>
          <a:prstGeom prst="roundRect">
            <a:avLst>
              <a:gd name="adj" fmla="val 4412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724912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KR1 入口品質</a:t>
            </a:r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開発に入る前の前提整理・要求定義の曖昧さをなくし、仕様起因の手戻りをゼロにする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（見極める／ムダ）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03120" y="3721608"/>
            <a:ext cx="155448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19856"/>
            <a:ext cx="3108960" cy="621792"/>
          </a:xfrm>
          <a:prstGeom prst="roundRect">
            <a:avLst>
              <a:gd name="adj" fmla="val 4412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19856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KR2 フロー効率</a:t>
            </a:r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開発工程のムリ・ムダ・ムラをなくし、案件を停滞させずスムーズに顧客へ届ける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（速くする／ムダ）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03120" y="4416552"/>
            <a:ext cx="1554480" cy="1828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14800"/>
            <a:ext cx="3108960" cy="621792"/>
          </a:xfrm>
          <a:prstGeom prst="roundRect">
            <a:avLst>
              <a:gd name="adj" fmla="val 4412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114800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KR3 学習ループ</a:t>
            </a:r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リリースして終わりにせず、お客様の反応を見て「次にやること／やめること」を決める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（見極める／ムダ）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31736" y="2542032"/>
            <a:ext cx="18288" cy="1883664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026664"/>
            <a:ext cx="1554480" cy="18288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2724912"/>
            <a:ext cx="3108960" cy="621792"/>
          </a:xfrm>
          <a:prstGeom prst="roundRect">
            <a:avLst>
              <a:gd name="adj" fmla="val 4412"/>
            </a:avLst>
          </a:prstGeom>
          <a:solidFill>
            <a:srgbClr val="EEF3FA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6128" y="2724912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KR1 健全性＋開発環境</a:t>
            </a:r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健全性・サブKPI・開発環境を整え、チームが走り続けられる土台を通年で担保する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（守る／ムリ）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3721608"/>
            <a:ext cx="1554480" cy="18288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3419856"/>
            <a:ext cx="3108960" cy="621792"/>
          </a:xfrm>
          <a:prstGeom prst="roundRect">
            <a:avLst>
              <a:gd name="adj" fmla="val 4412"/>
            </a:avLst>
          </a:prstGeom>
          <a:solidFill>
            <a:srgbClr val="EEF3FA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3419856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KR2 能力の多面的強化</a:t>
            </a:r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プロセス・人・基盤の3層を同時に強化し、中長期的にデリバリー組織そのものを強くする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（強くする／ムラ）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4416552"/>
            <a:ext cx="1554480" cy="18288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4114800"/>
            <a:ext cx="3108960" cy="621792"/>
          </a:xfrm>
          <a:prstGeom prst="roundRect">
            <a:avLst>
              <a:gd name="adj" fmla="val 4412"/>
            </a:avLst>
          </a:prstGeom>
          <a:solidFill>
            <a:srgbClr val="EEF3FA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6128" y="4114800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KR3 事業貢献PDCA</a:t>
            </a:r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事業側との四半期相互検証で、配置メンバーの事業貢献に相互納得を形成し外部妥当性を担保する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（見極め×強く／外部妥当性）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成果の方程式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試行回数 × 施策精度 ＝ 事業成果。チームは"How"側の先行指標で達成確度を高める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だから、事業側（What）と役割分担が明確。サブKPIで早さ暴走を抑止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529840" cy="8229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23835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試行回数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792224"/>
            <a:ext cx="23835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打席数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87040" y="170992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07080" y="1463040"/>
            <a:ext cx="2529840" cy="8229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0232" y="1536192"/>
            <a:ext cx="23835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施策の精度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0232" y="1792224"/>
            <a:ext cx="23835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仮説・検証の質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28360" y="1709928"/>
            <a:ext cx="228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8400" y="1463040"/>
            <a:ext cx="2529840" cy="8229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1552" y="1536192"/>
            <a:ext cx="23835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事業成果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1552" y="1792224"/>
            <a:ext cx="238353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会員・送客・熱狂顧客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指標の性質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アウトカム指標／遅行指標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会員数・GP契約数・PJ達成度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結果が出ないと計測できない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ケイパビリティ指標／先行指標（DPG KR②）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内製化組織の組織能力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早期予測・原因分析・継続的改善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65760" y="4069080"/>
            <a:ext cx="8412480" cy="777240"/>
          </a:xfrm>
          <a:prstGeom prst="roundRect">
            <a:avLst>
              <a:gd name="adj" fmla="val 352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0690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早さを追うことが目的ではない。サブKPI（変更失敗率15%以下／開発者満足度SPACE軸4.0以上）で健全性を担保する。「仮説・検証・学習が止まらず高速に巡るプロダクト開発のカタ」の定着が本筋。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目標根拠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「平均1ヶ月以内」＝DORA High ── 世界最大の開発組織ベンチマークの水準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だから、挑戦KR1／KR2／KR3の定量目標は恣意的設定ではなく、グローバル基準に基づく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レベル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リードタイム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代表組織／水準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Elite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1時間以内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Amazon / Netflix / Google など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High（← 目標）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1日〜1ヶ月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メガベンチャー・デジタル先進企業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Medium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1ヶ月〜6ヶ月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一般的なIT企業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Low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6ヶ月以上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レガシー運用企業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840480"/>
            <a:ext cx="8412480" cy="1097280"/>
          </a:xfrm>
          <a:prstGeom prst="roundRect">
            <a:avLst>
              <a:gd name="adj" fmla="val 2500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" y="3840480"/>
            <a:ext cx="837590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 Highレベル 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RA（Google傘下、10年研究、世界最大の開発組織ベンチマーク）の4段階のうち、メガベンチャー・デジタル先進企業相当のHighを目標に設定。FY28末到達を前提に、FY26はベースライン確定＋下降トレンドで進捗を測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DPG KR接続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DPG KR②4アプローチ（計測／入口／フロー／学習）をチーム6KRが直接受ける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だから、上位OKRとの紐付けが構造的に保証される（6KR中5本が◎直接接続）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6KR中 ◎直接接続 5本／○安全装置 1本（基盤KR1のみ、暴走防止として意図的配置）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チームKR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KR接続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接続強度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挑戦KR1 入口品質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アプローチ②（入口品質）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挑戦KR2 フロー効率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アプローチ③（フロー効率）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挑戦KR3 学習ループ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アプローチ④（学習ループ）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基盤KR1 健全性＋開発環境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サブKPI（変更失敗率／SPACE）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安全装置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基盤KR2 能力強化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KR② アプローチ①（計測基盤）＋DPG KR⑥（コスト改善）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直接受け／直接貢献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基盤KR3 事業貢献PDCA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DPG KR⑦（事業側との相互検証）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直接受け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KR構造全体像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挑戦3KRで速く届ける能力を磨き、基盤3KRで走り続ける土台を守る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だから、6KRは分散ではなく役割分担（攻め／守り）である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00409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【挑戦】速く届ける能力を磨く（ムダを減らす）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011680"/>
            <a:ext cx="407822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 入口品質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開発に入る前の前提整理・要求定義の曖昧さをなくし、仕様起因の手戻りをゼロにする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99232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999232"/>
            <a:ext cx="407822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 フロー効率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開発工程のムリ・ムダ・ムラをなくし、案件を停滞させずスムーズに顧客へ届ける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986784"/>
            <a:ext cx="407822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23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 学習ループ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489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リリースして終わりにせず、お客様の反応を見て「次にやること／やめること」を決める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463040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44446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【基盤】走り続ける土台を守る（ムリ・ムラを抑える）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011680"/>
            <a:ext cx="4078224" cy="54864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 健全性＋開発環境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健全性・サブKPI・開発環境を整え、チームが走り続けられる土台を通年で担保する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2999232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2999232"/>
            <a:ext cx="4078224" cy="54864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 能力の多面的強化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0060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プロセス・人・基盤の3層を同時に強化し、中長期的にデリバリー組織そのものを強くする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3986784"/>
            <a:ext cx="4114800" cy="896112"/>
          </a:xfrm>
          <a:prstGeom prst="roundRect">
            <a:avLst>
              <a:gd name="adj" fmla="val 3061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3986784"/>
            <a:ext cx="4078224" cy="54864"/>
          </a:xfrm>
          <a:prstGeom prst="rect">
            <a:avLst/>
          </a:prstGeom>
          <a:solidFill>
            <a:srgbClr val="444466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4123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基盤KR3 事業貢献PDCA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00600" y="4489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事業側との四半期相互検証で、配置メンバーの事業貢献に相互納得を形成し外部妥当性を担保する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挑戦KR1 入口品質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 入口品質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開発に入る前の前提整理・要求定義の曖昧さをなくし、仕様起因の手戻りをゼロにする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だから、人を増やすのではなく仕様・判断・スコープの制御を先に整える（FY28末 DORA High達成、FY26はベースライン確定）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63040"/>
            <a:ext cx="4169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開発に入る「前」で時間を失うことを止め、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開発中の手戻りと方向違いの実装を減らす。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46304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問題認識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Naikistのデプロイ頻度は1週間。遅さの本質は開発「前後」── 仕様確定遅延、PO判断待ち、並行PJ依存、スコープ膨張。エンジニア人数・技術力ではなく仕様制御の問題。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01752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FY26末：ベースライン確定＋手戻り削減の下降トレンド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FY28末：要件定義→リリース 平均1ヶ月以内（DORA High）、バックログ常時Ready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01752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3017520"/>
            <a:ext cx="4169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・Ready定義を全チーム標準化展開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・手戻り原因分析の運用開始（仕様／技術／外部）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・工程・役割の明確化、優先対応基準の整備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・外部講師レクチャーで継続支援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先行KPI（途中確認指標）：Ready定義達成率（PBI全数のうち着手時点でReady）　／　手戻り発生時の原因分類実施率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挑戦KR2 フロー効率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 フロー効率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開発工程のムリ・ムダ・ムラをなくし、案件を停滞させずスムーズに顧客へ届ける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だから、未安定3チームの型を言語化し、計測で見える化する必要がある（FY28末サイクルタイム DORA High、FY26は全チーム計測稼働）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63040"/>
            <a:ext cx="4169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着手からリリースまでの流れそのものを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速く、予測可能にする。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46304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問題認識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4チーム中3チームのCT未安定（Fluppuccino／Discovery／Guardians）。PBI粒度、認識合わせ速度、見積精度、改善の回転で成熟度バラつき。リードタイム計測未整備でボトルネックが見えない。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01752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FY26末：全チームCT計測稼働、未安定3チームがNaikistレベル（1〜2週）に近づく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FY28末：CT平均1ヶ月、見積精度90%以上、DORA High到達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01752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3017520"/>
            <a:ext cx="4169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・全チームでサイクルタイム計測導入（Notion／Github）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・工程リードタイム可視化でボトルネック特定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・Web/ネイティブをフィーチャーチームに統合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・優先順位づけ基準の整備（意思決定速度）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先行KPI（途中確認指標）：ボトルネック工程の滞留日数（ステージ別内訳）　／　スプリントゴール達成率（80%+目標）　／　PBI粒度分布（1スプリント完了可能サイズの適用率）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挑戦KR3 学習ループ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 学習ループ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リリースして終わりにせず、お客様の反応を見て「次にやること／やめること」を決める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だから、成果の方程式の"精度側"は、検証を次の投資判断に接続することで実現する（FY28末 検証→次施策反映 平均1ヶ月以内＝DORA High）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463040"/>
            <a:ext cx="4169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作ったものが顧客価値につながったかを検証し、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次の投資判断に反映するサイクルを定着させる。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46304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問題認識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9659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「作る」までで終わり、検証が次サイクルに接続されない。Krakenのような依存関係が多い案件は前提が変わり手戻り化。打席数を増やすだけでは成果は出ない ── 何に打席を使うかの精度が低ければ打席を無駄にする。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017520"/>
            <a:ext cx="416966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年度マイルストーン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FY26末：スプリントレビューに価値検証アジェンダ定着、学習ログ蓄積＋PdM月次FB稼働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FY28末：検証起因のバックログ変更50%以上、DORA High到達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3017520"/>
            <a:ext cx="4206240" cy="1463040"/>
          </a:xfrm>
          <a:prstGeom prst="roundRect">
            <a:avLst>
              <a:gd name="adj" fmla="val 1875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3017520"/>
            <a:ext cx="4169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主要施策（FY26）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・PBIフォーマットに「検証したい仮説／計測指標」を組込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・開発環境にGoogleAnalytics導入、ドッグフーディング仕組化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・スプリントレビューで価値検証アジェンダを毎回運用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先行KPI（途中確認指標）：事前検証済みPBI件数　／　検証起因バックログ変更件数　／　ドッグフーディング実施回数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基盤KR1／基盤KR3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健全性＋環境で持続性を担保し、事業貢献PDCAで外部妥当性を確認する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だから、内向き（持続性）と外向き（事業側の信頼度）の両方を担保する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069080" cy="411480"/>
          </a:xfrm>
          <a:prstGeom prst="roundRect">
            <a:avLst>
              <a:gd name="adj" fmla="val 6667"/>
            </a:avLst>
          </a:prstGeom>
          <a:solidFill>
            <a:srgbClr val="00409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08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 健全性＋開発環境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4069080" cy="2880360"/>
          </a:xfrm>
          <a:prstGeom prst="roundRect">
            <a:avLst>
              <a:gd name="adj" fmla="val 952"/>
            </a:avLst>
          </a:prstGeom>
          <a:solidFill>
            <a:srgbClr val="EEF3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5740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健全性・サブKPI・開発環境を整え、チームが走り続けられる土台を通年で担保する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FY26末（通年維持）：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・変更失敗率 15%以下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・開発者満足度 SPACE軸 4.0以上（月次）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・ITインフラ継続稼働＋ツール棚卸し定常化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主要施策：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・サブKPI計測基盤整備（変更失敗率自動集計／SPACE月次）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・月次1on1・健全性スコア・AVD/EDR運用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先行KPI：月次1on1実施率／月次サーベイ回答率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4069080" cy="411480"/>
          </a:xfrm>
          <a:prstGeom prst="roundRect">
            <a:avLst>
              <a:gd name="adj" fmla="val 6667"/>
            </a:avLst>
          </a:prstGeom>
          <a:solidFill>
            <a:srgbClr val="004098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508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基盤KR3 事業貢献PDCA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965960"/>
            <a:ext cx="4069080" cy="2880360"/>
          </a:xfrm>
          <a:prstGeom prst="roundRect">
            <a:avLst>
              <a:gd name="adj" fmla="val 952"/>
            </a:avLst>
          </a:prstGeom>
          <a:solidFill>
            <a:srgbClr val="EEF3FA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05740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事業側との四半期相互検証で、配置メンバーの事業貢献に相互納得を形成し外部妥当性を担保する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責任構造：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・3者共同責任（片山TL・檜垣TL・杉崎TL）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・FY26 Q1中に詳細KPI整合確定（DPG KR⑦直接受け）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主要施策：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・1Q・2Q・3Q末に事業側（toC各部）へアンケート／面談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・振り返りと次Qアクション策定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・配置メンバーの事業貢献状況を四半期で可視化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先行KPI：四半期振り返り実施率／アンケート・面談カバー率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基盤KR2 能力の多面的強化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 能力の多面的強化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プロセス・人・基盤の3層を同時に強化し、中長期的にデリバリー組織そのものを強くする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1115568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だから、FY27以降に息切れしない組織能力をFY26末に作る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2682240" cy="2103120"/>
          </a:xfrm>
          <a:prstGeom prst="roundRect">
            <a:avLst>
              <a:gd name="adj" fmla="val 1304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 プロセス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240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ふりかえり質向上／スクラム型化／Ready定義運用を全チーム適用。ベテラン暗黙知を言語化。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30880" y="1463040"/>
            <a:ext cx="2682240" cy="2103120"/>
          </a:xfrm>
          <a:prstGeom prst="roundRect">
            <a:avLst>
              <a:gd name="adj" fmla="val 1304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6" name="Text 14"/>
          <p:cNvSpPr/>
          <p:nvPr/>
        </p:nvSpPr>
        <p:spPr>
          <a:xfrm>
            <a:off x="336804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 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68040" y="2011680"/>
            <a:ext cx="240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デリバリーマネージャー採用完了＋次世代リーダー（SM／PO候補）育成。1on1・キャリア設計の専任化。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6000" y="1463040"/>
            <a:ext cx="2682240" cy="2103120"/>
          </a:xfrm>
          <a:prstGeom prst="roundRect">
            <a:avLst>
              <a:gd name="adj" fmla="val 1304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4288" y="1463040"/>
            <a:ext cx="264566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20" name="Text 18"/>
          <p:cNvSpPr/>
          <p:nvPr/>
        </p:nvSpPr>
        <p:spPr>
          <a:xfrm>
            <a:off x="6233160" y="1600200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 基盤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33160" y="2011680"/>
            <a:ext cx="240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計測基盤全チーム稼働（DPG KR②アプローチ①）／inet発注最適化で費用削減見立て（DPG KR⑥）／KARTE→Braze可否判断完了。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0" cy="1097280"/>
          </a:xfrm>
          <a:prstGeom prst="roundRect">
            <a:avLst>
              <a:gd name="adj" fmla="val 2500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FY26末達成目標：①プロセス標準化全チーム適用  ②計測基盤全チーム稼働  ③inet費用削減見立て完了  ④KARTE→Braze機能可否判断完了  ⑤DM採用完了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KR間連動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挑戦3KRが循環し、基盤3KRが支える ── 6KRで成果の方程式を回す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だから、6KRは一体で動く設計。どれか1本だけ追っても成果は出ない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2286000" cy="77724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挑戦KR1
</a:t>
            </a:r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入口品質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17876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66160" y="1554480"/>
            <a:ext cx="2286000" cy="77724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挑戦KR2
</a:t>
            </a:r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フロー効率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178765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46520" y="1554480"/>
            <a:ext cx="2286000" cy="77724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19050">
            <a:solidFill>
              <a:srgbClr val="0040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54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挑戦KR3
</a:t>
            </a:r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学習ループ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423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◀ 学びが仮説精度を高める（KR3 → KR1）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8412480" cy="10973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 挑戦3KR すべての前提・支え（基盤3KR）──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841248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46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基盤KR1 健全性＋開発環境</a:t>
            </a:r>
            <a:pPr algn="l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—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前提条件＋安全装置（守る／ムリ）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13048"/>
            <a:ext cx="841248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13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基盤KR2 能力の多面的強化</a:t>
            </a:r>
            <a:pPr algn="l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—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中長期持続性（強くする／ムラ）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79976"/>
            <a:ext cx="841248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7997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基盤KR3 事業貢献PDCA</a:t>
            </a:r>
            <a:pPr algn="l"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—  </a:t>
            </a:r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外部妥当性チェック（見極め×強く）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別論点①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財務・労務・資産・セキュリティはMission射程外 ── 中長期の組織分離を議題化したい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だから、今回はOKRに載せず、別論点として認識共有をしたい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182880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業務領域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具体業務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本来の機能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現状担い手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財務・経理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予算策定・支出・購買・人件費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財務・経理機能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林・望月＋杉崎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勤怠管理（OPST・MSOL・出向）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労務機能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林・望月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資産管理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固定資産管理（端末棚卸・台帳）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資産管理機能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林・望月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ツール運用（経理寄り）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ライセンス月次棚卸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経理機能に近い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望月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セキュリティ・コンプラ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情報セキュリティ・IC対応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セキュリティ専任部署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岩渕＋杉崎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3337560"/>
            <a:ext cx="4114800" cy="12344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" y="3337560"/>
            <a:ext cx="4078224" cy="54864"/>
          </a:xfrm>
          <a:prstGeom prst="rect">
            <a:avLst/>
          </a:prstGeom>
          <a:solidFill>
            <a:srgbClr val="004098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線引き基準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・包含：デリバリー能力・開発生産性に直結（コーポレートエンジ・BPR・開発ツール管理）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・除外：Mission射程外 → OKR非搭載・評価軸外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・林・望月はチームOKR対象外。杉崎の監督責任のみ発生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3337560"/>
            <a:ext cx="4114800" cy="12344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3337560"/>
            <a:ext cx="407822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留意点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0060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・「チームOKR対象外」と書くのは心理的に重い判断。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本人への伝え方・評価軸（別ルート人事評価）は別途設計</a:t>
            </a:r>
            <a:endParaRPr lang="en-US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・セキュリティ・コンプラは専任部署との責任分界点が曖昧。GMとの対話で明示化したい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提起：中長期的な組織分離・移管を相談したい（今回は議題化まで）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DMチーム FY26 OKR  &gt;  別論点②／次の一手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004098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Krakenのみ PdM空欄 ── 議題化しつつ、本日は「OKR構造のご承認」をゴールに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だから、本日いただきたいのは「OKR構造の承認」の1点。別論点は次回へ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KR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責任者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PdM列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09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①ディスカバリー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片山TL／髙松TL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湯浅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③-1 Kraken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福田PO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（空欄）←ここ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③-2 MA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吉田TL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高松・湯浅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③-3 ID基盤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吉田TL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高松・湯浅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④会員数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柏木TL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高松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⑤GP送客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湯浅PdM／高松TL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加藤・長友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577840" y="1463040"/>
            <a:ext cx="3200400" cy="1645920"/>
          </a:xfrm>
          <a:prstGeom prst="roundRect">
            <a:avLst>
              <a:gd name="adj" fmla="val 166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リスク3点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5000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福田POの無限スコープ化（事業仮説言語化まで巻取り）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Kraken成果評価の曖昧化（事業にどう効いた？が説明不能）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挑戦KR3（学習ループ）の歪み（仮説の所有者不在）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3200400"/>
            <a:ext cx="3200400" cy="1188720"/>
          </a:xfrm>
          <a:prstGeom prst="roundRect">
            <a:avLst>
              <a:gd name="adj" fmla="val 2308"/>
            </a:avLst>
          </a:prstGeom>
          <a:solidFill>
            <a:srgbClr val="EEF3FA"/>
          </a:solidFill>
          <a:ln w="12700">
            <a:solidFill>
              <a:srgbClr val="0040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GMへの提起想定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・PdM側（片山TL／湯浅PdM等）とアサイン協議を進めたい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・DPG KR⑦（基盤KR3）の3者共同責任枠組みで議題化可能</a:t>
            </a:r>
            <a:endParaRPr lang="en-US" sz="9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・アサイン決定までは福田の責任を「デリバリー側PO責任」に境界明示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3200400"/>
            <a:ext cx="5029200" cy="1188720"/>
          </a:xfrm>
          <a:prstGeom prst="roundRect">
            <a:avLst>
              <a:gd name="adj" fmla="val 2308"/>
            </a:avLst>
          </a:prstGeom>
          <a:solidFill>
            <a:srgbClr val="F8FAFC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444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福田POの責任境界（アサイン決定まで）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3566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0409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含む（デリバリー側PO責任）：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要件管理・開発進捗管理・接続完了／本番リリースまでの実行責任
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含まない（PdM責任＝別アサイン待ち）：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事業仮説言語化・ROI寄与設計・顧客価値仮説構築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4526280"/>
            <a:ext cx="8412480" cy="36576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65F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本日のゴール：OKR構造（挑戦3＋基盤3／一層統合）のご承認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2026-04-19T10:44:10Z</dcterms:created>
  <dcterms:modified xsi:type="dcterms:W3CDTF">2026-04-19T10:44:10Z</dcterms:modified>
</cp:coreProperties>
</file>