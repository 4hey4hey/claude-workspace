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4098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731520"/>
            <a:ext cx="109728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DMチーム FY26 OKR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2651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顧客価値を、正しく・速く・持続的に届けるデリバリーラインを確立する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444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2026-04-19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657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杉崎 TL（及川GM向け説明資料）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5084064"/>
            <a:ext cx="7315200" cy="64008"/>
          </a:xfrm>
          <a:prstGeom prst="rect">
            <a:avLst/>
          </a:prstGeom>
          <a:solidFill>
            <a:srgbClr val="004098"/>
          </a:solidFill>
          <a:ln w="12700">
            <a:solidFill>
              <a:srgbClr val="00409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5084064"/>
            <a:ext cx="182880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315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DMチーム FY26 OKR  &gt;  本資料について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9144000" cy="914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84064"/>
            <a:ext cx="7315200" cy="64008"/>
          </a:xfrm>
          <a:prstGeom prst="rect">
            <a:avLst/>
          </a:prstGeom>
          <a:solidFill>
            <a:srgbClr val="004098"/>
          </a:solidFill>
          <a:ln w="12700">
            <a:solidFill>
              <a:srgbClr val="00409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0" y="5084064"/>
            <a:ext cx="182880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38404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杉崎TL＝チームOKR（一層統合）を、挑戦3＋基盤3の6本で構成する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1051560"/>
            <a:ext cx="9144000" cy="914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だから、構造自体へのご承認をいただきたい（別論点2件は次回以降の議題）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508760"/>
            <a:ext cx="2682240" cy="2377440"/>
          </a:xfrm>
          <a:prstGeom prst="roundRect">
            <a:avLst>
              <a:gd name="adj" fmla="val 1154"/>
            </a:avLst>
          </a:prstGeom>
          <a:solidFill>
            <a:srgbClr val="EEF3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4048" y="1508760"/>
            <a:ext cx="2645664" cy="54864"/>
          </a:xfrm>
          <a:prstGeom prst="rect">
            <a:avLst/>
          </a:prstGeom>
          <a:solidFill>
            <a:srgbClr val="00409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645920"/>
            <a:ext cx="240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一層統合モデル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" y="201168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杉崎個人O＝チームO。SM/PO/DMの個人OはこのO由来で統一。ファイル一本化。（二層化は規模拡大時に再検討）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230880" y="1508760"/>
            <a:ext cx="2682240" cy="2377440"/>
          </a:xfrm>
          <a:prstGeom prst="roundRect">
            <a:avLst>
              <a:gd name="adj" fmla="val 1154"/>
            </a:avLst>
          </a:prstGeom>
          <a:solidFill>
            <a:srgbClr val="EEF3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49168" y="1508760"/>
            <a:ext cx="2645664" cy="54864"/>
          </a:xfrm>
          <a:prstGeom prst="rect">
            <a:avLst/>
          </a:prstGeom>
          <a:solidFill>
            <a:srgbClr val="004098"/>
          </a:solidFill>
          <a:ln/>
        </p:spPr>
      </p:sp>
      <p:sp>
        <p:nvSpPr>
          <p:cNvPr id="15" name="Text 13"/>
          <p:cNvSpPr/>
          <p:nvPr/>
        </p:nvSpPr>
        <p:spPr>
          <a:xfrm>
            <a:off x="3368040" y="1645920"/>
            <a:ext cx="240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挑戦3＋基盤3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368040" y="201168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挑戦KR（入口品質／フロー効率／学習ループ）＋基盤KR（健全性／能力強化／事業貢献PDCA）の6本建て。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96000" y="1508760"/>
            <a:ext cx="2682240" cy="2377440"/>
          </a:xfrm>
          <a:prstGeom prst="roundRect">
            <a:avLst>
              <a:gd name="adj" fmla="val 1154"/>
            </a:avLst>
          </a:prstGeom>
          <a:solidFill>
            <a:srgbClr val="EEF3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14288" y="1508760"/>
            <a:ext cx="2645664" cy="54864"/>
          </a:xfrm>
          <a:prstGeom prst="rect">
            <a:avLst/>
          </a:prstGeom>
          <a:solidFill>
            <a:srgbClr val="004098"/>
          </a:solidFill>
          <a:ln/>
        </p:spPr>
      </p:sp>
      <p:sp>
        <p:nvSpPr>
          <p:cNvPr id="19" name="Text 17"/>
          <p:cNvSpPr/>
          <p:nvPr/>
        </p:nvSpPr>
        <p:spPr>
          <a:xfrm>
            <a:off x="6233160" y="1645920"/>
            <a:ext cx="240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別論点2件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33160" y="201168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Mission外のCorp兼務業務、Kraken PdM不在。本日は議題化まで。承認は次回以降。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160520"/>
            <a:ext cx="8412480" cy="685800"/>
          </a:xfrm>
          <a:prstGeom prst="roundRect">
            <a:avLst>
              <a:gd name="adj" fmla="val 4000"/>
            </a:avLst>
          </a:prstGeom>
          <a:solidFill>
            <a:srgbClr val="EEF3FA"/>
          </a:solidFill>
          <a:ln w="12700">
            <a:solidFill>
              <a:srgbClr val="00409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416052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メンバー別OKR連鎖・Q1ロードマップは 2026-04-05 既報告（KR②計画・Q1スケジュール詳細）に記載。本資料ではOKR構造そのものに絞る。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315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DMチーム FY26 OKR  &gt;  設計前提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9144000" cy="914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84064"/>
            <a:ext cx="7315200" cy="64008"/>
          </a:xfrm>
          <a:prstGeom prst="rect">
            <a:avLst/>
          </a:prstGeom>
          <a:solidFill>
            <a:srgbClr val="004098"/>
          </a:solidFill>
          <a:ln w="12700">
            <a:solidFill>
              <a:srgbClr val="00409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0" y="5084064"/>
            <a:ext cx="182880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38404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壁打ちを通じて確定した5つの設計判断 ── OKR構造の根拠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1051560"/>
            <a:ext cx="9144000" cy="914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だから、OKR構造そのものへの合意が、本日の承認の前提となる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63040"/>
          <a:ext cx="84124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194560"/>
                <a:gridCol w="320040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#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0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論点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0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選択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0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意味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09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チームOKRと個人OKRの関係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(β) 一層統合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チームO＝杉崎個人O。SM/PO/DMのOはこのO由来で統一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Objective文言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ハイブリッド案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A案骨格＋「顧客価値」差し込み。5KRとの論理的写像を維持しつつ経営言語に寄せる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KR構成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挑戦3＋基盤3（KR⑦独立）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DPG KR⑦（事業貢献PDCA）は基盤KR3として独立。詳細KPIは後日3者で確定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織り込み構造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モデルA（機能提供者）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デリバリーはHow（プロセスの質）、ビジネス側がWhat（成果）に責任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個人OKRの流入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2系統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チームKR由来（全員）＋DPG KR由来（該当者のみ、PJ責任者／支援者）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65760" y="4526280"/>
            <a:ext cx="8412480" cy="365760"/>
          </a:xfrm>
          <a:prstGeom prst="roundRect">
            <a:avLst>
              <a:gd name="adj" fmla="val 7500"/>
            </a:avLst>
          </a:prstGeom>
          <a:solidFill>
            <a:srgbClr val="EEF3FA"/>
          </a:solidFill>
          <a:ln w="12700">
            <a:solidFill>
              <a:srgbClr val="00409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45262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見せ場の想定：及川GMとの1on1（口頭補足可能な前提）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315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DMチーム FY26 OKR  &gt;  Mission と Objective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9144000" cy="914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84064"/>
            <a:ext cx="7315200" cy="64008"/>
          </a:xfrm>
          <a:prstGeom prst="rect">
            <a:avLst/>
          </a:prstGeom>
          <a:solidFill>
            <a:srgbClr val="004098"/>
          </a:solidFill>
          <a:ln w="12700">
            <a:solidFill>
              <a:srgbClr val="00409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0" y="5084064"/>
            <a:ext cx="182880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38404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作る力を、届く価値に変える ── 顧客価値を正しく・速く・持続的に届ける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1051560"/>
            <a:ext cx="9144000" cy="914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だから、Missionと6KRは「ムダ／ムリ／ムラ」×「3軸」で整合している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508760"/>
            <a:ext cx="4023360" cy="1371600"/>
          </a:xfrm>
          <a:prstGeom prst="roundRect">
            <a:avLst>
              <a:gd name="adj" fmla="val 2000"/>
            </a:avLst>
          </a:prstGeom>
          <a:solidFill>
            <a:srgbClr val="EEF3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4048" y="1508760"/>
            <a:ext cx="3986784" cy="54864"/>
          </a:xfrm>
          <a:prstGeom prst="rect">
            <a:avLst/>
          </a:prstGeom>
          <a:solidFill>
            <a:srgbClr val="00409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6459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Mission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" y="20116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作る力を、届く価値に変える。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作る力が価値まで流れ切るように、流れを整える。ムダなく・ムリなく・ムラなく。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0" y="1508760"/>
            <a:ext cx="4206240" cy="1371600"/>
          </a:xfrm>
          <a:prstGeom prst="roundRect">
            <a:avLst>
              <a:gd name="adj" fmla="val 2000"/>
            </a:avLst>
          </a:prstGeom>
          <a:solidFill>
            <a:srgbClr val="EEF3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90288" y="1508760"/>
            <a:ext cx="4169664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709160" y="1645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09160" y="20116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顧客価値を、正しく・速く・持続的に届けるデリバリーラインを確立する。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063240"/>
          <a:ext cx="84124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291840"/>
                <a:gridCol w="384048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3軸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0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意味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0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担うKR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09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正しく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何を作るかの判断・検証の質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挑戦KR1（入口品質）＋挑戦KR3（学習ループ）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速く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着手からリリースまでのスピード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挑戦KR2（フロー効率）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持続的に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走り続けられる土台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基盤KR1（健全性）＋基盤KR2（能力強化）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365760" y="4526280"/>
            <a:ext cx="8412480" cy="365760"/>
          </a:xfrm>
          <a:prstGeom prst="roundRect">
            <a:avLst>
              <a:gd name="adj" fmla="val 7500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2920" y="45262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92400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当チームは「事業成果が生まれる条件」を整備する側（How責任）。事業成果（会員数・送客等）の責任は各プロダクト責任者（片山TL／髙松TL／柏木TL／湯浅PdM等）。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315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DMチーム FY26 OKR  &gt;  ロジックツリー（問いの形）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9144000" cy="914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84064"/>
            <a:ext cx="7315200" cy="64008"/>
          </a:xfrm>
          <a:prstGeom prst="rect">
            <a:avLst/>
          </a:prstGeom>
          <a:solidFill>
            <a:srgbClr val="004098"/>
          </a:solidFill>
          <a:ln w="12700">
            <a:solidFill>
              <a:srgbClr val="00409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0" y="5084064"/>
            <a:ext cx="182880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38404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Missionを1つの大きな問いに変換し、6つのKRへ展開する（PLAID方式）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1051560"/>
            <a:ext cx="9144000" cy="914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だから、6KRはMissionを漏れなく分解して導出された意図的な網羅設計である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417320"/>
            <a:ext cx="8412480" cy="548640"/>
          </a:xfrm>
          <a:prstGeom prst="roundRect">
            <a:avLst>
              <a:gd name="adj" fmla="val 5000"/>
            </a:avLst>
          </a:prstGeom>
          <a:solidFill>
            <a:srgbClr val="004098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17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Q:  </a:t>
            </a:r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作る力を価値に変えるために、デリバリーチームは何を実現すべきか？</a:t>
            </a:r>
            <a:pPr algn="l" indent="0" marL="0">
              <a:lnSpc>
                <a:spcPct val="130000"/>
              </a:lnSpc>
              <a:buNone/>
            </a:pPr>
            <a:endParaRPr lang="en-US" sz="1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（＝顧客価値を、正しく・速く・持続的に届けるデリバリーラインを、どう確立するか？）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22376" y="1965960"/>
            <a:ext cx="18288" cy="2834640"/>
          </a:xfrm>
          <a:prstGeom prst="rect">
            <a:avLst/>
          </a:prstGeom>
          <a:solidFill>
            <a:srgbClr val="004098"/>
          </a:solidFill>
          <a:ln w="12700">
            <a:solidFill>
              <a:srgbClr val="00409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2231136"/>
            <a:ext cx="274320" cy="18288"/>
          </a:xfrm>
          <a:prstGeom prst="rect">
            <a:avLst/>
          </a:prstGeom>
          <a:solidFill>
            <a:srgbClr val="004098"/>
          </a:solidFill>
          <a:ln w="12700">
            <a:solidFill>
              <a:srgbClr val="00409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05840" y="1993392"/>
            <a:ext cx="3749040" cy="493776"/>
          </a:xfrm>
          <a:prstGeom prst="roundRect">
            <a:avLst>
              <a:gd name="adj" fmla="val 3704"/>
            </a:avLst>
          </a:prstGeom>
          <a:solidFill>
            <a:srgbClr val="F8FAFC"/>
          </a:solidFill>
          <a:ln w="9525">
            <a:solidFill>
              <a:srgbClr val="44446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15568" y="1993392"/>
            <a:ext cx="35295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Q1  </a:t>
            </a:r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開発ラインに流す仕事の質と判断スピードを高め、仕様起因の手戻りと無駄な開発をなくせるか？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846320" y="2112264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166360" y="1993392"/>
            <a:ext cx="3611880" cy="493776"/>
          </a:xfrm>
          <a:prstGeom prst="roundRect">
            <a:avLst>
              <a:gd name="adj" fmla="val 3704"/>
            </a:avLst>
          </a:prstGeom>
          <a:solidFill>
            <a:srgbClr val="EEF3FA"/>
          </a:solidFill>
          <a:ln w="12700">
            <a:solidFill>
              <a:srgbClr val="00409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76088" y="1993392"/>
            <a:ext cx="3392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挑戦KR1 入口品質</a:t>
            </a:r>
            <a:pPr algn="l" indent="0" marL="0">
              <a:lnSpc>
                <a:spcPct val="125000"/>
              </a:lnSpc>
              <a:buNone/>
            </a:pP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─ 開発に入る前の前提整理・要求定義の曖昧さをなくし、仕様起因の手戻りをゼロにする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2743200"/>
            <a:ext cx="274320" cy="18288"/>
          </a:xfrm>
          <a:prstGeom prst="rect">
            <a:avLst/>
          </a:prstGeom>
          <a:solidFill>
            <a:srgbClr val="004098"/>
          </a:solidFill>
          <a:ln w="12700">
            <a:solidFill>
              <a:srgbClr val="00409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05840" y="2505456"/>
            <a:ext cx="3749040" cy="493776"/>
          </a:xfrm>
          <a:prstGeom prst="roundRect">
            <a:avLst>
              <a:gd name="adj" fmla="val 3704"/>
            </a:avLst>
          </a:prstGeom>
          <a:solidFill>
            <a:srgbClr val="F8FAFC"/>
          </a:solidFill>
          <a:ln w="9525">
            <a:solidFill>
              <a:srgbClr val="4444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15568" y="2505456"/>
            <a:ext cx="35295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Q2  </a:t>
            </a:r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顧客に届くスピードをどう上げるか？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46320" y="2624328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66360" y="2505456"/>
            <a:ext cx="3611880" cy="493776"/>
          </a:xfrm>
          <a:prstGeom prst="roundRect">
            <a:avLst>
              <a:gd name="adj" fmla="val 3704"/>
            </a:avLst>
          </a:prstGeom>
          <a:solidFill>
            <a:srgbClr val="EEF3FA"/>
          </a:solidFill>
          <a:ln w="12700">
            <a:solidFill>
              <a:srgbClr val="00409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76088" y="2505456"/>
            <a:ext cx="3392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挑戦KR2 フロー効率</a:t>
            </a:r>
            <a:pPr algn="l" indent="0" marL="0">
              <a:lnSpc>
                <a:spcPct val="125000"/>
              </a:lnSpc>
              <a:buNone/>
            </a:pP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─ 開発工程のムリ・ムダ・ムラをなくし、案件を停滞させずスムーズに顧客へ届ける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" y="3255264"/>
            <a:ext cx="274320" cy="18288"/>
          </a:xfrm>
          <a:prstGeom prst="rect">
            <a:avLst/>
          </a:prstGeom>
          <a:solidFill>
            <a:srgbClr val="004098"/>
          </a:solidFill>
          <a:ln w="12700">
            <a:solidFill>
              <a:srgbClr val="00409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05840" y="3017520"/>
            <a:ext cx="3749040" cy="493776"/>
          </a:xfrm>
          <a:prstGeom prst="roundRect">
            <a:avLst>
              <a:gd name="adj" fmla="val 3704"/>
            </a:avLst>
          </a:prstGeom>
          <a:solidFill>
            <a:srgbClr val="F8FAFC"/>
          </a:solidFill>
          <a:ln w="9525">
            <a:solidFill>
              <a:srgbClr val="4444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15568" y="3017520"/>
            <a:ext cx="35295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Q3  </a:t>
            </a:r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届けた価値を検証し、学びを次のサイクルにどう反映し続けるか？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846320" y="313639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166360" y="3017520"/>
            <a:ext cx="3611880" cy="493776"/>
          </a:xfrm>
          <a:prstGeom prst="roundRect">
            <a:avLst>
              <a:gd name="adj" fmla="val 3704"/>
            </a:avLst>
          </a:prstGeom>
          <a:solidFill>
            <a:srgbClr val="EEF3FA"/>
          </a:solidFill>
          <a:ln w="12700">
            <a:solidFill>
              <a:srgbClr val="00409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276088" y="3017520"/>
            <a:ext cx="3392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挑戦KR3 学習ループ</a:t>
            </a:r>
            <a:pPr algn="l" indent="0" marL="0">
              <a:lnSpc>
                <a:spcPct val="125000"/>
              </a:lnSpc>
              <a:buNone/>
            </a:pP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─ リリースして終わりにせず、お客様の反応を見て「次にやること／やめること」を決める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31520" y="3767328"/>
            <a:ext cx="274320" cy="18288"/>
          </a:xfrm>
          <a:prstGeom prst="rect">
            <a:avLst/>
          </a:prstGeom>
          <a:solidFill>
            <a:srgbClr val="004098"/>
          </a:solidFill>
          <a:ln w="12700">
            <a:solidFill>
              <a:srgbClr val="00409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3529584"/>
            <a:ext cx="3749040" cy="493776"/>
          </a:xfrm>
          <a:prstGeom prst="roundRect">
            <a:avLst>
              <a:gd name="adj" fmla="val 3704"/>
            </a:avLst>
          </a:prstGeom>
          <a:solidFill>
            <a:srgbClr val="F8FAFC"/>
          </a:solidFill>
          <a:ln w="9525">
            <a:solidFill>
              <a:srgbClr val="4444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15568" y="3529584"/>
            <a:ext cx="35295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Q4  </a:t>
            </a:r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チームが走り続けられる土台と開発環境をどう担保するか？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846320" y="3648456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166360" y="3529584"/>
            <a:ext cx="3611880" cy="493776"/>
          </a:xfrm>
          <a:prstGeom prst="roundRect">
            <a:avLst>
              <a:gd name="adj" fmla="val 3704"/>
            </a:avLst>
          </a:prstGeom>
          <a:solidFill>
            <a:srgbClr val="EEF3FA"/>
          </a:solidFill>
          <a:ln w="12700">
            <a:solidFill>
              <a:srgbClr val="00409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76088" y="3529584"/>
            <a:ext cx="3392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基盤KR1 健全性＋開発環境</a:t>
            </a:r>
            <a:pPr algn="l" indent="0" marL="0">
              <a:lnSpc>
                <a:spcPct val="125000"/>
              </a:lnSpc>
              <a:buNone/>
            </a:pP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─ 健全性・サブKPI・開発環境を整え、チームが走り続けられる土台を通年で担保する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31520" y="4279392"/>
            <a:ext cx="274320" cy="18288"/>
          </a:xfrm>
          <a:prstGeom prst="rect">
            <a:avLst/>
          </a:prstGeom>
          <a:solidFill>
            <a:srgbClr val="004098"/>
          </a:solidFill>
          <a:ln w="12700">
            <a:solidFill>
              <a:srgbClr val="00409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05840" y="4041648"/>
            <a:ext cx="3749040" cy="493776"/>
          </a:xfrm>
          <a:prstGeom prst="roundRect">
            <a:avLst>
              <a:gd name="adj" fmla="val 3704"/>
            </a:avLst>
          </a:prstGeom>
          <a:solidFill>
            <a:srgbClr val="F8FAFC"/>
          </a:solidFill>
          <a:ln w="9525">
            <a:solidFill>
              <a:srgbClr val="44446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15568" y="4041648"/>
            <a:ext cx="35295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Q5  </a:t>
            </a:r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デリバリー組織そのものを中長期にどう強くしていくか？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846320" y="4160520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5166360" y="4041648"/>
            <a:ext cx="3611880" cy="493776"/>
          </a:xfrm>
          <a:prstGeom prst="roundRect">
            <a:avLst>
              <a:gd name="adj" fmla="val 3704"/>
            </a:avLst>
          </a:prstGeom>
          <a:solidFill>
            <a:srgbClr val="EEF3FA"/>
          </a:solidFill>
          <a:ln w="12700">
            <a:solidFill>
              <a:srgbClr val="00409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76088" y="4041648"/>
            <a:ext cx="3392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基盤KR2 能力の多面的強化</a:t>
            </a:r>
            <a:pPr algn="l" indent="0" marL="0">
              <a:lnSpc>
                <a:spcPct val="125000"/>
              </a:lnSpc>
              <a:buNone/>
            </a:pP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─ プロセス・人・基盤の3層を同時に強化し、中長期的にデリバリー組織そのものを強くする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31520" y="4791456"/>
            <a:ext cx="274320" cy="18288"/>
          </a:xfrm>
          <a:prstGeom prst="rect">
            <a:avLst/>
          </a:prstGeom>
          <a:solidFill>
            <a:srgbClr val="004098"/>
          </a:solidFill>
          <a:ln w="12700">
            <a:solidFill>
              <a:srgbClr val="00409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05840" y="4553712"/>
            <a:ext cx="3749040" cy="493776"/>
          </a:xfrm>
          <a:prstGeom prst="roundRect">
            <a:avLst>
              <a:gd name="adj" fmla="val 3704"/>
            </a:avLst>
          </a:prstGeom>
          <a:solidFill>
            <a:srgbClr val="F8FAFC"/>
          </a:solidFill>
          <a:ln w="9525">
            <a:solidFill>
              <a:srgbClr val="44446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115568" y="4553712"/>
            <a:ext cx="35295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Q6  </a:t>
            </a:r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事業側から見て、このデリバリー機能は本当に価値を生んでいるか？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846320" y="4672584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5166360" y="4553712"/>
            <a:ext cx="3611880" cy="493776"/>
          </a:xfrm>
          <a:prstGeom prst="roundRect">
            <a:avLst>
              <a:gd name="adj" fmla="val 3704"/>
            </a:avLst>
          </a:prstGeom>
          <a:solidFill>
            <a:srgbClr val="EEF3FA"/>
          </a:solidFill>
          <a:ln w="12700">
            <a:solidFill>
              <a:srgbClr val="00409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76088" y="4553712"/>
            <a:ext cx="3392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基盤KR3 事業貢献PDCA</a:t>
            </a:r>
            <a:pPr algn="l" indent="0" marL="0">
              <a:lnSpc>
                <a:spcPct val="125000"/>
              </a:lnSpc>
              <a:buNone/>
            </a:pP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─ 事業側との四半期相互検証で、配置メンバーの事業貢献に相互納得を形成し外部妥当性を担保する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315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DMチーム FY26 OKR  &gt;  成果の方程式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9144000" cy="914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84064"/>
            <a:ext cx="7315200" cy="64008"/>
          </a:xfrm>
          <a:prstGeom prst="rect">
            <a:avLst/>
          </a:prstGeom>
          <a:solidFill>
            <a:srgbClr val="004098"/>
          </a:solidFill>
          <a:ln w="12700">
            <a:solidFill>
              <a:srgbClr val="00409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0" y="5084064"/>
            <a:ext cx="182880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38404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試行回数 × 施策精度 ＝ 事業成果。チームは"How"側の先行指標で達成確度を高める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1051560"/>
            <a:ext cx="9144000" cy="914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だから、事業側（What）と役割分担が明確。サブKPIで早さ暴走を抑止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463040"/>
            <a:ext cx="2529840" cy="822960"/>
          </a:xfrm>
          <a:prstGeom prst="roundRect">
            <a:avLst>
              <a:gd name="adj" fmla="val 3333"/>
            </a:avLst>
          </a:prstGeom>
          <a:solidFill>
            <a:srgbClr val="EEF3FA"/>
          </a:solidFill>
          <a:ln w="19050">
            <a:solidFill>
              <a:srgbClr val="00409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" y="1536192"/>
            <a:ext cx="238353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試行回数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8912" y="1792224"/>
            <a:ext cx="238353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打席数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987040" y="1709928"/>
            <a:ext cx="228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444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307080" y="1463040"/>
            <a:ext cx="2529840" cy="822960"/>
          </a:xfrm>
          <a:prstGeom prst="roundRect">
            <a:avLst>
              <a:gd name="adj" fmla="val 3333"/>
            </a:avLst>
          </a:prstGeom>
          <a:solidFill>
            <a:srgbClr val="EEF3FA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0232" y="1536192"/>
            <a:ext cx="238353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施策の精度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80232" y="1792224"/>
            <a:ext cx="238353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仮説・検証の質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28360" y="1709928"/>
            <a:ext cx="228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444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248400" y="1463040"/>
            <a:ext cx="2529840" cy="822960"/>
          </a:xfrm>
          <a:prstGeom prst="roundRect">
            <a:avLst>
              <a:gd name="adj" fmla="val 3333"/>
            </a:avLst>
          </a:prstGeom>
          <a:solidFill>
            <a:srgbClr val="EEF3FA"/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21552" y="1536192"/>
            <a:ext cx="238353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 事業成果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21552" y="1792224"/>
            <a:ext cx="238353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会員・送客・熱狂顧客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468880"/>
          <a:ext cx="84124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743200"/>
                <a:gridCol w="27432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指標の性質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0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0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用途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09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アウトカム指標／遅行指標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会員数・GP契約数・PJ達成度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結果が出ないと計測できない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ケイパビリティ指標／先行指標（DPG KR②）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内製化組織の組織能力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早期予測・原因分析・継続的改善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365760" y="4069080"/>
            <a:ext cx="8412480" cy="777240"/>
          </a:xfrm>
          <a:prstGeom prst="roundRect">
            <a:avLst>
              <a:gd name="adj" fmla="val 3529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02920" y="406908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92400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早さを追うことが目的ではない。サブKPI（変更失敗率15%以下／開発者満足度SPACE軸4.0以上）で健全性を担保する。「仮説・検証・学習が止まらず高速に巡るプロダクト開発のカタ」の定着が本筋。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315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DMチーム FY26 OKR  &gt;  目標根拠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9144000" cy="914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84064"/>
            <a:ext cx="7315200" cy="64008"/>
          </a:xfrm>
          <a:prstGeom prst="rect">
            <a:avLst/>
          </a:prstGeom>
          <a:solidFill>
            <a:srgbClr val="004098"/>
          </a:solidFill>
          <a:ln w="12700">
            <a:solidFill>
              <a:srgbClr val="00409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0" y="5084064"/>
            <a:ext cx="182880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38404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「平均1ヶ月以内」＝DORA High ── 世界最大の開発組織ベンチマークの水準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1051560"/>
            <a:ext cx="9144000" cy="914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だから、挑戦KR1／KR2／KR3の定量目標は恣意的設定ではなく、グローバル基準に基づく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6304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286000"/>
                <a:gridCol w="41148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レベル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0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リードタイム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0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代表組織／水準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09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Elite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1時間以内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Amazon / Netflix / Google など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High（← 目標）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1日〜1ヶ月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メガベンチャー・デジタル先進企業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Medium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1ヶ月〜6ヶ月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一般的なIT企業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Low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6ヶ月以上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レガシー運用企業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65760" y="3840480"/>
            <a:ext cx="8412480" cy="1097280"/>
          </a:xfrm>
          <a:prstGeom prst="roundRect">
            <a:avLst>
              <a:gd name="adj" fmla="val 2500"/>
            </a:avLst>
          </a:prstGeom>
          <a:solidFill>
            <a:srgbClr val="EEF3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84048" y="3840480"/>
            <a:ext cx="8375904" cy="54864"/>
          </a:xfrm>
          <a:prstGeom prst="rect">
            <a:avLst/>
          </a:prstGeom>
          <a:solidFill>
            <a:srgbClr val="004098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39776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 Highレベル か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02920" y="4343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RA（Google傘下、10年研究、世界最大の開発組織ベンチマーク）の4段階のうち、メガベンチャー・デジタル先進企業相当のHighを目標に設定。FY28末到達を前提に、FY26はベースライン確定＋下降トレンドで進捗を測る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315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DMチーム FY26 OKR  &gt;  DPG KR接続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9144000" cy="914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84064"/>
            <a:ext cx="7315200" cy="64008"/>
          </a:xfrm>
          <a:prstGeom prst="rect">
            <a:avLst/>
          </a:prstGeom>
          <a:solidFill>
            <a:srgbClr val="004098"/>
          </a:solidFill>
          <a:ln w="12700">
            <a:solidFill>
              <a:srgbClr val="00409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0" y="5084064"/>
            <a:ext cx="182880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38404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DPG KR②4アプローチ（計測／入口／フロー／学習）をチーム6KRが直接受ける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1051560"/>
            <a:ext cx="9144000" cy="914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だから、上位OKRとの紐付けが構造的に保証される（6KR中5本が◎直接接続）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463040"/>
            <a:ext cx="8412480" cy="502920"/>
          </a:xfrm>
          <a:prstGeom prst="roundRect">
            <a:avLst>
              <a:gd name="adj" fmla="val 5455"/>
            </a:avLst>
          </a:prstGeom>
          <a:solidFill>
            <a:srgbClr val="EEF3FA"/>
          </a:solidFill>
          <a:ln w="12700">
            <a:solidFill>
              <a:srgbClr val="00409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4630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6KR中 ◎直接接続 5本／○安全装置 1本（基盤KR1のみ、暴走防止として意図的配置）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10312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23360"/>
                <a:gridCol w="201168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チームKR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0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DPG KR接続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0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接続強度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09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挑戦KR1 入口品質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DPG KR② アプローチ②（入口品質）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 直接受け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挑戦KR2 フロー効率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DPG KR② アプローチ③（フロー効率）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 直接受け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挑戦KR3 学習ループ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DPG KR② アプローチ④（学習ループ）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 直接受け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基盤KR1 健全性＋開発環境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DPG KR② サブKPI（変更失敗率／SPACE）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安全装置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基盤KR2 能力強化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DPG KR② アプローチ①（計測基盤）＋DPG KR⑥（コスト改善）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 直接受け／直接貢献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基盤KR3 事業貢献PDCA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DPG KR⑦（事業側との相互検証）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 直接受け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315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DMチーム FY26 OKR  &gt;  KR構造全体像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9144000" cy="914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84064"/>
            <a:ext cx="7315200" cy="64008"/>
          </a:xfrm>
          <a:prstGeom prst="rect">
            <a:avLst/>
          </a:prstGeom>
          <a:solidFill>
            <a:srgbClr val="004098"/>
          </a:solidFill>
          <a:ln w="12700">
            <a:solidFill>
              <a:srgbClr val="00409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0" y="5084064"/>
            <a:ext cx="182880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38404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挑戦3KRで速く届ける能力を磨き、基盤3KRで走り続ける土台を守る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1051560"/>
            <a:ext cx="9144000" cy="914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だから、6KRは分散ではなく役割分担（攻め／守り）である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463040"/>
            <a:ext cx="4114800" cy="411480"/>
          </a:xfrm>
          <a:prstGeom prst="roundRect">
            <a:avLst>
              <a:gd name="adj" fmla="val 6667"/>
            </a:avLst>
          </a:prstGeom>
          <a:solidFill>
            <a:srgbClr val="004098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14630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【挑戦】速く届ける能力を磨く（ムダを減らす）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2011680"/>
            <a:ext cx="4114800" cy="896112"/>
          </a:xfrm>
          <a:prstGeom prst="roundRect">
            <a:avLst>
              <a:gd name="adj" fmla="val 3061"/>
            </a:avLst>
          </a:prstGeom>
          <a:solidFill>
            <a:srgbClr val="EEF3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84048" y="2011680"/>
            <a:ext cx="4078224" cy="54864"/>
          </a:xfrm>
          <a:prstGeom prst="rect">
            <a:avLst/>
          </a:prstGeom>
          <a:solidFill>
            <a:srgbClr val="004098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挑戦KR1 入口品質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25146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開発に入る前の前提整理・要求定義の曖昧さをなくし、仕様起因の手戻りをゼロにする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2999232"/>
            <a:ext cx="4114800" cy="896112"/>
          </a:xfrm>
          <a:prstGeom prst="roundRect">
            <a:avLst>
              <a:gd name="adj" fmla="val 3061"/>
            </a:avLst>
          </a:prstGeom>
          <a:solidFill>
            <a:srgbClr val="EEF3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84048" y="2999232"/>
            <a:ext cx="4078224" cy="54864"/>
          </a:xfrm>
          <a:prstGeom prst="rect">
            <a:avLst/>
          </a:prstGeom>
          <a:solidFill>
            <a:srgbClr val="004098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313639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挑戦KR2 フロー効率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" y="35021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開発工程のムリ・ムダ・ムラをなくし、案件を停滞させずスムーズに顧客へ届ける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65760" y="3986784"/>
            <a:ext cx="4114800" cy="896112"/>
          </a:xfrm>
          <a:prstGeom prst="roundRect">
            <a:avLst>
              <a:gd name="adj" fmla="val 3061"/>
            </a:avLst>
          </a:prstGeom>
          <a:solidFill>
            <a:srgbClr val="EEF3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84048" y="3986784"/>
            <a:ext cx="4078224" cy="54864"/>
          </a:xfrm>
          <a:prstGeom prst="rect">
            <a:avLst/>
          </a:prstGeom>
          <a:solidFill>
            <a:srgbClr val="004098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412394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挑戦KR3 学習ループ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20" y="448970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リリースして終わりにせず、お客様の反応を見て「次にやること／やめること」を決める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663440" y="1463040"/>
            <a:ext cx="4114800" cy="411480"/>
          </a:xfrm>
          <a:prstGeom prst="roundRect">
            <a:avLst>
              <a:gd name="adj" fmla="val 6667"/>
            </a:avLst>
          </a:prstGeom>
          <a:solidFill>
            <a:srgbClr val="444466"/>
          </a:solidFill>
          <a:ln/>
        </p:spPr>
      </p:sp>
      <p:sp>
        <p:nvSpPr>
          <p:cNvPr id="24" name="Text 22"/>
          <p:cNvSpPr/>
          <p:nvPr/>
        </p:nvSpPr>
        <p:spPr>
          <a:xfrm>
            <a:off x="4663440" y="14630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【基盤】走り続ける土台を守る（ムリ・ムラを抑える）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663440" y="2011680"/>
            <a:ext cx="4114800" cy="896112"/>
          </a:xfrm>
          <a:prstGeom prst="roundRect">
            <a:avLst>
              <a:gd name="adj" fmla="val 3061"/>
            </a:avLst>
          </a:prstGeom>
          <a:solidFill>
            <a:srgbClr val="EEF3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81728" y="2011680"/>
            <a:ext cx="4078224" cy="54864"/>
          </a:xfrm>
          <a:prstGeom prst="rect">
            <a:avLst/>
          </a:prstGeom>
          <a:solidFill>
            <a:srgbClr val="444466"/>
          </a:solidFill>
          <a:ln/>
        </p:spPr>
      </p:sp>
      <p:sp>
        <p:nvSpPr>
          <p:cNvPr id="27" name="Text 25"/>
          <p:cNvSpPr/>
          <p:nvPr/>
        </p:nvSpPr>
        <p:spPr>
          <a:xfrm>
            <a:off x="4800600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基盤KR1 健全性＋開発環境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800600" y="25146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健全性・サブKPI・開発環境を整え、チームが走り続けられる土台を通年で担保する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663440" y="2999232"/>
            <a:ext cx="4114800" cy="896112"/>
          </a:xfrm>
          <a:prstGeom prst="roundRect">
            <a:avLst>
              <a:gd name="adj" fmla="val 3061"/>
            </a:avLst>
          </a:prstGeom>
          <a:solidFill>
            <a:srgbClr val="EEF3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81728" y="2999232"/>
            <a:ext cx="4078224" cy="54864"/>
          </a:xfrm>
          <a:prstGeom prst="rect">
            <a:avLst/>
          </a:prstGeom>
          <a:solidFill>
            <a:srgbClr val="444466"/>
          </a:solidFill>
          <a:ln/>
        </p:spPr>
      </p:sp>
      <p:sp>
        <p:nvSpPr>
          <p:cNvPr id="31" name="Text 29"/>
          <p:cNvSpPr/>
          <p:nvPr/>
        </p:nvSpPr>
        <p:spPr>
          <a:xfrm>
            <a:off x="4800600" y="313639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基盤KR2 能力の多面的強化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800600" y="35021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プロセス・人・基盤の3層を同時に強化し、中長期的にデリバリー組織そのものを強くする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663440" y="3986784"/>
            <a:ext cx="4114800" cy="896112"/>
          </a:xfrm>
          <a:prstGeom prst="roundRect">
            <a:avLst>
              <a:gd name="adj" fmla="val 3061"/>
            </a:avLst>
          </a:prstGeom>
          <a:solidFill>
            <a:srgbClr val="EEF3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681728" y="3986784"/>
            <a:ext cx="4078224" cy="54864"/>
          </a:xfrm>
          <a:prstGeom prst="rect">
            <a:avLst/>
          </a:prstGeom>
          <a:solidFill>
            <a:srgbClr val="444466"/>
          </a:solidFill>
          <a:ln/>
        </p:spPr>
      </p:sp>
      <p:sp>
        <p:nvSpPr>
          <p:cNvPr id="35" name="Text 33"/>
          <p:cNvSpPr/>
          <p:nvPr/>
        </p:nvSpPr>
        <p:spPr>
          <a:xfrm>
            <a:off x="4800600" y="412394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基盤KR3 事業貢献PDCA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00600" y="448970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事業側との四半期相互検証で、配置メンバーの事業貢献に相互納得を形成し外部妥当性を担保する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315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DMチーム FY26 OKR  &gt;  挑戦KR1 入口品質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9144000" cy="914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84064"/>
            <a:ext cx="7315200" cy="64008"/>
          </a:xfrm>
          <a:prstGeom prst="rect">
            <a:avLst/>
          </a:prstGeom>
          <a:solidFill>
            <a:srgbClr val="004098"/>
          </a:solidFill>
          <a:ln w="12700">
            <a:solidFill>
              <a:srgbClr val="00409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0" y="5084064"/>
            <a:ext cx="182880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384048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挑戦KR1 入口品質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65760" y="7498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─ 開発に入る前の前提整理・要求定義の曖昧さをなくし、仕様起因の手戻りをゼロにする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1115568"/>
            <a:ext cx="9144000" cy="914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17043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だから、人を増やすのではなく仕様・判断・スコープの制御を先に整える（FY28末 DORA High達成、FY26はベースライン確定）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1463040"/>
            <a:ext cx="2682240" cy="2697480"/>
          </a:xfrm>
          <a:prstGeom prst="roundRect">
            <a:avLst>
              <a:gd name="adj" fmla="val 1023"/>
            </a:avLst>
          </a:prstGeom>
          <a:solidFill>
            <a:srgbClr val="EEF3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84048" y="1463040"/>
            <a:ext cx="2645664" cy="54864"/>
          </a:xfrm>
          <a:prstGeom prst="rect">
            <a:avLst/>
          </a:prstGeom>
          <a:solidFill>
            <a:srgbClr val="004098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600200"/>
            <a:ext cx="240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狙い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1965960"/>
            <a:ext cx="2407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開発に入る「前」で時間を失うことを止め、開発中の手戻りと方向違いの実装を減らす。人を増やすのではなく、仕様・判断・スコープの制御を先に整える。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30880" y="1463040"/>
            <a:ext cx="2682240" cy="2697480"/>
          </a:xfrm>
          <a:prstGeom prst="roundRect">
            <a:avLst>
              <a:gd name="adj" fmla="val 1023"/>
            </a:avLst>
          </a:prstGeom>
          <a:solidFill>
            <a:srgbClr val="EEF3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49168" y="1463040"/>
            <a:ext cx="2645664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6" name="Text 14"/>
          <p:cNvSpPr/>
          <p:nvPr/>
        </p:nvSpPr>
        <p:spPr>
          <a:xfrm>
            <a:off x="3368040" y="1600200"/>
            <a:ext cx="240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年度マイルストーン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68040" y="1965960"/>
            <a:ext cx="2407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FY26末：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・ベースライン数値を確定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・手戻り削減の下降トレンドを示す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・全チームでReady定義が標準化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FY28末：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・要件定義→リリース 平均1ヶ月以内（DORA High）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・仕様起因の手戻りゼロ、バックログ常時Ready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096000" y="1463040"/>
            <a:ext cx="2682240" cy="2697480"/>
          </a:xfrm>
          <a:prstGeom prst="roundRect">
            <a:avLst>
              <a:gd name="adj" fmla="val 1023"/>
            </a:avLst>
          </a:prstGeom>
          <a:solidFill>
            <a:srgbClr val="EEF3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14288" y="1463040"/>
            <a:ext cx="2645664" cy="54864"/>
          </a:xfrm>
          <a:prstGeom prst="rect">
            <a:avLst/>
          </a:prstGeom>
          <a:solidFill>
            <a:srgbClr val="004098"/>
          </a:solidFill>
          <a:ln/>
        </p:spPr>
      </p:sp>
      <p:sp>
        <p:nvSpPr>
          <p:cNvPr id="20" name="Text 18"/>
          <p:cNvSpPr/>
          <p:nvPr/>
        </p:nvSpPr>
        <p:spPr>
          <a:xfrm>
            <a:off x="6233160" y="1600200"/>
            <a:ext cx="240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主要施策（FY26）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33160" y="1965960"/>
            <a:ext cx="2407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・Ready定義を全チーム標準化展開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・手戻り原因分析の運用開始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（仕様／技術／外部の3分類）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・工程・役割の明確化、優先対応基準の整備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・外部講師レクチャーで「小さく作り検証する」共通認識を継続支援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4297680"/>
            <a:ext cx="8412480" cy="502920"/>
          </a:xfrm>
          <a:prstGeom prst="roundRect">
            <a:avLst>
              <a:gd name="adj" fmla="val 5455"/>
            </a:avLst>
          </a:prstGeom>
          <a:solidFill>
            <a:srgbClr val="F0FDF4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42976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065F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先行KPI（途中確認指標）：Ready定義達成率（PBI全数のうち着手時点でReady）　／　手戻り発生時の原因分類実施率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315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DMチーム FY26 OKR  &gt;  挑戦KR2 フロー効率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9144000" cy="914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84064"/>
            <a:ext cx="7315200" cy="64008"/>
          </a:xfrm>
          <a:prstGeom prst="rect">
            <a:avLst/>
          </a:prstGeom>
          <a:solidFill>
            <a:srgbClr val="004098"/>
          </a:solidFill>
          <a:ln w="12700">
            <a:solidFill>
              <a:srgbClr val="00409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0" y="5084064"/>
            <a:ext cx="182880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384048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挑戦KR2 フロー効率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65760" y="7498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─ 開発工程のムリ・ムダ・ムラをなくし、案件を停滞させずスムーズに顧客へ届ける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1115568"/>
            <a:ext cx="9144000" cy="914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17043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だから、未安定3チームの型を言語化し、計測で見える化する必要がある（FY28末サイクルタイム DORA High、FY26は全チーム計測稼働）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1463040"/>
            <a:ext cx="2682240" cy="2697480"/>
          </a:xfrm>
          <a:prstGeom prst="roundRect">
            <a:avLst>
              <a:gd name="adj" fmla="val 1023"/>
            </a:avLst>
          </a:prstGeom>
          <a:solidFill>
            <a:srgbClr val="EEF3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84048" y="1463040"/>
            <a:ext cx="2645664" cy="54864"/>
          </a:xfrm>
          <a:prstGeom prst="rect">
            <a:avLst/>
          </a:prstGeom>
          <a:solidFill>
            <a:srgbClr val="004098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600200"/>
            <a:ext cx="240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狙い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1965960"/>
            <a:ext cx="2407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着手からリリースまでの流れそのものを速く、予測可能にする。未安定3チーム（Fluppuccino／Discovery／Guardians）の型を言語化し、計測で見える化する。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30880" y="1463040"/>
            <a:ext cx="2682240" cy="2697480"/>
          </a:xfrm>
          <a:prstGeom prst="roundRect">
            <a:avLst>
              <a:gd name="adj" fmla="val 1023"/>
            </a:avLst>
          </a:prstGeom>
          <a:solidFill>
            <a:srgbClr val="EEF3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49168" y="1463040"/>
            <a:ext cx="2645664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6" name="Text 14"/>
          <p:cNvSpPr/>
          <p:nvPr/>
        </p:nvSpPr>
        <p:spPr>
          <a:xfrm>
            <a:off x="3368040" y="1600200"/>
            <a:ext cx="240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年度マイルストーン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68040" y="1965960"/>
            <a:ext cx="2407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FY26末：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・全チームでサイクルタイム計測稼働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・未安定3チームがNaikistレベル（1〜2週）に近づく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FY28末：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・サイクルタイム平均1ヶ月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・1スプリント見積精度90%以上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・DORA High レベル到達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096000" y="1463040"/>
            <a:ext cx="2682240" cy="2697480"/>
          </a:xfrm>
          <a:prstGeom prst="roundRect">
            <a:avLst>
              <a:gd name="adj" fmla="val 1023"/>
            </a:avLst>
          </a:prstGeom>
          <a:solidFill>
            <a:srgbClr val="EEF3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14288" y="1463040"/>
            <a:ext cx="2645664" cy="54864"/>
          </a:xfrm>
          <a:prstGeom prst="rect">
            <a:avLst/>
          </a:prstGeom>
          <a:solidFill>
            <a:srgbClr val="004098"/>
          </a:solidFill>
          <a:ln/>
        </p:spPr>
      </p:sp>
      <p:sp>
        <p:nvSpPr>
          <p:cNvPr id="20" name="Text 18"/>
          <p:cNvSpPr/>
          <p:nvPr/>
        </p:nvSpPr>
        <p:spPr>
          <a:xfrm>
            <a:off x="6233160" y="1600200"/>
            <a:ext cx="240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主要施策（FY26）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33160" y="1965960"/>
            <a:ext cx="2407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・全チームでサイクルタイム計測導入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（Notion／Github計測ログ整備）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・工程リードタイム可視化でボトルネック特定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・Web／ネイティブアプリをフィーチャーチームに統合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・優先順位づけ基準の整備（意思決定速度向上）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4297680"/>
            <a:ext cx="8412480" cy="502920"/>
          </a:xfrm>
          <a:prstGeom prst="roundRect">
            <a:avLst>
              <a:gd name="adj" fmla="val 5455"/>
            </a:avLst>
          </a:prstGeom>
          <a:solidFill>
            <a:srgbClr val="F0FDF4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42976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065F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先行KPI（途中確認指標）：ボトルネック工程の滞留日数（ステージ別内訳）　／　スプリントゴール達成率（80%+目標）　／　PBI粒度分布（1スプリント完了可能サイズの適用率）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315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DMチーム FY26 OKR  &gt;  挑戦KR3 学習ループ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9144000" cy="914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84064"/>
            <a:ext cx="7315200" cy="64008"/>
          </a:xfrm>
          <a:prstGeom prst="rect">
            <a:avLst/>
          </a:prstGeom>
          <a:solidFill>
            <a:srgbClr val="004098"/>
          </a:solidFill>
          <a:ln w="12700">
            <a:solidFill>
              <a:srgbClr val="00409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0" y="5084064"/>
            <a:ext cx="182880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384048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挑戦KR3 学習ループ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65760" y="7498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─ リリースして終わりにせず、お客様の反応を見て「次にやること／やめること」を決める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1115568"/>
            <a:ext cx="9144000" cy="914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17043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だから、成果の方程式の"精度側"は、検証を次の投資判断に接続することで実現する（FY28末 検証→次施策反映 平均1ヶ月以内＝DORA High）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1463040"/>
            <a:ext cx="2682240" cy="2697480"/>
          </a:xfrm>
          <a:prstGeom prst="roundRect">
            <a:avLst>
              <a:gd name="adj" fmla="val 1023"/>
            </a:avLst>
          </a:prstGeom>
          <a:solidFill>
            <a:srgbClr val="EEF3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84048" y="1463040"/>
            <a:ext cx="2645664" cy="54864"/>
          </a:xfrm>
          <a:prstGeom prst="rect">
            <a:avLst/>
          </a:prstGeom>
          <a:solidFill>
            <a:srgbClr val="004098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600200"/>
            <a:ext cx="240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狙い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1965960"/>
            <a:ext cx="2407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たものが顧客価値につながったかを検証し、次の投資判断に反映するサイクルを定着させる。リリースして終わりにせず「次にやること／やめること」を決める循環を作る。成果の方程式の"精度側"を担うKR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30880" y="1463040"/>
            <a:ext cx="2682240" cy="2697480"/>
          </a:xfrm>
          <a:prstGeom prst="roundRect">
            <a:avLst>
              <a:gd name="adj" fmla="val 1023"/>
            </a:avLst>
          </a:prstGeom>
          <a:solidFill>
            <a:srgbClr val="EEF3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49168" y="1463040"/>
            <a:ext cx="2645664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6" name="Text 14"/>
          <p:cNvSpPr/>
          <p:nvPr/>
        </p:nvSpPr>
        <p:spPr>
          <a:xfrm>
            <a:off x="3368040" y="1600200"/>
            <a:ext cx="240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年度マイルストーン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68040" y="1965960"/>
            <a:ext cx="2407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FY26末：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・全PBIのうち仮説・計測指標記入率 60%以上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（Ready定義に組み込み）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・検証→次施策反映リードタイムの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ベースライン計測確定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・1Q末までに目標設定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FY28末：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・検証起因のバックログ変更 50%以上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・DORA High 到達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（検証→次施策反映 平均1ヶ月以内）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096000" y="1463040"/>
            <a:ext cx="2682240" cy="2697480"/>
          </a:xfrm>
          <a:prstGeom prst="roundRect">
            <a:avLst>
              <a:gd name="adj" fmla="val 1023"/>
            </a:avLst>
          </a:prstGeom>
          <a:solidFill>
            <a:srgbClr val="EEF3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14288" y="1463040"/>
            <a:ext cx="2645664" cy="54864"/>
          </a:xfrm>
          <a:prstGeom prst="rect">
            <a:avLst/>
          </a:prstGeom>
          <a:solidFill>
            <a:srgbClr val="004098"/>
          </a:solidFill>
          <a:ln/>
        </p:spPr>
      </p:sp>
      <p:sp>
        <p:nvSpPr>
          <p:cNvPr id="20" name="Text 18"/>
          <p:cNvSpPr/>
          <p:nvPr/>
        </p:nvSpPr>
        <p:spPr>
          <a:xfrm>
            <a:off x="6233160" y="1600200"/>
            <a:ext cx="240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主要施策（FY26）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33160" y="1965960"/>
            <a:ext cx="2407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・PBIフォーマットに「検証したい仮説／計測指標」を組込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仮説→結果→学び→次アクションのテンプレート化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・Ready定義（挑戦KR1）に仮説記入を組み込み、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入口品質と学習ループを接続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・開発環境にGoogleAnalytics導入、ドッグフーディング仕組化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ログ運用設計（Q1 5月）→検証ログ運用開始（Q1 6月）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4297680"/>
            <a:ext cx="8412480" cy="502920"/>
          </a:xfrm>
          <a:prstGeom prst="roundRect">
            <a:avLst>
              <a:gd name="adj" fmla="val 5455"/>
            </a:avLst>
          </a:prstGeom>
          <a:solidFill>
            <a:srgbClr val="F0FDF4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42976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065F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先行KPI（途中確認指標）：PBI仮説・計測指標記入率（全PBI分母の実施率ベース）　／　検証起因バックログ変更件数　／　ドッグフーディング実施回数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315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DMチーム FY26 OKR  &gt;  基盤KR1 健全性＋開発環境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9144000" cy="914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84064"/>
            <a:ext cx="7315200" cy="64008"/>
          </a:xfrm>
          <a:prstGeom prst="rect">
            <a:avLst/>
          </a:prstGeom>
          <a:solidFill>
            <a:srgbClr val="004098"/>
          </a:solidFill>
          <a:ln w="12700">
            <a:solidFill>
              <a:srgbClr val="00409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0" y="5084064"/>
            <a:ext cx="182880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384048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基盤KR1 健全性＋開発環境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65760" y="7498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─ 健全性・サブKPI・開発環境を整え、チームが走り続けられる土台を通年で担保する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1115568"/>
            <a:ext cx="9144000" cy="914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17043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だから、速さの暴走を防ぐ安全装置（DORAサブKPI）＋走り続ける環境を通年で担保する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1463040"/>
            <a:ext cx="2682240" cy="2697480"/>
          </a:xfrm>
          <a:prstGeom prst="roundRect">
            <a:avLst>
              <a:gd name="adj" fmla="val 1023"/>
            </a:avLst>
          </a:prstGeom>
          <a:solidFill>
            <a:srgbClr val="EEF3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84048" y="1463040"/>
            <a:ext cx="2645664" cy="54864"/>
          </a:xfrm>
          <a:prstGeom prst="rect">
            <a:avLst/>
          </a:prstGeom>
          <a:solidFill>
            <a:srgbClr val="004098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600200"/>
            <a:ext cx="240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狙い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1965960"/>
            <a:ext cx="2407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KR1〜3が"速く届ける能力"を追うのに対し、基盤KR1はその能力を支える土台を扱う。持続可能に走り続けられる健全性と、働き方を成立させる開発環境（ITインフラ・ツール・オンボーディング）が対象。速さを追うあまりレビュー省略・属人化・恒常残業に陥らないための安全装置も兼ねる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30880" y="1463040"/>
            <a:ext cx="2682240" cy="2697480"/>
          </a:xfrm>
          <a:prstGeom prst="roundRect">
            <a:avLst>
              <a:gd name="adj" fmla="val 1023"/>
            </a:avLst>
          </a:prstGeom>
          <a:solidFill>
            <a:srgbClr val="EEF3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49168" y="1463040"/>
            <a:ext cx="2645664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6" name="Text 14"/>
          <p:cNvSpPr/>
          <p:nvPr/>
        </p:nvSpPr>
        <p:spPr>
          <a:xfrm>
            <a:off x="3368040" y="1600200"/>
            <a:ext cx="240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年度マイルストーン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68040" y="1965960"/>
            <a:ext cx="2407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FY26末（通年維持）：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・変更失敗率 15%以下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（リリースのうち障害・ロールバック・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緊急修正に至った割合）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・開発者満足度 SPACE軸 4.0以上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（5段階、月次サーベイで維持）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・ITインフラ継続稼働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・開発ツール棚卸しの定常化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096000" y="1463040"/>
            <a:ext cx="2682240" cy="2697480"/>
          </a:xfrm>
          <a:prstGeom prst="roundRect">
            <a:avLst>
              <a:gd name="adj" fmla="val 1023"/>
            </a:avLst>
          </a:prstGeom>
          <a:solidFill>
            <a:srgbClr val="EEF3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14288" y="1463040"/>
            <a:ext cx="2645664" cy="54864"/>
          </a:xfrm>
          <a:prstGeom prst="rect">
            <a:avLst/>
          </a:prstGeom>
          <a:solidFill>
            <a:srgbClr val="004098"/>
          </a:solidFill>
          <a:ln/>
        </p:spPr>
      </p:sp>
      <p:sp>
        <p:nvSpPr>
          <p:cNvPr id="20" name="Text 18"/>
          <p:cNvSpPr/>
          <p:nvPr/>
        </p:nvSpPr>
        <p:spPr>
          <a:xfrm>
            <a:off x="6233160" y="1600200"/>
            <a:ext cx="240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主要施策（FY26）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33160" y="1965960"/>
            <a:ext cx="2407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・サブKPI計測基盤の整備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変更失敗率の自動集計／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開発者満足度SPACE軸の月次サーベイ運用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・月次1on1（負荷・モチベーション・キャリア）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・レトロ自己評価による健全性スコア記録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・AVD／EDRの可用性維持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・新規参画者オンボーディング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（Duke ID／権限／立ち上げ支援）の標準化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4297680"/>
            <a:ext cx="8412480" cy="502920"/>
          </a:xfrm>
          <a:prstGeom prst="roundRect">
            <a:avLst>
              <a:gd name="adj" fmla="val 5455"/>
            </a:avLst>
          </a:prstGeom>
          <a:solidFill>
            <a:srgbClr val="F0FDF4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42976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065F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先行KPI（途中確認指標）：月次1on1実施率（全メンバー／対象期間内）　／　月次サーベイ回答率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315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DMチーム FY26 OKR  &gt;  基盤KR2 能力の多面的強化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9144000" cy="914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84064"/>
            <a:ext cx="7315200" cy="64008"/>
          </a:xfrm>
          <a:prstGeom prst="rect">
            <a:avLst/>
          </a:prstGeom>
          <a:solidFill>
            <a:srgbClr val="004098"/>
          </a:solidFill>
          <a:ln w="12700">
            <a:solidFill>
              <a:srgbClr val="00409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0" y="5084064"/>
            <a:ext cx="182880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384048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基盤KR2 能力の多面的強化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65760" y="7498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─ プロセス・人・基盤の3層を同時に強化し、中長期的にデリバリー組織そのものを強くする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1115568"/>
            <a:ext cx="9144000" cy="914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17043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だから、FY27以降に息切れしない組織能力を、プロセス・人・基盤の3層でFY26末に作る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1463040"/>
            <a:ext cx="2682240" cy="2697480"/>
          </a:xfrm>
          <a:prstGeom prst="roundRect">
            <a:avLst>
              <a:gd name="adj" fmla="val 1023"/>
            </a:avLst>
          </a:prstGeom>
          <a:solidFill>
            <a:srgbClr val="EEF3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84048" y="1463040"/>
            <a:ext cx="2645664" cy="54864"/>
          </a:xfrm>
          <a:prstGeom prst="rect">
            <a:avLst/>
          </a:prstGeom>
          <a:solidFill>
            <a:srgbClr val="004098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600200"/>
            <a:ext cx="240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狙い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1965960"/>
            <a:ext cx="2407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単年度の運用効率化ではなく、中長期的にデリバリー組織そのものを強くするKR。ベテランの暗黙知依存から抜け出し、FY27〜28にDORA Highレベル到達できる組織状態をFY26末時点で作る。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30880" y="1463040"/>
            <a:ext cx="2682240" cy="2697480"/>
          </a:xfrm>
          <a:prstGeom prst="roundRect">
            <a:avLst>
              <a:gd name="adj" fmla="val 1023"/>
            </a:avLst>
          </a:prstGeom>
          <a:solidFill>
            <a:srgbClr val="EEF3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49168" y="1463040"/>
            <a:ext cx="2645664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6" name="Text 14"/>
          <p:cNvSpPr/>
          <p:nvPr/>
        </p:nvSpPr>
        <p:spPr>
          <a:xfrm>
            <a:off x="3368040" y="1600200"/>
            <a:ext cx="240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年度マイルストーン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68040" y="1965960"/>
            <a:ext cx="2407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FY26末：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・プロセス標準化が全チーム適用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・計測基盤が全チーム稼働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（DPG KR②アプローチ①達成）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・inet費用削減見立て完了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（DPG KR⑥貢献）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・KARTE→Braze機能可否判断完了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・デリバリーマネージャー（DM）採用完了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096000" y="1463040"/>
            <a:ext cx="2682240" cy="2697480"/>
          </a:xfrm>
          <a:prstGeom prst="roundRect">
            <a:avLst>
              <a:gd name="adj" fmla="val 1023"/>
            </a:avLst>
          </a:prstGeom>
          <a:solidFill>
            <a:srgbClr val="EEF3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14288" y="1463040"/>
            <a:ext cx="2645664" cy="54864"/>
          </a:xfrm>
          <a:prstGeom prst="rect">
            <a:avLst/>
          </a:prstGeom>
          <a:solidFill>
            <a:srgbClr val="004098"/>
          </a:solidFill>
          <a:ln/>
        </p:spPr>
      </p:sp>
      <p:sp>
        <p:nvSpPr>
          <p:cNvPr id="20" name="Text 18"/>
          <p:cNvSpPr/>
          <p:nvPr/>
        </p:nvSpPr>
        <p:spPr>
          <a:xfrm>
            <a:off x="6233160" y="1600200"/>
            <a:ext cx="240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主要施策（FY26）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33160" y="1965960"/>
            <a:ext cx="2407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・プロセス標準化の全チーム適用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（ふりかえり質向上・スクラム型化・Ready定義）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・計測基盤の整備（Q1完了目標）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Notion→Github計測ログ→ベースライン計測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・inet発注最適化で費用削減見立て（DPG KR⑥）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・KARTE→Braze機能可否検証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・DM採用完了（人面の専任担い手確立）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4297680"/>
            <a:ext cx="8412480" cy="502920"/>
          </a:xfrm>
          <a:prstGeom prst="roundRect">
            <a:avLst>
              <a:gd name="adj" fmla="val 5455"/>
            </a:avLst>
          </a:prstGeom>
          <a:solidFill>
            <a:srgbClr val="F0FDF4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42976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065F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先行KPI（途中確認指標）：プロセス標準化の適用チーム率　／　DM採用パイプライン進捗（候補者面談数・内定数）　／　計測ダッシュボード稼働チーム数　／　inet費用削減見立て（対26年度比%）　／　KARTE機能検証完了率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315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DMチーム FY26 OKR  &gt;  基盤KR3 事業貢献PDCA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9144000" cy="914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84064"/>
            <a:ext cx="7315200" cy="64008"/>
          </a:xfrm>
          <a:prstGeom prst="rect">
            <a:avLst/>
          </a:prstGeom>
          <a:solidFill>
            <a:srgbClr val="004098"/>
          </a:solidFill>
          <a:ln w="12700">
            <a:solidFill>
              <a:srgbClr val="00409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0" y="5084064"/>
            <a:ext cx="182880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384048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基盤KR3 事業貢献PDCA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65760" y="7498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─ 事業側との四半期相互検証で、配置メンバーの事業貢献に相互納得を形成し外部妥当性を担保する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1115568"/>
            <a:ext cx="9144000" cy="914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17043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だから、他5KRが内向きなのに対し、基盤KR3だけが事業側から見た信頼度（外部妥当性）を担保する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1463040"/>
            <a:ext cx="2682240" cy="2697480"/>
          </a:xfrm>
          <a:prstGeom prst="roundRect">
            <a:avLst>
              <a:gd name="adj" fmla="val 1023"/>
            </a:avLst>
          </a:prstGeom>
          <a:solidFill>
            <a:srgbClr val="EEF3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84048" y="1463040"/>
            <a:ext cx="2645664" cy="54864"/>
          </a:xfrm>
          <a:prstGeom prst="rect">
            <a:avLst/>
          </a:prstGeom>
          <a:solidFill>
            <a:srgbClr val="004098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600200"/>
            <a:ext cx="240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狙い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1965960"/>
            <a:ext cx="2407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KR1〜3と基盤KR1/2はすべて内向きKR（デリバリー機能の内側）。基盤KR3だけが事業側から見た信頼度を扱う唯一の外向きKR。デリバリーラインの成果が本当に事業価値になっているかを、事業側（toC各部）との四半期振り返りで相互検証する。※DPG KR⑦直接受け／3者共同責任（片山TL・檜垣TL・杉崎TL）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30880" y="1463040"/>
            <a:ext cx="2682240" cy="2697480"/>
          </a:xfrm>
          <a:prstGeom prst="roundRect">
            <a:avLst>
              <a:gd name="adj" fmla="val 1023"/>
            </a:avLst>
          </a:prstGeom>
          <a:solidFill>
            <a:srgbClr val="EEF3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49168" y="1463040"/>
            <a:ext cx="2645664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6" name="Text 14"/>
          <p:cNvSpPr/>
          <p:nvPr/>
        </p:nvSpPr>
        <p:spPr>
          <a:xfrm>
            <a:off x="3368040" y="1600200"/>
            <a:ext cx="240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年度マイルストーン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68040" y="1965960"/>
            <a:ext cx="2407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FY26末：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・配置メンバーの事業貢献について、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事業側（toC各部）との四半期振り返りで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相互納得が形成されている状態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FY26 Q1中：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・3者（片山TL・檜垣TL・杉崎TL）で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詳細KPI整合を確定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096000" y="1463040"/>
            <a:ext cx="2682240" cy="2697480"/>
          </a:xfrm>
          <a:prstGeom prst="roundRect">
            <a:avLst>
              <a:gd name="adj" fmla="val 1023"/>
            </a:avLst>
          </a:prstGeom>
          <a:solidFill>
            <a:srgbClr val="EEF3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14288" y="1463040"/>
            <a:ext cx="2645664" cy="54864"/>
          </a:xfrm>
          <a:prstGeom prst="rect">
            <a:avLst/>
          </a:prstGeom>
          <a:solidFill>
            <a:srgbClr val="004098"/>
          </a:solidFill>
          <a:ln/>
        </p:spPr>
      </p:sp>
      <p:sp>
        <p:nvSpPr>
          <p:cNvPr id="20" name="Text 18"/>
          <p:cNvSpPr/>
          <p:nvPr/>
        </p:nvSpPr>
        <p:spPr>
          <a:xfrm>
            <a:off x="6233160" y="1600200"/>
            <a:ext cx="240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主要施策（FY26）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33160" y="1965960"/>
            <a:ext cx="2407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・1Q・2Q・3Q末に事業側（toC各部）へ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アンケート／面談を実施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・振り返りと次Qアクションプランを策定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・配置メンバーの事業貢献状況を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四半期ごとに見える化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・3者共同運営の仕組みを設計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・詳細KPIをQ1中に3者で確定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4297680"/>
            <a:ext cx="8412480" cy="502920"/>
          </a:xfrm>
          <a:prstGeom prst="roundRect">
            <a:avLst>
              <a:gd name="adj" fmla="val 5455"/>
            </a:avLst>
          </a:prstGeom>
          <a:solidFill>
            <a:srgbClr val="F0FDF4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42976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065F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先行KPI（途中確認指標）：四半期振り返り実施率（計画通り1Q・2Q・3Q末に実施できたか）　／　アンケート・面談カバー率（配置メンバー・事業側双方で対象者をカバーできたか）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315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DMチーム FY26 OKR  &gt;  KR間連動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9144000" cy="914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84064"/>
            <a:ext cx="7315200" cy="64008"/>
          </a:xfrm>
          <a:prstGeom prst="rect">
            <a:avLst/>
          </a:prstGeom>
          <a:solidFill>
            <a:srgbClr val="004098"/>
          </a:solidFill>
          <a:ln w="12700">
            <a:solidFill>
              <a:srgbClr val="00409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0" y="5084064"/>
            <a:ext cx="182880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38404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挑戦3KRが循環し、基盤3KRが支える ── 6KRで成果の方程式を回す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1051560"/>
            <a:ext cx="9144000" cy="914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だから、6KRは一体で動く設計。どれか1本だけ追っても成果は出ない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1554480"/>
            <a:ext cx="2286000" cy="777240"/>
          </a:xfrm>
          <a:prstGeom prst="roundRect">
            <a:avLst>
              <a:gd name="adj" fmla="val 3529"/>
            </a:avLst>
          </a:prstGeom>
          <a:solidFill>
            <a:srgbClr val="EEF3FA"/>
          </a:solidFill>
          <a:ln w="19050">
            <a:solidFill>
              <a:srgbClr val="00409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5544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挑戦KR1
</a:t>
            </a:r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入口品質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017520" y="178765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566160" y="1554480"/>
            <a:ext cx="2286000" cy="777240"/>
          </a:xfrm>
          <a:prstGeom prst="roundRect">
            <a:avLst>
              <a:gd name="adj" fmla="val 3529"/>
            </a:avLst>
          </a:prstGeom>
          <a:solidFill>
            <a:srgbClr val="EEF3FA"/>
          </a:solidFill>
          <a:ln w="19050">
            <a:solidFill>
              <a:srgbClr val="00409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0" y="15544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挑戦KR2
</a:t>
            </a:r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フロー効率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897880" y="178765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446520" y="1554480"/>
            <a:ext cx="2286000" cy="777240"/>
          </a:xfrm>
          <a:prstGeom prst="roundRect">
            <a:avLst>
              <a:gd name="adj" fmla="val 3529"/>
            </a:avLst>
          </a:prstGeom>
          <a:solidFill>
            <a:srgbClr val="EEF3FA"/>
          </a:solidFill>
          <a:ln w="19050">
            <a:solidFill>
              <a:srgbClr val="00409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15544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挑戦KR3
</a:t>
            </a:r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学習ループ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2423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DC26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◀ 学びが仮説精度を高める（KR3 → KR1）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2880360"/>
            <a:ext cx="8412480" cy="10973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926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── 挑戦3KR すべての前提・支え（基盤3KR）──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3246120"/>
            <a:ext cx="8412480" cy="4572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4444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2461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基盤KR1 健全性＋開発環境</a:t>
            </a:r>
            <a:pPr algn="l" indent="0" marL="0">
              <a:buNone/>
            </a:pPr>
            <a:r>
              <a:rPr lang="en-US" sz="1100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—  </a:t>
            </a:r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前提条件＋安全装置（守る／ムリ）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" y="3813048"/>
            <a:ext cx="8412480" cy="4572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4444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38130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基盤KR2 能力の多面的強化</a:t>
            </a:r>
            <a:pPr algn="l" indent="0" marL="0">
              <a:buNone/>
            </a:pPr>
            <a:r>
              <a:rPr lang="en-US" sz="1100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—  </a:t>
            </a:r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中長期持続性（強くする／ムラ）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65760" y="4379976"/>
            <a:ext cx="8412480" cy="4572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4444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4379976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基盤KR3 事業貢献PDCA</a:t>
            </a:r>
            <a:pPr algn="l" indent="0" marL="0">
              <a:buNone/>
            </a:pPr>
            <a:r>
              <a:rPr lang="en-US" sz="1100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—  </a:t>
            </a:r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外部妥当性チェック（見極め×強く）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315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DMチーム FY26 OKR  &gt;  別論点①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9144000" cy="914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84064"/>
            <a:ext cx="7315200" cy="64008"/>
          </a:xfrm>
          <a:prstGeom prst="rect">
            <a:avLst/>
          </a:prstGeom>
          <a:solidFill>
            <a:srgbClr val="004098"/>
          </a:solidFill>
          <a:ln w="12700">
            <a:solidFill>
              <a:srgbClr val="00409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0" y="5084064"/>
            <a:ext cx="182880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38404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財務・労務・資産・セキュリティはMission射程外 ── 中長期の組織分離を議題化したい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1051560"/>
            <a:ext cx="9144000" cy="914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だから、今回はOKRに載せず、別論点として認識共有をしたい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63040"/>
          <a:ext cx="841248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926080"/>
                <a:gridCol w="1828800"/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業務領域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0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具体業務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0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本来の機能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0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現状担い手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09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財務・経理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予算策定・支出・購買・人件費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財務・経理機能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林・望月＋杉崎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労務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勤怠管理（OPST・MSOL・出向）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労務機能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林・望月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資産管理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固定資産管理（端末棚卸・台帳）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資産管理機能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林・望月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ツール運用（経理寄り）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ライセンス月次棚卸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経理機能に近い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望月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セキュリティ・コンプラ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情報セキュリティ・IC対応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セキュリティ専任部署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岩渕＋杉崎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65760" y="3337560"/>
            <a:ext cx="4114800" cy="12344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84048" y="3337560"/>
            <a:ext cx="4078224" cy="54864"/>
          </a:xfrm>
          <a:prstGeom prst="rect">
            <a:avLst/>
          </a:prstGeom>
          <a:solidFill>
            <a:srgbClr val="004098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3474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線引き基準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02920" y="384048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・包含：デリバリー能力・開発生産性に直結（コーポレートエンジ・BPR・開発ツール管理）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・除外：Mission射程外 → OKR非搭載・評価軸外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・林・望月はチームOKR対象外。杉崎の監督責任のみ発生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663440" y="3337560"/>
            <a:ext cx="4114800" cy="12344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681728" y="3337560"/>
            <a:ext cx="4078224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3"/>
          <p:cNvSpPr/>
          <p:nvPr/>
        </p:nvSpPr>
        <p:spPr>
          <a:xfrm>
            <a:off x="4800600" y="3474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留意点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800600" y="384048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・「チームOKR対象外」と書くのは心理的に重い判断。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本人への伝え方・評価軸（別ルート人事評価）は別途設計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・セキュリティ・コンプラは専任部署との責任分界点が曖昧。GMとの対話で明示化したい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365760" y="4663440"/>
            <a:ext cx="8412480" cy="320040"/>
          </a:xfrm>
          <a:prstGeom prst="roundRect">
            <a:avLst>
              <a:gd name="adj" fmla="val 8571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2920" y="466344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92400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提起：中長期的な組織分離・移管を相談したい（今回は議題化まで）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315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DMチーム FY26 OKR  &gt;  別論点②／次の一手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310896"/>
            <a:ext cx="9144000" cy="914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84064"/>
            <a:ext cx="7315200" cy="64008"/>
          </a:xfrm>
          <a:prstGeom prst="rect">
            <a:avLst/>
          </a:prstGeom>
          <a:solidFill>
            <a:srgbClr val="004098"/>
          </a:solidFill>
          <a:ln w="12700">
            <a:solidFill>
              <a:srgbClr val="00409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0" y="5084064"/>
            <a:ext cx="182880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38404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Krakenのみ PdM空欄 ── 議題化しつつ、本日は「OKR構造のご承認」をゴールに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1051560"/>
            <a:ext cx="9144000" cy="9144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だから、本日いただきたいのは「OKR構造の承認」の1点。別論点は次回へ</a:t>
            </a:r>
            <a:endParaRPr lang="en-US" sz="1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63040"/>
          <a:ext cx="50292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KR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0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責任者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0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PdM列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09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①ディスカバリー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片山TL／髙松TL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湯浅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③-1 Kraken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福田PO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（空欄）←ここ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③-2 MA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吉田TL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高松・湯浅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③-3 ID基盤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吉田TL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高松・湯浅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④会員数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柏木TL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高松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0F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⑤GP送客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湯浅PdM／高松TL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加藤・長友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577840" y="1463040"/>
            <a:ext cx="3200400" cy="1645920"/>
          </a:xfrm>
          <a:prstGeom prst="roundRect">
            <a:avLst>
              <a:gd name="adj" fmla="val 1667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15000" y="15544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リスク3点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715000" y="18288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福田POの無限スコープ化（事業仮説言語化まで巻取り）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Kraken成果評価の曖昧化（事業にどう効いた？が説明不能）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挑戦KR3（学習ループ）の歪み（仮説の所有者不在）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577840" y="3200400"/>
            <a:ext cx="3200400" cy="1188720"/>
          </a:xfrm>
          <a:prstGeom prst="roundRect">
            <a:avLst>
              <a:gd name="adj" fmla="val 2308"/>
            </a:avLst>
          </a:prstGeom>
          <a:solidFill>
            <a:srgbClr val="EEF3FA"/>
          </a:solidFill>
          <a:ln w="12700">
            <a:solidFill>
              <a:srgbClr val="00409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715000" y="3291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GMへの提起想定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715000" y="35661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・PdM側（片山TL／湯浅PdM等）とアサイン協議を進めたい</a:t>
            </a:r>
            <a:endParaRPr lang="en-US" sz="9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・DPG KR⑦（基盤KR3）の3者共同責任枠組みで議題化可能</a:t>
            </a:r>
            <a:endParaRPr lang="en-US" sz="9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・アサイン決定までは福田の責任を「デリバリー側PO責任」に境界明示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65760" y="3200400"/>
            <a:ext cx="5029200" cy="1188720"/>
          </a:xfrm>
          <a:prstGeom prst="roundRect">
            <a:avLst>
              <a:gd name="adj" fmla="val 2308"/>
            </a:avLst>
          </a:prstGeom>
          <a:solidFill>
            <a:srgbClr val="F8FAFC"/>
          </a:solidFill>
          <a:ln w="12700">
            <a:solidFill>
              <a:srgbClr val="44446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3291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444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福田POの責任境界（アサイン決定まで）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2920" y="356616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900" b="1" dirty="0">
                <a:solidFill>
                  <a:srgbClr val="00409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含む（デリバリー側PO責任）：</a:t>
            </a:r>
            <a:pPr algn="l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要件管理・開発進捗管理・接続完了／本番リリースまでの実行責任
</a:t>
            </a:r>
            <a:pPr algn="l" indent="0" marL="0">
              <a:lnSpc>
                <a:spcPct val="150000"/>
              </a:lnSpc>
              <a:buNone/>
            </a:pPr>
            <a:r>
              <a:rPr lang="en-US" sz="900" b="1" dirty="0">
                <a:solidFill>
                  <a:srgbClr val="DC26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含まない（PdM責任＝別アサイン待ち）：</a:t>
            </a:r>
            <a:pPr algn="l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事業仮説言語化・ROI寄与設計・顧客価値仮説構築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365760" y="4526280"/>
            <a:ext cx="8412480" cy="365760"/>
          </a:xfrm>
          <a:prstGeom prst="roundRect">
            <a:avLst>
              <a:gd name="adj" fmla="val 7500"/>
            </a:avLst>
          </a:prstGeom>
          <a:solidFill>
            <a:srgbClr val="F0FDF4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02920" y="45262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065F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本日のゴール：OKR構造（挑戦3＋基盤3／一層統合）のご承認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2026-04-19T12:12:29Z</dcterms:created>
  <dcterms:modified xsi:type="dcterms:W3CDTF">2026-04-19T12:12:29Z</dcterms:modified>
</cp:coreProperties>
</file>