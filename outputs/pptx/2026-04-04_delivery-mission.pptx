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4098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731520"/>
            <a:ext cx="1097280" cy="3657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デリバリーマネジメントチーム</a:t>
            </a:r>
            <a:endParaRPr lang="en-US" sz="36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Mission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6517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2026年4月改定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383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4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2026.04.04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3657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デリバリーマネジメントチーム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5084064"/>
            <a:ext cx="7315200" cy="64008"/>
          </a:xfrm>
          <a:prstGeom prst="rect">
            <a:avLst/>
          </a:prstGeom>
          <a:solidFill>
            <a:srgbClr val="004098"/>
          </a:solidFill>
          <a:ln w="12700">
            <a:solidFill>
              <a:srgbClr val="00409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0" y="5084064"/>
            <a:ext cx="182880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Mission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310896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8404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私たちが存在する理由は「開発投資のリターンを最大化すること」だ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1051560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084064"/>
            <a:ext cx="7315200" cy="64008"/>
          </a:xfrm>
          <a:prstGeom prst="rect">
            <a:avLst/>
          </a:prstGeom>
          <a:solidFill>
            <a:srgbClr val="004098"/>
          </a:solidFill>
          <a:ln w="12700">
            <a:solidFill>
              <a:srgbClr val="00409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0" y="5084064"/>
            <a:ext cx="182880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234440"/>
            <a:ext cx="8412480" cy="1005840"/>
          </a:xfrm>
          <a:prstGeom prst="roundRect">
            <a:avLst>
              <a:gd name="adj" fmla="val 2727"/>
            </a:avLst>
          </a:prstGeom>
          <a:solidFill>
            <a:srgbClr val="004098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2801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Mission（対経営）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15544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開発投資のリターンを最大化する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65760" y="23134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▼ そのためのオペレーティングモデル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651760"/>
            <a:ext cx="2000250" cy="1508760"/>
          </a:xfrm>
          <a:prstGeom prst="roundRect">
            <a:avLst>
              <a:gd name="adj" fmla="val 1818"/>
            </a:avLst>
          </a:prstGeom>
          <a:solidFill>
            <a:srgbClr val="EEF3FA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651760"/>
            <a:ext cx="200025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2788920"/>
            <a:ext cx="18539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見極める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38912" y="3310128"/>
            <a:ext cx="18539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投資判断・価値の選択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03170" y="2651760"/>
            <a:ext cx="2000250" cy="1508760"/>
          </a:xfrm>
          <a:prstGeom prst="roundRect">
            <a:avLst>
              <a:gd name="adj" fmla="val 1818"/>
            </a:avLst>
          </a:prstGeom>
          <a:solidFill>
            <a:srgbClr val="EEF3FA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03170" y="2651760"/>
            <a:ext cx="200025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76322" y="2788920"/>
            <a:ext cx="18539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守る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576322" y="3310128"/>
            <a:ext cx="18539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障害除去・健全性維持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40580" y="2651760"/>
            <a:ext cx="2000250" cy="1508760"/>
          </a:xfrm>
          <a:prstGeom prst="roundRect">
            <a:avLst>
              <a:gd name="adj" fmla="val 1818"/>
            </a:avLst>
          </a:prstGeom>
          <a:solidFill>
            <a:srgbClr val="EEF3FA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40580" y="2651760"/>
            <a:ext cx="200025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13732" y="2788920"/>
            <a:ext cx="18539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596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速くする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713732" y="3310128"/>
            <a:ext cx="18539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フロー効率の最大化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777990" y="2651760"/>
            <a:ext cx="2000250" cy="1508760"/>
          </a:xfrm>
          <a:prstGeom prst="roundRect">
            <a:avLst>
              <a:gd name="adj" fmla="val 1818"/>
            </a:avLst>
          </a:prstGeom>
          <a:solidFill>
            <a:srgbClr val="EEF3FA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77990" y="2651760"/>
            <a:ext cx="200025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1142" y="2788920"/>
            <a:ext cx="18539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強くする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851142" y="3310128"/>
            <a:ext cx="18539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育成・プロセス改善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" y="423367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行動原則（対チーム）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Mission &gt; 行動原則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310896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8404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そのための動き方は「見極め・守り・速くし・強くする」の4原則である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1051560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084064"/>
            <a:ext cx="7315200" cy="64008"/>
          </a:xfrm>
          <a:prstGeom prst="rect">
            <a:avLst/>
          </a:prstGeom>
          <a:solidFill>
            <a:srgbClr val="004098"/>
          </a:solidFill>
          <a:ln w="12700">
            <a:solidFill>
              <a:srgbClr val="00409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0" y="5084064"/>
            <a:ext cx="182880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234440"/>
            <a:ext cx="2000250" cy="3621024"/>
          </a:xfrm>
          <a:prstGeom prst="roundRect">
            <a:avLst>
              <a:gd name="adj" fmla="val 1371"/>
            </a:avLst>
          </a:prstGeom>
          <a:solidFill>
            <a:srgbClr val="EEF3FA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1234440"/>
            <a:ext cx="200025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289304"/>
            <a:ext cx="45720" cy="35661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325880"/>
            <a:ext cx="18356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見極める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1764792"/>
            <a:ext cx="18356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担い手：PO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057400"/>
            <a:ext cx="181737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130552"/>
            <a:ext cx="18356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投資判断・価値の選択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2496312"/>
            <a:ext cx="1835658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価値ベースの優先順位判断</a:t>
            </a:r>
            <a:endParaRPr lang="en-US" sz="11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やらないことの決定</a:t>
            </a:r>
            <a:endParaRPr lang="en-US" sz="11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受入条件定義・スコープ判断</a:t>
            </a:r>
            <a:endParaRPr lang="en-US" sz="11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スプリントレビューでの価値検証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03170" y="1234440"/>
            <a:ext cx="2000250" cy="3621024"/>
          </a:xfrm>
          <a:prstGeom prst="roundRect">
            <a:avLst>
              <a:gd name="adj" fmla="val 1371"/>
            </a:avLst>
          </a:prstGeom>
          <a:solidFill>
            <a:srgbClr val="EEF3FA"/>
          </a:solidFill>
          <a:ln/>
        </p:spPr>
      </p:sp>
      <p:sp>
        <p:nvSpPr>
          <p:cNvPr id="17" name="Shape 15"/>
          <p:cNvSpPr/>
          <p:nvPr/>
        </p:nvSpPr>
        <p:spPr>
          <a:xfrm>
            <a:off x="2503170" y="1234440"/>
            <a:ext cx="200025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03170" y="1289304"/>
            <a:ext cx="45720" cy="3566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94610" y="1325880"/>
            <a:ext cx="18356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守る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594610" y="1764792"/>
            <a:ext cx="18356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担い手：SM・ピープル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594610" y="2057400"/>
            <a:ext cx="181737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94610" y="2130552"/>
            <a:ext cx="18356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障害除去・健全性維持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594610" y="2496312"/>
            <a:ext cx="1835658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ブロッカー検知・即時除去</a:t>
            </a:r>
            <a:endParaRPr lang="en-US" sz="11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1on1による状態把握</a:t>
            </a:r>
            <a:endParaRPr lang="en-US" sz="11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メンタルヘルスケア</a:t>
            </a:r>
            <a:endParaRPr lang="en-US" sz="11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負荷分散・稼働調整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40580" y="1234440"/>
            <a:ext cx="2000250" cy="3621024"/>
          </a:xfrm>
          <a:prstGeom prst="roundRect">
            <a:avLst>
              <a:gd name="adj" fmla="val 1371"/>
            </a:avLst>
          </a:prstGeom>
          <a:solidFill>
            <a:srgbClr val="EEF3FA"/>
          </a:solidFill>
          <a:ln/>
        </p:spPr>
      </p:sp>
      <p:sp>
        <p:nvSpPr>
          <p:cNvPr id="25" name="Shape 23"/>
          <p:cNvSpPr/>
          <p:nvPr/>
        </p:nvSpPr>
        <p:spPr>
          <a:xfrm>
            <a:off x="4640580" y="1234440"/>
            <a:ext cx="200025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40580" y="1289304"/>
            <a:ext cx="45720" cy="35661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32020" y="1325880"/>
            <a:ext cx="18356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速くする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732020" y="1764792"/>
            <a:ext cx="18356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担い手：SM + PO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32020" y="2057400"/>
            <a:ext cx="181737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32020" y="2130552"/>
            <a:ext cx="18356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フロー効率の最大化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732020" y="2496312"/>
            <a:ext cx="1835658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WIP最小化</a:t>
            </a:r>
            <a:endParaRPr lang="en-US" sz="11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ボトルネック解消</a:t>
            </a:r>
            <a:endParaRPr lang="en-US" sz="11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仕様起因の手戻り削減</a:t>
            </a:r>
            <a:endParaRPr lang="en-US" sz="11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リードタイム短縮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777990" y="1234440"/>
            <a:ext cx="2000250" cy="3621024"/>
          </a:xfrm>
          <a:prstGeom prst="roundRect">
            <a:avLst>
              <a:gd name="adj" fmla="val 1371"/>
            </a:avLst>
          </a:prstGeom>
          <a:solidFill>
            <a:srgbClr val="EEF3FA"/>
          </a:solidFill>
          <a:ln/>
        </p:spPr>
      </p:sp>
      <p:sp>
        <p:nvSpPr>
          <p:cNvPr id="33" name="Shape 31"/>
          <p:cNvSpPr/>
          <p:nvPr/>
        </p:nvSpPr>
        <p:spPr>
          <a:xfrm>
            <a:off x="6777990" y="1234440"/>
            <a:ext cx="200025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77990" y="1289304"/>
            <a:ext cx="45720" cy="35661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69430" y="1325880"/>
            <a:ext cx="18356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強くする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869430" y="1764792"/>
            <a:ext cx="18356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担い手：SM・ピープル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869430" y="2057400"/>
            <a:ext cx="181737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69430" y="2130552"/>
            <a:ext cx="18356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育成・プロセス改善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869430" y="2496312"/>
            <a:ext cx="1835658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チーフ育成プログラム</a:t>
            </a:r>
            <a:endParaRPr lang="en-US" sz="11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オンボーディング整備</a:t>
            </a:r>
            <a:endParaRPr lang="en-US" sz="11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ふりかえりの質向上</a:t>
            </a:r>
            <a:endParaRPr lang="en-US" sz="11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プロセス標準化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Mission &gt; 3つの柱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310896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8404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4原則は独立ではなく、3つの柱として一体で機能する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1051560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084064"/>
            <a:ext cx="7315200" cy="64008"/>
          </a:xfrm>
          <a:prstGeom prst="rect">
            <a:avLst/>
          </a:prstGeom>
          <a:solidFill>
            <a:srgbClr val="004098"/>
          </a:solidFill>
          <a:ln w="12700">
            <a:solidFill>
              <a:srgbClr val="00409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0" y="5084064"/>
            <a:ext cx="182880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234440"/>
            <a:ext cx="2682240" cy="2743200"/>
          </a:xfrm>
          <a:prstGeom prst="roundRect">
            <a:avLst>
              <a:gd name="adj" fmla="val 1023"/>
            </a:avLst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344168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投資効果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1856232"/>
            <a:ext cx="249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正しいものに投資する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2194560"/>
            <a:ext cx="2407920" cy="182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286000"/>
            <a:ext cx="2499360" cy="1600200"/>
          </a:xfrm>
          <a:prstGeom prst="roundRect">
            <a:avLst>
              <a:gd name="adj" fmla="val 1143"/>
            </a:avLst>
          </a:prstGeom>
          <a:solidFill>
            <a:srgbClr val="EEF3FA"/>
          </a:solidFill>
          <a:ln/>
        </p:spPr>
      </p:sp>
      <p:sp>
        <p:nvSpPr>
          <p:cNvPr id="13" name="Text 11"/>
          <p:cNvSpPr/>
          <p:nvPr/>
        </p:nvSpPr>
        <p:spPr>
          <a:xfrm>
            <a:off x="530352" y="2331720"/>
            <a:ext cx="2353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見極める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0352" y="2624328"/>
            <a:ext cx="2353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担い手：PO機能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0352" y="2898648"/>
            <a:ext cx="23530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何に投資し、何をやらないか</a:t>
            </a:r>
            <a:endParaRPr lang="en-US" sz="11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価値ベースの優先順位判断</a:t>
            </a:r>
            <a:endParaRPr lang="en-US" sz="11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やらないことの決定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30880" y="1234440"/>
            <a:ext cx="2682240" cy="2743200"/>
          </a:xfrm>
          <a:prstGeom prst="roundRect">
            <a:avLst>
              <a:gd name="adj" fmla="val 1023"/>
            </a:avLst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3322320" y="1344168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スループット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322320" y="1856232"/>
            <a:ext cx="249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速く届ける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368040" y="2194560"/>
            <a:ext cx="2407920" cy="182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22320" y="2286000"/>
            <a:ext cx="2499360" cy="1600200"/>
          </a:xfrm>
          <a:prstGeom prst="roundRect">
            <a:avLst>
              <a:gd name="adj" fmla="val 1143"/>
            </a:avLst>
          </a:prstGeom>
          <a:solidFill>
            <a:srgbClr val="EEF3FA"/>
          </a:solidFill>
          <a:ln/>
        </p:spPr>
      </p:sp>
      <p:sp>
        <p:nvSpPr>
          <p:cNvPr id="21" name="Text 19"/>
          <p:cNvSpPr/>
          <p:nvPr/>
        </p:nvSpPr>
        <p:spPr>
          <a:xfrm>
            <a:off x="3395472" y="2331720"/>
            <a:ext cx="2353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速くする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395472" y="2624328"/>
            <a:ext cx="2353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担い手：SM + PO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95472" y="2898648"/>
            <a:ext cx="23530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フロー効率を最大化する</a:t>
            </a:r>
            <a:endParaRPr lang="en-US" sz="11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WIP最小化・ボトルネック解消</a:t>
            </a:r>
            <a:endParaRPr lang="en-US" sz="11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リードタイム短縮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96000" y="1234440"/>
            <a:ext cx="2682240" cy="2743200"/>
          </a:xfrm>
          <a:prstGeom prst="roundRect">
            <a:avLst>
              <a:gd name="adj" fmla="val 1023"/>
            </a:avLst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6187440" y="1344168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サステナビリティ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187440" y="1856232"/>
            <a:ext cx="249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走り続けられる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33160" y="2194560"/>
            <a:ext cx="2407920" cy="182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87440" y="2286000"/>
            <a:ext cx="2499360" cy="1600200"/>
          </a:xfrm>
          <a:prstGeom prst="roundRect">
            <a:avLst>
              <a:gd name="adj" fmla="val 1143"/>
            </a:avLst>
          </a:prstGeom>
          <a:solidFill>
            <a:srgbClr val="EEF3FA"/>
          </a:solidFill>
          <a:ln/>
        </p:spPr>
      </p:sp>
      <p:sp>
        <p:nvSpPr>
          <p:cNvPr id="29" name="Text 27"/>
          <p:cNvSpPr/>
          <p:nvPr/>
        </p:nvSpPr>
        <p:spPr>
          <a:xfrm>
            <a:off x="6260592" y="2331720"/>
            <a:ext cx="2353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守る・強くする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260592" y="2624328"/>
            <a:ext cx="2353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担い手：SM・ピープル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60592" y="2898648"/>
            <a:ext cx="23530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健全性の維持と成長</a:t>
            </a:r>
            <a:endParaRPr lang="en-US" sz="11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1on1・負荷分散・育成</a:t>
            </a:r>
            <a:endParaRPr lang="en-US" sz="11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チーフ育成・ふりかえり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069080"/>
            <a:ext cx="8412480" cy="384048"/>
          </a:xfrm>
          <a:prstGeom prst="roundRect">
            <a:avLst>
              <a:gd name="adj" fmla="val 7143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406908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2400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どれか1つが崩れると投資対効果は最大化できない。投資効果・スループット・サステナビリティの3つをバランスよく維持することがMissionの根幹。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Mission &gt; 所管領域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310896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8404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所管は3領域に限定する。それ以外に手を出さないことが集中を生む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1051560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084064"/>
            <a:ext cx="7315200" cy="64008"/>
          </a:xfrm>
          <a:prstGeom prst="rect">
            <a:avLst/>
          </a:prstGeom>
          <a:solidFill>
            <a:srgbClr val="004098"/>
          </a:solidFill>
          <a:ln w="12700">
            <a:solidFill>
              <a:srgbClr val="00409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0" y="5084064"/>
            <a:ext cx="182880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5272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所管（主管）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554480"/>
            <a:ext cx="5029200" cy="804672"/>
          </a:xfrm>
          <a:prstGeom prst="roundRect">
            <a:avLst>
              <a:gd name="adj" fmla="val 3409"/>
            </a:avLst>
          </a:prstGeom>
          <a:solidFill>
            <a:srgbClr val="EEF3FA"/>
          </a:solidFill>
          <a:ln w="6350">
            <a:solidFill>
              <a:srgbClr val="00409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554480"/>
            <a:ext cx="45720" cy="804672"/>
          </a:xfrm>
          <a:prstGeom prst="rect">
            <a:avLst/>
          </a:prstGeom>
          <a:solidFill>
            <a:srgbClr val="004098"/>
          </a:solidFill>
          <a:ln w="12700">
            <a:solidFill>
              <a:srgbClr val="00409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600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ピープルマネジメント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794760" y="1627632"/>
            <a:ext cx="1508760" cy="219456"/>
          </a:xfrm>
          <a:prstGeom prst="roundRect">
            <a:avLst>
              <a:gd name="adj" fmla="val 8333"/>
            </a:avLst>
          </a:prstGeom>
          <a:solidFill>
            <a:srgbClr val="004098"/>
          </a:solidFill>
          <a:ln/>
        </p:spPr>
      </p:sp>
      <p:sp>
        <p:nvSpPr>
          <p:cNvPr id="13" name="Text 11"/>
          <p:cNvSpPr/>
          <p:nvPr/>
        </p:nvSpPr>
        <p:spPr>
          <a:xfrm>
            <a:off x="3794760" y="162763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守る・強くする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19385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1on1・育成支援・オンボーディング</a:t>
            </a:r>
            <a:endParaRPr lang="en-US" sz="1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関係性の早期検知・チーフ育成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468880"/>
            <a:ext cx="5029200" cy="804672"/>
          </a:xfrm>
          <a:prstGeom prst="roundRect">
            <a:avLst>
              <a:gd name="adj" fmla="val 3409"/>
            </a:avLst>
          </a:prstGeom>
          <a:solidFill>
            <a:srgbClr val="EEF3FA"/>
          </a:solidFill>
          <a:ln w="6350">
            <a:solidFill>
              <a:srgbClr val="00409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468880"/>
            <a:ext cx="45720" cy="804672"/>
          </a:xfrm>
          <a:prstGeom prst="rect">
            <a:avLst/>
          </a:prstGeom>
          <a:solidFill>
            <a:srgbClr val="004098"/>
          </a:solidFill>
          <a:ln w="12700">
            <a:solidFill>
              <a:srgbClr val="00409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514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プロジェクトマネジメント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794760" y="2542032"/>
            <a:ext cx="1508760" cy="219456"/>
          </a:xfrm>
          <a:prstGeom prst="roundRect">
            <a:avLst>
              <a:gd name="adj" fmla="val 8333"/>
            </a:avLst>
          </a:prstGeom>
          <a:solidFill>
            <a:srgbClr val="004098"/>
          </a:solidFill>
          <a:ln/>
        </p:spPr>
      </p:sp>
      <p:sp>
        <p:nvSpPr>
          <p:cNvPr id="19" name="Text 17"/>
          <p:cNvSpPr/>
          <p:nvPr/>
        </p:nvSpPr>
        <p:spPr>
          <a:xfrm>
            <a:off x="3794760" y="254203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守る・速くする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" y="28529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スクラム運営・リスク可視化</a:t>
            </a:r>
            <a:endParaRPr lang="en-US" sz="1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進行管理・スプリント計画・障害除去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383280"/>
            <a:ext cx="5029200" cy="804672"/>
          </a:xfrm>
          <a:prstGeom prst="roundRect">
            <a:avLst>
              <a:gd name="adj" fmla="val 3409"/>
            </a:avLst>
          </a:prstGeom>
          <a:solidFill>
            <a:srgbClr val="EEF3FA"/>
          </a:solidFill>
          <a:ln w="6350">
            <a:solidFill>
              <a:srgbClr val="00409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383280"/>
            <a:ext cx="45720" cy="804672"/>
          </a:xfrm>
          <a:prstGeom prst="rect">
            <a:avLst/>
          </a:prstGeom>
          <a:solidFill>
            <a:srgbClr val="004098"/>
          </a:solidFill>
          <a:ln w="12700">
            <a:solidFill>
              <a:srgbClr val="00409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429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PO機能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794760" y="3456432"/>
            <a:ext cx="1508760" cy="219456"/>
          </a:xfrm>
          <a:prstGeom prst="roundRect">
            <a:avLst>
              <a:gd name="adj" fmla="val 8333"/>
            </a:avLst>
          </a:prstGeom>
          <a:solidFill>
            <a:srgbClr val="004098"/>
          </a:solidFill>
          <a:ln/>
        </p:spPr>
      </p:sp>
      <p:sp>
        <p:nvSpPr>
          <p:cNvPr id="25" name="Text 23"/>
          <p:cNvSpPr/>
          <p:nvPr/>
        </p:nvSpPr>
        <p:spPr>
          <a:xfrm>
            <a:off x="3794760" y="345643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見極める・速くする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" y="37673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バックログ管理・優先順位決定</a:t>
            </a:r>
            <a:endParaRPr lang="en-US" sz="1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受入条件定義・スコープ判断・価値検証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77840" y="12527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所管外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577840" y="1554480"/>
            <a:ext cx="3200400" cy="2743200"/>
          </a:xfrm>
          <a:prstGeom prst="roundRect">
            <a:avLst>
              <a:gd name="adj" fmla="val 1000"/>
            </a:avLst>
          </a:prstGeom>
          <a:solidFill>
            <a:srgbClr val="F8FAFC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16459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プロダクトマネジメント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669280" y="192024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担い手：PdMチーム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669280" y="21214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What/Whyの決定・仮説検証</a:t>
            </a:r>
            <a:endParaRPr lang="en-US" sz="1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ロードマップ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669280" y="2450592"/>
            <a:ext cx="292608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0" y="25146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テクノロジーマネジメント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669280" y="278892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担い手：中島さん＋各チームリーダー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669280" y="29900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技術意思決定・アーキテクチャ</a:t>
            </a:r>
            <a:endParaRPr lang="en-US" sz="1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DevOps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669280" y="3319272"/>
            <a:ext cx="292608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0" y="33832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コーポレート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669280" y="365760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担い手：分離済み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669280" y="38587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経理・契約管理</a:t>
            </a:r>
            <a:endParaRPr lang="en-US" sz="1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コーポレートエンジニアリング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Mission &gt; PdMとの境界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310896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8404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PdMは「何を作るか」を決め、私たちは「どう届けるか」を決める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1051560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084064"/>
            <a:ext cx="7315200" cy="64008"/>
          </a:xfrm>
          <a:prstGeom prst="rect">
            <a:avLst/>
          </a:prstGeom>
          <a:solidFill>
            <a:srgbClr val="004098"/>
          </a:solidFill>
          <a:ln w="12700">
            <a:solidFill>
              <a:srgbClr val="00409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0" y="5084064"/>
            <a:ext cx="182880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234440"/>
            <a:ext cx="4069080" cy="3657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23444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PdMチーム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09160" y="1234440"/>
            <a:ext cx="4069080" cy="365760"/>
          </a:xfrm>
          <a:prstGeom prst="roundRect">
            <a:avLst>
              <a:gd name="adj" fmla="val 5000"/>
            </a:avLst>
          </a:prstGeom>
          <a:solidFill>
            <a:srgbClr val="004098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123444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デリバリーマネジメントチーム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434840" y="12344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34840" y="1691640"/>
            <a:ext cx="27432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問い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1691640"/>
            <a:ext cx="4069080" cy="813816"/>
          </a:xfrm>
          <a:prstGeom prst="rect">
            <a:avLst/>
          </a:prstGeom>
          <a:solidFill>
            <a:srgbClr val="F8FAFC"/>
          </a:solidFill>
          <a:ln w="381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737360"/>
            <a:ext cx="731520" cy="2848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問い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1976476"/>
            <a:ext cx="3886200" cy="488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What / Why</a:t>
            </a: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何を作るか・なぜ作るか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09160" y="1691640"/>
            <a:ext cx="4069080" cy="813816"/>
          </a:xfrm>
          <a:prstGeom prst="rect">
            <a:avLst/>
          </a:prstGeom>
          <a:solidFill>
            <a:srgbClr val="EEF3FA"/>
          </a:solidFill>
          <a:ln w="381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1737360"/>
            <a:ext cx="731520" cy="2848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問い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00600" y="1976476"/>
            <a:ext cx="3886200" cy="488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How / When</a:t>
            </a: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どの順番で・いつまでに届けるか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434840" y="2505456"/>
            <a:ext cx="27432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責任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2505456"/>
            <a:ext cx="4069080" cy="813816"/>
          </a:xfrm>
          <a:prstGeom prst="rect">
            <a:avLst/>
          </a:prstGeom>
          <a:solidFill>
            <a:srgbClr val="FFFFFF"/>
          </a:solidFill>
          <a:ln w="3810">
            <a:solidFill>
              <a:srgbClr val="CADC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551176"/>
            <a:ext cx="731520" cy="2848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責任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2790292"/>
            <a:ext cx="3886200" cy="488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プロダクト戦略・仮説立案</a:t>
            </a: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顧客検証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09160" y="2505456"/>
            <a:ext cx="4069080" cy="813816"/>
          </a:xfrm>
          <a:prstGeom prst="rect">
            <a:avLst/>
          </a:prstGeom>
          <a:solidFill>
            <a:srgbClr val="FFFFFF"/>
          </a:solidFill>
          <a:ln w="3810">
            <a:solidFill>
              <a:srgbClr val="CADC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2551176"/>
            <a:ext cx="731520" cy="2848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責任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00600" y="2790292"/>
            <a:ext cx="3886200" cy="488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バックログ実行・スプリント運営</a:t>
            </a: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チーム稼働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434840" y="3319272"/>
            <a:ext cx="27432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接続点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3319272"/>
            <a:ext cx="4069080" cy="813816"/>
          </a:xfrm>
          <a:prstGeom prst="rect">
            <a:avLst/>
          </a:prstGeom>
          <a:solidFill>
            <a:srgbClr val="F8FAFC"/>
          </a:solidFill>
          <a:ln w="3810">
            <a:solidFill>
              <a:srgbClr val="CADC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364992"/>
            <a:ext cx="731520" cy="2848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接続点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3604108"/>
            <a:ext cx="3886200" cy="488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ロードマップと優先方針を</a:t>
            </a: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インプット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709160" y="3319272"/>
            <a:ext cx="4069080" cy="813816"/>
          </a:xfrm>
          <a:prstGeom prst="rect">
            <a:avLst/>
          </a:prstGeom>
          <a:solidFill>
            <a:srgbClr val="EEF3FA"/>
          </a:solidFill>
          <a:ln w="3810">
            <a:solidFill>
              <a:srgbClr val="CADCF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3364992"/>
            <a:ext cx="731520" cy="2848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接続点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00600" y="3604108"/>
            <a:ext cx="3886200" cy="488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POがそれを開発チームの</a:t>
            </a: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動きに翻訳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434840" y="4133088"/>
            <a:ext cx="27432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判断権限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65760" y="4133088"/>
            <a:ext cx="4069080" cy="813816"/>
          </a:xfrm>
          <a:prstGeom prst="rect">
            <a:avLst/>
          </a:prstGeom>
          <a:solidFill>
            <a:srgbClr val="FFFFFF"/>
          </a:solidFill>
          <a:ln w="3810">
            <a:solidFill>
              <a:srgbClr val="CADCF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178808"/>
            <a:ext cx="731520" cy="2848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判断権限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7200" y="4417924"/>
            <a:ext cx="3886200" cy="488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「何を作るか」の最終判断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709160" y="4133088"/>
            <a:ext cx="4069080" cy="813816"/>
          </a:xfrm>
          <a:prstGeom prst="rect">
            <a:avLst/>
          </a:prstGeom>
          <a:solidFill>
            <a:srgbClr val="FFFFFF"/>
          </a:solidFill>
          <a:ln w="3810">
            <a:solidFill>
              <a:srgbClr val="CADCF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0600" y="4178808"/>
            <a:ext cx="731520" cy="2848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判断権限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800600" y="4417924"/>
            <a:ext cx="3886200" cy="488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「どの順番で・どこまで作るか」</a:t>
            </a: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の最終判断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Mission &gt; 判断基準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310896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8404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判断に迷ったら「4原則のどれか？」と問う。どれでもなければ私たちの仕事ではない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1051560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084064"/>
            <a:ext cx="7315200" cy="64008"/>
          </a:xfrm>
          <a:prstGeom prst="rect">
            <a:avLst/>
          </a:prstGeom>
          <a:solidFill>
            <a:srgbClr val="004098"/>
          </a:solidFill>
          <a:ln w="12700">
            <a:solidFill>
              <a:srgbClr val="00409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0" y="5084064"/>
            <a:ext cx="182880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234440"/>
            <a:ext cx="8412480" cy="1463040"/>
          </a:xfrm>
          <a:prstGeom prst="roundRect">
            <a:avLst>
              <a:gd name="adj" fmla="val 2500"/>
            </a:avLst>
          </a:prstGeom>
          <a:solidFill>
            <a:srgbClr val="004098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3258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「今やろうとしていることは、流れを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167335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見極める  /  守る  /  速くする  /  強くする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0080" y="21488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ことか？」  ——どれにも当てはまらないなら、デリバリーチームの仕事ではない。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2834640"/>
            <a:ext cx="2000250" cy="2066544"/>
          </a:xfrm>
          <a:prstGeom prst="roundRect">
            <a:avLst>
              <a:gd name="adj" fmla="val 1371"/>
            </a:avLst>
          </a:prstGeom>
          <a:solidFill>
            <a:srgbClr val="EEF3FA"/>
          </a:solidFill>
          <a:ln/>
        </p:spPr>
      </p:sp>
      <p:sp>
        <p:nvSpPr>
          <p:cNvPr id="13" name="Shape 11"/>
          <p:cNvSpPr/>
          <p:nvPr/>
        </p:nvSpPr>
        <p:spPr>
          <a:xfrm>
            <a:off x="365760" y="2834640"/>
            <a:ext cx="200025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2926080"/>
            <a:ext cx="18539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見極める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38912" y="3246120"/>
            <a:ext cx="1853946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例：バックログを価値で並び替える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03170" y="2834640"/>
            <a:ext cx="2000250" cy="2066544"/>
          </a:xfrm>
          <a:prstGeom prst="roundRect">
            <a:avLst>
              <a:gd name="adj" fmla="val 1371"/>
            </a:avLst>
          </a:prstGeom>
          <a:solidFill>
            <a:srgbClr val="EEF3FA"/>
          </a:solidFill>
          <a:ln/>
        </p:spPr>
      </p:sp>
      <p:sp>
        <p:nvSpPr>
          <p:cNvPr id="17" name="Shape 15"/>
          <p:cNvSpPr/>
          <p:nvPr/>
        </p:nvSpPr>
        <p:spPr>
          <a:xfrm>
            <a:off x="2503170" y="2834640"/>
            <a:ext cx="200025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76322" y="2926080"/>
            <a:ext cx="18539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守る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576322" y="3246120"/>
            <a:ext cx="1853946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例：1on1でメンバーの状態を確認する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40580" y="2834640"/>
            <a:ext cx="2000250" cy="2066544"/>
          </a:xfrm>
          <a:prstGeom prst="roundRect">
            <a:avLst>
              <a:gd name="adj" fmla="val 1371"/>
            </a:avLst>
          </a:prstGeom>
          <a:solidFill>
            <a:srgbClr val="EEF3FA"/>
          </a:solidFill>
          <a:ln/>
        </p:spPr>
      </p:sp>
      <p:sp>
        <p:nvSpPr>
          <p:cNvPr id="21" name="Shape 19"/>
          <p:cNvSpPr/>
          <p:nvPr/>
        </p:nvSpPr>
        <p:spPr>
          <a:xfrm>
            <a:off x="4640580" y="2834640"/>
            <a:ext cx="200025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13732" y="2926080"/>
            <a:ext cx="18539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速くする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13732" y="3246120"/>
            <a:ext cx="1853946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例：WIPを減らしてボトルネックを解消する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777990" y="2834640"/>
            <a:ext cx="2000250" cy="2066544"/>
          </a:xfrm>
          <a:prstGeom prst="roundRect">
            <a:avLst>
              <a:gd name="adj" fmla="val 1371"/>
            </a:avLst>
          </a:prstGeom>
          <a:solidFill>
            <a:srgbClr val="EEF3FA"/>
          </a:solidFill>
          <a:ln/>
        </p:spPr>
      </p:sp>
      <p:sp>
        <p:nvSpPr>
          <p:cNvPr id="25" name="Shape 23"/>
          <p:cNvSpPr/>
          <p:nvPr/>
        </p:nvSpPr>
        <p:spPr>
          <a:xfrm>
            <a:off x="6777990" y="2834640"/>
            <a:ext cx="2000250" cy="45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1142" y="2926080"/>
            <a:ext cx="18539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強くする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51142" y="3246120"/>
            <a:ext cx="1853946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例：ふりかえりのファシリテーションを改善する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Mission &gt; 成果指標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310896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8404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Missionへの貢献は4視点の指標で継続的に測定する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1051560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084064"/>
            <a:ext cx="7315200" cy="64008"/>
          </a:xfrm>
          <a:prstGeom prst="rect">
            <a:avLst/>
          </a:prstGeom>
          <a:solidFill>
            <a:srgbClr val="004098"/>
          </a:solidFill>
          <a:ln w="12700">
            <a:solidFill>
              <a:srgbClr val="00409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0" y="5084064"/>
            <a:ext cx="182880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344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まず★★★（必須）から始める。Missionの根幹に直結する指標。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54480"/>
          <a:ext cx="841248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188720"/>
                <a:gridCol w="2286000"/>
                <a:gridCol w="2743200"/>
                <a:gridCol w="9144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視点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409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行動原則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409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指標（★★★）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409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測定方法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409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頻度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409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デリバリー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速くする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サイクルタイム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PBI着手→本番リリースまでの日数（中央値）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スプリント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デリバリー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速くする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スプリントゴール達成率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ゴール達成スプリント数 / 全スプリント数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スプリント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バリュー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見極める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バックログ健全性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Ready状態のPBI比率・受入条件の明確化率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スプリント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品質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速くする＋守る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手戻り率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手戻りチケット数 / 完了チケット数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スプリント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サステナビリティ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守る＋強くする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チーム健全性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レトロでのチーム自己評価・離職率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月次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365760" y="4251960"/>
            <a:ext cx="8412480" cy="347472"/>
          </a:xfrm>
          <a:prstGeom prst="roundRect">
            <a:avLst>
              <a:gd name="adj" fmla="val 7895"/>
            </a:avLst>
          </a:prstGeom>
          <a:solidFill>
            <a:srgbClr val="EEF3FA"/>
          </a:solidFill>
          <a:ln w="12700">
            <a:solidFill>
              <a:srgbClr val="00409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425196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注意：ベロシティ（ストーリーポイント）は成果指標に含めない。チーム間比較や生産性評価に使うと計測の歪みを生む。代わりにサイクルタイムとスプリントゴール達成率で「速さ」を測定する。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Mission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310896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8404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ネクストアクション：今日からこのMissionで動く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1051560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084064"/>
            <a:ext cx="7315200" cy="64008"/>
          </a:xfrm>
          <a:prstGeom prst="rect">
            <a:avLst/>
          </a:prstGeom>
          <a:solidFill>
            <a:srgbClr val="004098"/>
          </a:solidFill>
          <a:ln w="12700">
            <a:solidFill>
              <a:srgbClr val="00409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0" y="5084064"/>
            <a:ext cx="182880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234440"/>
            <a:ext cx="8412480" cy="1024128"/>
          </a:xfrm>
          <a:prstGeom prst="roundRect">
            <a:avLst>
              <a:gd name="adj" fmla="val 2679"/>
            </a:avLst>
          </a:prstGeom>
          <a:solidFill>
            <a:srgbClr val="EEF3FA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618488"/>
            <a:ext cx="256032" cy="25603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6184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1280160"/>
            <a:ext cx="781812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判断基準を日常に取り込む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1664574"/>
            <a:ext cx="7818120" cy="5325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「今やろうとしていることは4原則のどれか？」を毎日の仕事の入口で問う。どれにも当てはまらないアクションは一旦止める。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51376" y="2304288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4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2532888"/>
            <a:ext cx="8412480" cy="1024128"/>
          </a:xfrm>
          <a:prstGeom prst="roundRect">
            <a:avLst>
              <a:gd name="adj" fmla="val 2679"/>
            </a:avLst>
          </a:prstGeom>
          <a:solidFill>
            <a:srgbClr val="EEF3FA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916936"/>
            <a:ext cx="256032" cy="25603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9169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2578608"/>
            <a:ext cx="781812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★★★指標の計測を開始する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2963022"/>
            <a:ext cx="7818120" cy="5325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チーム立ち上げ初日からサイクルタイム・スプリントゴール達成率・バックログ健全性・手戻り率・チーム健全性の5指標を計測し始める。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51376" y="3602736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4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5760" y="3831336"/>
            <a:ext cx="8412480" cy="1024128"/>
          </a:xfrm>
          <a:prstGeom prst="roundRect">
            <a:avLst>
              <a:gd name="adj" fmla="val 2679"/>
            </a:avLst>
          </a:prstGeom>
          <a:solidFill>
            <a:srgbClr val="EEF3FA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215384"/>
            <a:ext cx="256032" cy="256032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2153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" y="3877056"/>
            <a:ext cx="781812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チームメンバーとMissionを対話する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2960" y="4261470"/>
            <a:ext cx="7818120" cy="5325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1on1・レトロでMissionと行動原則を使った対話を始める。「今週の自分の仕事は見極める/守る/速くする/強くするのどれだったか？」を問い合う。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デリバリーマネジメントチーム Mission 2026年4月改定</dc:title>
  <dc:subject>PptxGenJS Presentation</dc:subject>
  <dc:creator>PptxGenJS</dc:creator>
  <cp:lastModifiedBy>PptxGenJS</cp:lastModifiedBy>
  <cp:revision>1</cp:revision>
  <dcterms:created xsi:type="dcterms:W3CDTF">2026-04-04T04:23:29Z</dcterms:created>
  <dcterms:modified xsi:type="dcterms:W3CDTF">2026-04-04T04:23:29Z</dcterms:modified>
</cp:coreProperties>
</file>