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30" d="100"/>
          <a:sy n="130" d="100"/>
        </p:scale>
        <p:origin x="1312"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285485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Shape 2"/>
          <p:cNvSpPr/>
          <p:nvPr/>
        </p:nvSpPr>
        <p:spPr>
          <a:xfrm>
            <a:off x="0" y="0"/>
            <a:ext cx="9144000" cy="731520"/>
          </a:xfrm>
          <a:prstGeom prst="rect">
            <a:avLst/>
          </a:prstGeom>
          <a:solidFill>
            <a:srgbClr val="004098"/>
          </a:solidFill>
          <a:ln/>
        </p:spPr>
        <p:txBody>
          <a:bodyPr/>
          <a:lstStyle/>
          <a:p>
            <a:endParaRPr lang="ja-JP" altLang="en-US"/>
          </a:p>
        </p:txBody>
      </p:sp>
      <p:sp>
        <p:nvSpPr>
          <p:cNvPr id="5" name="Shape 3"/>
          <p:cNvSpPr/>
          <p:nvPr/>
        </p:nvSpPr>
        <p:spPr>
          <a:xfrm>
            <a:off x="548640" y="731520"/>
            <a:ext cx="1097280" cy="36576"/>
          </a:xfrm>
          <a:prstGeom prst="rect">
            <a:avLst/>
          </a:prstGeom>
          <a:solidFill>
            <a:srgbClr val="DC2626"/>
          </a:solidFill>
          <a:ln/>
        </p:spPr>
        <p:txBody>
          <a:bodyPr/>
          <a:lstStyle/>
          <a:p>
            <a:endParaRPr lang="ja-JP" altLang="en-US"/>
          </a:p>
        </p:txBody>
      </p:sp>
      <p:sp>
        <p:nvSpPr>
          <p:cNvPr id="6" name="Text 4"/>
          <p:cNvSpPr/>
          <p:nvPr/>
        </p:nvSpPr>
        <p:spPr>
          <a:xfrm>
            <a:off x="548640" y="1097280"/>
            <a:ext cx="8046720" cy="1463040"/>
          </a:xfrm>
          <a:prstGeom prst="rect">
            <a:avLst/>
          </a:prstGeom>
          <a:noFill/>
          <a:ln/>
        </p:spPr>
        <p:txBody>
          <a:bodyPr wrap="square" lIns="0" tIns="0" rIns="0" bIns="0" rtlCol="0" anchor="ctr"/>
          <a:lstStyle/>
          <a:p>
            <a:pPr marL="0" indent="0" algn="l">
              <a:lnSpc>
                <a:spcPct val="120000"/>
              </a:lnSpc>
              <a:buNone/>
            </a:pPr>
            <a:r>
              <a:rPr lang="en-US" sz="3600" b="1" dirty="0">
                <a:solidFill>
                  <a:srgbClr val="004098"/>
                </a:solidFill>
                <a:latin typeface="Meiryo" pitchFamily="34" charset="0"/>
                <a:ea typeface="Meiryo" pitchFamily="34" charset="-122"/>
                <a:cs typeface="Meiryo" pitchFamily="34" charset="-120"/>
              </a:rPr>
              <a:t>成果の方程式</a:t>
            </a:r>
            <a:endParaRPr lang="en-US" sz="3600" dirty="0"/>
          </a:p>
        </p:txBody>
      </p:sp>
      <p:sp>
        <p:nvSpPr>
          <p:cNvPr id="7" name="Text 5"/>
          <p:cNvSpPr/>
          <p:nvPr/>
        </p:nvSpPr>
        <p:spPr>
          <a:xfrm>
            <a:off x="548640" y="2651760"/>
            <a:ext cx="8046720" cy="457200"/>
          </a:xfrm>
          <a:prstGeom prst="rect">
            <a:avLst/>
          </a:prstGeom>
          <a:noFill/>
          <a:ln/>
        </p:spPr>
        <p:txBody>
          <a:bodyPr wrap="square" lIns="0" tIns="0" rIns="0" bIns="0" rtlCol="0" anchor="t"/>
          <a:lstStyle/>
          <a:p>
            <a:pPr marL="0" indent="0" algn="l">
              <a:buNone/>
            </a:pPr>
            <a:r>
              <a:rPr lang="en-US" sz="1600" dirty="0">
                <a:solidFill>
                  <a:srgbClr val="444466"/>
                </a:solidFill>
                <a:latin typeface="Meiryo" pitchFamily="34" charset="0"/>
                <a:ea typeface="Meiryo" pitchFamily="34" charset="-122"/>
                <a:cs typeface="Meiryo" pitchFamily="34" charset="-120"/>
              </a:rPr>
              <a:t>試行回数 × 施策の精度 ＝ 事業成果</a:t>
            </a:r>
            <a:endParaRPr lang="en-US" sz="1600" dirty="0"/>
          </a:p>
        </p:txBody>
      </p:sp>
      <p:sp>
        <p:nvSpPr>
          <p:cNvPr id="8" name="Text 6"/>
          <p:cNvSpPr/>
          <p:nvPr/>
        </p:nvSpPr>
        <p:spPr>
          <a:xfrm>
            <a:off x="548640" y="3383280"/>
            <a:ext cx="3657600" cy="274320"/>
          </a:xfrm>
          <a:prstGeom prst="rect">
            <a:avLst/>
          </a:prstGeom>
          <a:noFill/>
          <a:ln/>
        </p:spPr>
        <p:txBody>
          <a:bodyPr wrap="square" rtlCol="0" anchor="ctr"/>
          <a:lstStyle/>
          <a:p>
            <a:pPr marL="0" indent="0" algn="l">
              <a:buNone/>
            </a:pPr>
            <a:r>
              <a:rPr lang="en-US" sz="1200" dirty="0">
                <a:solidFill>
                  <a:srgbClr val="444466"/>
                </a:solidFill>
                <a:latin typeface="Arial" pitchFamily="34" charset="0"/>
                <a:ea typeface="Arial" pitchFamily="34" charset="-122"/>
                <a:cs typeface="Arial" pitchFamily="34" charset="-120"/>
              </a:rPr>
              <a:t>2026-04-15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OKR 挑戦KR2</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Shape 4"/>
          <p:cNvSpPr/>
          <p:nvPr/>
        </p:nvSpPr>
        <p:spPr>
          <a:xfrm>
            <a:off x="365760" y="438912"/>
            <a:ext cx="1280160" cy="292608"/>
          </a:xfrm>
          <a:prstGeom prst="roundRect">
            <a:avLst>
              <a:gd name="adj" fmla="val 6250"/>
            </a:avLst>
          </a:prstGeom>
          <a:solidFill>
            <a:srgbClr val="004098"/>
          </a:solidFill>
          <a:ln/>
        </p:spPr>
        <p:txBody>
          <a:bodyPr/>
          <a:lstStyle/>
          <a:p>
            <a:endParaRPr lang="ja-JP" altLang="en-US"/>
          </a:p>
        </p:txBody>
      </p:sp>
      <p:sp>
        <p:nvSpPr>
          <p:cNvPr id="7" name="Text 5"/>
          <p:cNvSpPr/>
          <p:nvPr/>
        </p:nvSpPr>
        <p:spPr>
          <a:xfrm>
            <a:off x="365760" y="438912"/>
            <a:ext cx="1280160"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Meiryo" pitchFamily="34" charset="0"/>
                <a:ea typeface="Meiryo" pitchFamily="34" charset="-122"/>
                <a:cs typeface="Meiryo" pitchFamily="34" charset="-120"/>
              </a:rPr>
              <a:t>挑戦 KR2</a:t>
            </a:r>
            <a:endParaRPr lang="en-US" sz="1000" dirty="0"/>
          </a:p>
        </p:txBody>
      </p:sp>
      <p:sp>
        <p:nvSpPr>
          <p:cNvPr id="8" name="Text 6"/>
          <p:cNvSpPr/>
          <p:nvPr/>
        </p:nvSpPr>
        <p:spPr>
          <a:xfrm>
            <a:off x="365760" y="804672"/>
            <a:ext cx="8412480" cy="731520"/>
          </a:xfrm>
          <a:prstGeom prst="rect">
            <a:avLst/>
          </a:prstGeom>
          <a:noFill/>
          <a:ln/>
        </p:spPr>
        <p:txBody>
          <a:bodyPr wrap="square" rtlCol="0" anchor="t"/>
          <a:lstStyle/>
          <a:p>
            <a:pPr marL="0" indent="0" algn="l">
              <a:lnSpc>
                <a:spcPct val="160000"/>
              </a:lnSpc>
              <a:buNone/>
            </a:pPr>
            <a:r>
              <a:rPr lang="en-US" sz="1500" dirty="0">
                <a:solidFill>
                  <a:srgbClr val="1A1A2E"/>
                </a:solidFill>
                <a:latin typeface="Meiryo" pitchFamily="34" charset="0"/>
                <a:ea typeface="Meiryo" pitchFamily="34" charset="-122"/>
                <a:cs typeface="Meiryo" pitchFamily="34" charset="-120"/>
              </a:rPr>
              <a:t>仮説・検証・学習が止まらず高速に巡るプロダクト開発の型を定常運用できている。</a:t>
            </a:r>
            <a:endParaRPr lang="en-US" sz="1500" dirty="0"/>
          </a:p>
          <a:p>
            <a:pPr marL="0" indent="0" algn="l">
              <a:lnSpc>
                <a:spcPct val="160000"/>
              </a:lnSpc>
              <a:buNone/>
            </a:pPr>
            <a:r>
              <a:rPr lang="en-US" sz="1500" dirty="0">
                <a:solidFill>
                  <a:srgbClr val="1A1A2E"/>
                </a:solidFill>
                <a:latin typeface="Meiryo" pitchFamily="34" charset="0"/>
                <a:ea typeface="Meiryo" pitchFamily="34" charset="-122"/>
                <a:cs typeface="Meiryo" pitchFamily="34" charset="-120"/>
              </a:rPr>
              <a:t>小さく早く検証する考え方がメンバーに浸透し、不確実性に対してムダの少ない意思決定と実行ができている。</a:t>
            </a:r>
            <a:endParaRPr lang="en-US" sz="1500" dirty="0"/>
          </a:p>
        </p:txBody>
      </p:sp>
      <p:sp>
        <p:nvSpPr>
          <p:cNvPr id="9" name="Shape 7"/>
          <p:cNvSpPr/>
          <p:nvPr/>
        </p:nvSpPr>
        <p:spPr>
          <a:xfrm>
            <a:off x="365760" y="1627632"/>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Text 8"/>
          <p:cNvSpPr/>
          <p:nvPr/>
        </p:nvSpPr>
        <p:spPr>
          <a:xfrm>
            <a:off x="365760" y="1737360"/>
            <a:ext cx="8412480" cy="292608"/>
          </a:xfrm>
          <a:prstGeom prst="rect">
            <a:avLst/>
          </a:prstGeom>
          <a:noFill/>
          <a:ln/>
        </p:spPr>
        <p:txBody>
          <a:bodyPr wrap="square" rtlCol="0" anchor="ctr"/>
          <a:lstStyle/>
          <a:p>
            <a:pPr marL="0" indent="0" algn="l">
              <a:buNone/>
            </a:pPr>
            <a:r>
              <a:rPr lang="en-US" sz="1400" b="1" dirty="0">
                <a:solidFill>
                  <a:srgbClr val="004098"/>
                </a:solidFill>
                <a:latin typeface="Meiryo" pitchFamily="34" charset="0"/>
                <a:ea typeface="Meiryo" pitchFamily="34" charset="-122"/>
                <a:cs typeface="Meiryo" pitchFamily="34" charset="-120"/>
              </a:rPr>
              <a:t>この KR を支える 3 つのアプローチ</a:t>
            </a:r>
            <a:endParaRPr lang="en-US" sz="1400" dirty="0"/>
          </a:p>
        </p:txBody>
      </p:sp>
      <p:sp>
        <p:nvSpPr>
          <p:cNvPr id="11" name="Text 9"/>
          <p:cNvSpPr/>
          <p:nvPr/>
        </p:nvSpPr>
        <p:spPr>
          <a:xfrm>
            <a:off x="365760" y="2011680"/>
            <a:ext cx="841248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「型を回す」を3つの構造的課題に分解して取り組む。</a:t>
            </a:r>
            <a:endParaRPr lang="en-US" sz="1100" dirty="0"/>
          </a:p>
        </p:txBody>
      </p:sp>
      <p:sp>
        <p:nvSpPr>
          <p:cNvPr id="12" name="Shape 10"/>
          <p:cNvSpPr/>
          <p:nvPr/>
        </p:nvSpPr>
        <p:spPr>
          <a:xfrm>
            <a:off x="365760" y="2331720"/>
            <a:ext cx="2651760" cy="2148840"/>
          </a:xfrm>
          <a:prstGeom prst="roundRect">
            <a:avLst>
              <a:gd name="adj" fmla="val 1277"/>
            </a:avLst>
          </a:prstGeom>
          <a:solidFill>
            <a:srgbClr val="F5F5F5"/>
          </a:solidFill>
          <a:ln/>
        </p:spPr>
        <p:txBody>
          <a:bodyPr/>
          <a:lstStyle/>
          <a:p>
            <a:endParaRPr lang="ja-JP" altLang="en-US"/>
          </a:p>
        </p:txBody>
      </p:sp>
      <p:sp>
        <p:nvSpPr>
          <p:cNvPr id="13" name="Shape 11"/>
          <p:cNvSpPr/>
          <p:nvPr/>
        </p:nvSpPr>
        <p:spPr>
          <a:xfrm>
            <a:off x="365760" y="2331720"/>
            <a:ext cx="2651760" cy="36576"/>
          </a:xfrm>
          <a:prstGeom prst="rect">
            <a:avLst/>
          </a:prstGeom>
          <a:solidFill>
            <a:srgbClr val="004098"/>
          </a:solidFill>
          <a:ln/>
        </p:spPr>
        <p:txBody>
          <a:bodyPr/>
          <a:lstStyle/>
          <a:p>
            <a:endParaRPr lang="ja-JP" altLang="en-US"/>
          </a:p>
        </p:txBody>
      </p:sp>
      <p:sp>
        <p:nvSpPr>
          <p:cNvPr id="14" name="Text 12"/>
          <p:cNvSpPr/>
          <p:nvPr/>
        </p:nvSpPr>
        <p:spPr>
          <a:xfrm>
            <a:off x="502920" y="2468880"/>
            <a:ext cx="1828800" cy="256032"/>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アプローチ ①</a:t>
            </a:r>
            <a:endParaRPr lang="en-US" sz="1100" dirty="0"/>
          </a:p>
        </p:txBody>
      </p:sp>
      <p:sp>
        <p:nvSpPr>
          <p:cNvPr id="15" name="Text 13"/>
          <p:cNvSpPr/>
          <p:nvPr/>
        </p:nvSpPr>
        <p:spPr>
          <a:xfrm>
            <a:off x="502920" y="2743200"/>
            <a:ext cx="2377440" cy="292608"/>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入口品質をあげる</a:t>
            </a:r>
            <a:endParaRPr lang="en-US" sz="1400" dirty="0"/>
          </a:p>
        </p:txBody>
      </p:sp>
      <p:sp>
        <p:nvSpPr>
          <p:cNvPr id="16" name="Text 14"/>
          <p:cNvSpPr/>
          <p:nvPr/>
        </p:nvSpPr>
        <p:spPr>
          <a:xfrm>
            <a:off x="502920" y="3044952"/>
            <a:ext cx="237744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実装に入る前の要求定義の曖昧さをなくす</a:t>
            </a:r>
            <a:endParaRPr lang="en-US" sz="1100" dirty="0"/>
          </a:p>
        </p:txBody>
      </p:sp>
      <p:sp>
        <p:nvSpPr>
          <p:cNvPr id="17" name="Shape 15"/>
          <p:cNvSpPr/>
          <p:nvPr/>
        </p:nvSpPr>
        <p:spPr>
          <a:xfrm>
            <a:off x="502920" y="3337560"/>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18" name="Text 16"/>
          <p:cNvSpPr/>
          <p:nvPr/>
        </p:nvSpPr>
        <p:spPr>
          <a:xfrm>
            <a:off x="502920" y="3410712"/>
            <a:ext cx="2377440" cy="1005840"/>
          </a:xfrm>
          <a:prstGeom prst="rect">
            <a:avLst/>
          </a:prstGeom>
          <a:noFill/>
          <a:ln/>
        </p:spPr>
        <p:txBody>
          <a:bodyPr wrap="square" rtlCol="0" anchor="t"/>
          <a:lstStyle/>
          <a:p>
            <a:pPr marL="0" indent="0" algn="l">
              <a:lnSpc>
                <a:spcPct val="160000"/>
              </a:lnSpc>
              <a:buNone/>
            </a:pPr>
            <a:r>
              <a:rPr lang="en-US" sz="1100" dirty="0">
                <a:solidFill>
                  <a:srgbClr val="1A1A2E"/>
                </a:solidFill>
                <a:latin typeface="Meiryo" pitchFamily="34" charset="0"/>
                <a:ea typeface="Meiryo" pitchFamily="34" charset="-122"/>
                <a:cs typeface="Meiryo" pitchFamily="34" charset="-120"/>
              </a:rPr>
              <a:t>作り始めてから「この要件、ちゃんと決まってなかった」と気づき、作り直しになるムダを防ぐ。決めるべきことを決めてから作り始める。</a:t>
            </a:r>
            <a:endParaRPr lang="en-US" sz="1100" dirty="0"/>
          </a:p>
        </p:txBody>
      </p:sp>
      <p:sp>
        <p:nvSpPr>
          <p:cNvPr id="19" name="Shape 17"/>
          <p:cNvSpPr/>
          <p:nvPr/>
        </p:nvSpPr>
        <p:spPr>
          <a:xfrm>
            <a:off x="3246120" y="2331720"/>
            <a:ext cx="2651760" cy="2148840"/>
          </a:xfrm>
          <a:prstGeom prst="roundRect">
            <a:avLst>
              <a:gd name="adj" fmla="val 1277"/>
            </a:avLst>
          </a:prstGeom>
          <a:solidFill>
            <a:srgbClr val="F5F5F5"/>
          </a:solidFill>
          <a:ln/>
        </p:spPr>
        <p:txBody>
          <a:bodyPr/>
          <a:lstStyle/>
          <a:p>
            <a:endParaRPr lang="ja-JP" altLang="en-US"/>
          </a:p>
        </p:txBody>
      </p:sp>
      <p:sp>
        <p:nvSpPr>
          <p:cNvPr id="20" name="Shape 18"/>
          <p:cNvSpPr/>
          <p:nvPr/>
        </p:nvSpPr>
        <p:spPr>
          <a:xfrm>
            <a:off x="3246120" y="2331720"/>
            <a:ext cx="2651760" cy="36576"/>
          </a:xfrm>
          <a:prstGeom prst="rect">
            <a:avLst/>
          </a:prstGeom>
          <a:solidFill>
            <a:srgbClr val="004098"/>
          </a:solidFill>
          <a:ln/>
        </p:spPr>
        <p:txBody>
          <a:bodyPr/>
          <a:lstStyle/>
          <a:p>
            <a:endParaRPr lang="ja-JP" altLang="en-US"/>
          </a:p>
        </p:txBody>
      </p:sp>
      <p:sp>
        <p:nvSpPr>
          <p:cNvPr id="21" name="Text 19"/>
          <p:cNvSpPr/>
          <p:nvPr/>
        </p:nvSpPr>
        <p:spPr>
          <a:xfrm>
            <a:off x="3383280" y="2468880"/>
            <a:ext cx="1828800" cy="256032"/>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アプローチ ②</a:t>
            </a:r>
            <a:endParaRPr lang="en-US" sz="1100" dirty="0"/>
          </a:p>
        </p:txBody>
      </p:sp>
      <p:sp>
        <p:nvSpPr>
          <p:cNvPr id="22" name="Text 20"/>
          <p:cNvSpPr/>
          <p:nvPr/>
        </p:nvSpPr>
        <p:spPr>
          <a:xfrm>
            <a:off x="3383280" y="2743200"/>
            <a:ext cx="2377440" cy="292608"/>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フロー効率をあげる</a:t>
            </a:r>
            <a:endParaRPr lang="en-US" sz="1400" dirty="0"/>
          </a:p>
        </p:txBody>
      </p:sp>
      <p:sp>
        <p:nvSpPr>
          <p:cNvPr id="23" name="Text 21"/>
          <p:cNvSpPr/>
          <p:nvPr/>
        </p:nvSpPr>
        <p:spPr>
          <a:xfrm>
            <a:off x="3383280" y="3044952"/>
            <a:ext cx="237744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実装を詰まらせず流す</a:t>
            </a:r>
            <a:endParaRPr lang="en-US" sz="1100" dirty="0"/>
          </a:p>
        </p:txBody>
      </p:sp>
      <p:sp>
        <p:nvSpPr>
          <p:cNvPr id="24" name="Shape 22"/>
          <p:cNvSpPr/>
          <p:nvPr/>
        </p:nvSpPr>
        <p:spPr>
          <a:xfrm>
            <a:off x="3383280" y="3337560"/>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25" name="Text 23"/>
          <p:cNvSpPr/>
          <p:nvPr/>
        </p:nvSpPr>
        <p:spPr>
          <a:xfrm>
            <a:off x="3383280" y="3410712"/>
            <a:ext cx="2377440" cy="1005840"/>
          </a:xfrm>
          <a:prstGeom prst="rect">
            <a:avLst/>
          </a:prstGeom>
          <a:noFill/>
          <a:ln/>
        </p:spPr>
        <p:txBody>
          <a:bodyPr wrap="square" rtlCol="0" anchor="t"/>
          <a:lstStyle/>
          <a:p>
            <a:pPr marL="0" indent="0" algn="l">
              <a:lnSpc>
                <a:spcPct val="160000"/>
              </a:lnSpc>
              <a:buNone/>
            </a:pPr>
            <a:r>
              <a:rPr lang="en-US" sz="1100" dirty="0">
                <a:solidFill>
                  <a:srgbClr val="1A1A2E"/>
                </a:solidFill>
                <a:latin typeface="Meiryo" pitchFamily="34" charset="0"/>
                <a:ea typeface="Meiryo" pitchFamily="34" charset="-122"/>
                <a:cs typeface="Meiryo" pitchFamily="34" charset="-120"/>
              </a:rPr>
              <a:t>開発工程のムリ・ムダ・ムラをなくし、案件を停滞させずにスムーズに整える。</a:t>
            </a:r>
            <a:endParaRPr lang="en-US" sz="1100" dirty="0"/>
          </a:p>
        </p:txBody>
      </p:sp>
      <p:sp>
        <p:nvSpPr>
          <p:cNvPr id="26" name="Shape 24"/>
          <p:cNvSpPr/>
          <p:nvPr/>
        </p:nvSpPr>
        <p:spPr>
          <a:xfrm>
            <a:off x="6126480" y="2331720"/>
            <a:ext cx="2651760" cy="2148840"/>
          </a:xfrm>
          <a:prstGeom prst="roundRect">
            <a:avLst>
              <a:gd name="adj" fmla="val 1277"/>
            </a:avLst>
          </a:prstGeom>
          <a:solidFill>
            <a:srgbClr val="F5F5F5"/>
          </a:solidFill>
          <a:ln/>
        </p:spPr>
        <p:txBody>
          <a:bodyPr/>
          <a:lstStyle/>
          <a:p>
            <a:endParaRPr lang="ja-JP" altLang="en-US"/>
          </a:p>
        </p:txBody>
      </p:sp>
      <p:sp>
        <p:nvSpPr>
          <p:cNvPr id="27" name="Shape 25"/>
          <p:cNvSpPr/>
          <p:nvPr/>
        </p:nvSpPr>
        <p:spPr>
          <a:xfrm>
            <a:off x="6126480" y="2331720"/>
            <a:ext cx="2651760" cy="36576"/>
          </a:xfrm>
          <a:prstGeom prst="rect">
            <a:avLst/>
          </a:prstGeom>
          <a:solidFill>
            <a:srgbClr val="546E8A"/>
          </a:solidFill>
          <a:ln/>
        </p:spPr>
        <p:txBody>
          <a:bodyPr/>
          <a:lstStyle/>
          <a:p>
            <a:endParaRPr lang="ja-JP" altLang="en-US"/>
          </a:p>
        </p:txBody>
      </p:sp>
      <p:sp>
        <p:nvSpPr>
          <p:cNvPr id="28" name="Text 26"/>
          <p:cNvSpPr/>
          <p:nvPr/>
        </p:nvSpPr>
        <p:spPr>
          <a:xfrm>
            <a:off x="6263640" y="2468880"/>
            <a:ext cx="1828800" cy="256032"/>
          </a:xfrm>
          <a:prstGeom prst="rect">
            <a:avLst/>
          </a:prstGeom>
          <a:noFill/>
          <a:ln/>
        </p:spPr>
        <p:txBody>
          <a:bodyPr wrap="square" rtlCol="0" anchor="ctr"/>
          <a:lstStyle/>
          <a:p>
            <a:pPr marL="0" indent="0" algn="l">
              <a:buNone/>
            </a:pPr>
            <a:r>
              <a:rPr lang="en-US" sz="1100" b="1" dirty="0">
                <a:solidFill>
                  <a:srgbClr val="546E8A"/>
                </a:solidFill>
                <a:latin typeface="Meiryo" pitchFamily="34" charset="0"/>
                <a:ea typeface="Meiryo" pitchFamily="34" charset="-122"/>
                <a:cs typeface="Meiryo" pitchFamily="34" charset="-120"/>
              </a:rPr>
              <a:t>アプローチ ③</a:t>
            </a:r>
            <a:endParaRPr lang="en-US" sz="1100" dirty="0"/>
          </a:p>
        </p:txBody>
      </p:sp>
      <p:sp>
        <p:nvSpPr>
          <p:cNvPr id="29" name="Text 27"/>
          <p:cNvSpPr/>
          <p:nvPr/>
        </p:nvSpPr>
        <p:spPr>
          <a:xfrm>
            <a:off x="6263640" y="2743200"/>
            <a:ext cx="2377440" cy="292608"/>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学習ループを回す</a:t>
            </a:r>
            <a:endParaRPr lang="en-US" sz="1400" dirty="0"/>
          </a:p>
        </p:txBody>
      </p:sp>
      <p:sp>
        <p:nvSpPr>
          <p:cNvPr id="30" name="Text 28"/>
          <p:cNvSpPr/>
          <p:nvPr/>
        </p:nvSpPr>
        <p:spPr>
          <a:xfrm>
            <a:off x="6263640" y="3044952"/>
            <a:ext cx="2377440" cy="22860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結果を次の判断に繋ぐ</a:t>
            </a:r>
            <a:endParaRPr lang="en-US" sz="1100" dirty="0"/>
          </a:p>
        </p:txBody>
      </p:sp>
      <p:sp>
        <p:nvSpPr>
          <p:cNvPr id="31" name="Shape 29"/>
          <p:cNvSpPr/>
          <p:nvPr/>
        </p:nvSpPr>
        <p:spPr>
          <a:xfrm>
            <a:off x="6263640" y="3337560"/>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32" name="Text 30"/>
          <p:cNvSpPr/>
          <p:nvPr/>
        </p:nvSpPr>
        <p:spPr>
          <a:xfrm>
            <a:off x="6263640" y="3410712"/>
            <a:ext cx="2377440" cy="1005840"/>
          </a:xfrm>
          <a:prstGeom prst="rect">
            <a:avLst/>
          </a:prstGeom>
          <a:noFill/>
          <a:ln/>
        </p:spPr>
        <p:txBody>
          <a:bodyPr wrap="square" rtlCol="0" anchor="t"/>
          <a:lstStyle/>
          <a:p>
            <a:pPr marL="0" indent="0" algn="l">
              <a:lnSpc>
                <a:spcPct val="160000"/>
              </a:lnSpc>
              <a:buNone/>
            </a:pPr>
            <a:r>
              <a:rPr lang="en-US" sz="1100" dirty="0">
                <a:solidFill>
                  <a:srgbClr val="1A1A2E"/>
                </a:solidFill>
                <a:latin typeface="Meiryo" pitchFamily="34" charset="0"/>
                <a:ea typeface="Meiryo" pitchFamily="34" charset="-122"/>
                <a:cs typeface="Meiryo" pitchFamily="34" charset="-120"/>
              </a:rPr>
              <a:t>リリースして終わりにせず、お客様の反応を見て「次に何をやるか／やめるか」を決める。同じリソースでも当たる施策に集中できる。</a:t>
            </a:r>
            <a:endParaRPr lang="en-US" sz="1100" dirty="0"/>
          </a:p>
        </p:txBody>
      </p:sp>
      <p:sp>
        <p:nvSpPr>
          <p:cNvPr id="33" name="Text 31"/>
          <p:cNvSpPr/>
          <p:nvPr/>
        </p:nvSpPr>
        <p:spPr>
          <a:xfrm>
            <a:off x="365760" y="4572000"/>
            <a:ext cx="8412480" cy="274320"/>
          </a:xfrm>
          <a:prstGeom prst="rect">
            <a:avLst/>
          </a:prstGeom>
          <a:noFill/>
          <a:ln/>
        </p:spPr>
        <p:txBody>
          <a:bodyPr wrap="square" rtlCol="0" anchor="ctr"/>
          <a:lstStyle/>
          <a:p>
            <a:pPr marL="0" indent="0" algn="ctr">
              <a:buNone/>
            </a:pPr>
            <a:r>
              <a:rPr lang="en-US" sz="1100" b="1" dirty="0">
                <a:solidFill>
                  <a:srgbClr val="004098"/>
                </a:solidFill>
                <a:latin typeface="Meiryo" pitchFamily="34" charset="0"/>
                <a:ea typeface="Meiryo" pitchFamily="34" charset="-122"/>
                <a:cs typeface="Meiryo" pitchFamily="34" charset="-120"/>
              </a:rPr>
              <a:t>①②</a:t>
            </a:r>
            <a:r>
              <a:rPr lang="en-US" sz="1100" dirty="0">
                <a:solidFill>
                  <a:srgbClr val="444466"/>
                </a:solidFill>
                <a:latin typeface="Meiryo" pitchFamily="34" charset="0"/>
                <a:ea typeface="Meiryo" pitchFamily="34" charset="-122"/>
                <a:cs typeface="Meiryo" pitchFamily="34" charset="-120"/>
              </a:rPr>
              <a:t> が </a:t>
            </a:r>
            <a:r>
              <a:rPr lang="en-US" sz="1100" b="1" dirty="0">
                <a:solidFill>
                  <a:srgbClr val="004098"/>
                </a:solidFill>
                <a:latin typeface="Meiryo" pitchFamily="34" charset="0"/>
                <a:ea typeface="Meiryo" pitchFamily="34" charset="-122"/>
                <a:cs typeface="Meiryo" pitchFamily="34" charset="-120"/>
              </a:rPr>
              <a:t>試行回数</a:t>
            </a:r>
            <a:r>
              <a:rPr lang="en-US" sz="1100" dirty="0">
                <a:solidFill>
                  <a:srgbClr val="444466"/>
                </a:solidFill>
                <a:latin typeface="Meiryo" pitchFamily="34" charset="0"/>
                <a:ea typeface="Meiryo" pitchFamily="34" charset="-122"/>
                <a:cs typeface="Meiryo" pitchFamily="34" charset="-120"/>
              </a:rPr>
              <a:t> を、</a:t>
            </a:r>
            <a:r>
              <a:rPr lang="en-US" sz="1100" b="1" dirty="0">
                <a:solidFill>
                  <a:srgbClr val="546E8A"/>
                </a:solidFill>
                <a:latin typeface="Meiryo" pitchFamily="34" charset="0"/>
                <a:ea typeface="Meiryo" pitchFamily="34" charset="-122"/>
                <a:cs typeface="Meiryo" pitchFamily="34" charset="-120"/>
              </a:rPr>
              <a:t>③</a:t>
            </a:r>
            <a:r>
              <a:rPr lang="en-US" sz="1100" dirty="0">
                <a:solidFill>
                  <a:srgbClr val="444466"/>
                </a:solidFill>
                <a:latin typeface="Meiryo" pitchFamily="34" charset="0"/>
                <a:ea typeface="Meiryo" pitchFamily="34" charset="-122"/>
                <a:cs typeface="Meiryo" pitchFamily="34" charset="-120"/>
              </a:rPr>
              <a:t> が </a:t>
            </a:r>
            <a:r>
              <a:rPr lang="en-US" sz="1100" b="1" dirty="0">
                <a:solidFill>
                  <a:srgbClr val="546E8A"/>
                </a:solidFill>
                <a:latin typeface="Meiryo" pitchFamily="34" charset="0"/>
                <a:ea typeface="Meiryo" pitchFamily="34" charset="-122"/>
                <a:cs typeface="Meiryo" pitchFamily="34" charset="-120"/>
              </a:rPr>
              <a:t>施策の精度</a:t>
            </a:r>
            <a:r>
              <a:rPr lang="en-US" sz="1100" dirty="0">
                <a:solidFill>
                  <a:srgbClr val="444466"/>
                </a:solidFill>
                <a:latin typeface="Meiryo" pitchFamily="34" charset="0"/>
                <a:ea typeface="Meiryo" pitchFamily="34" charset="-122"/>
                <a:cs typeface="Meiryo" pitchFamily="34" charset="-120"/>
              </a:rPr>
              <a:t> を引き上げる。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411480"/>
            <a:ext cx="8412480" cy="320040"/>
          </a:xfrm>
          <a:prstGeom prst="rect">
            <a:avLst/>
          </a:prstGeom>
          <a:noFill/>
          <a:ln/>
        </p:spPr>
        <p:txBody>
          <a:bodyPr wrap="square" rtlCol="0" anchor="ctr"/>
          <a:lstStyle/>
          <a:p>
            <a:pPr marL="0" indent="0" algn="ctr">
              <a:buNone/>
            </a:pPr>
            <a:r>
              <a:rPr lang="en-US" sz="1200" dirty="0">
                <a:solidFill>
                  <a:srgbClr val="444466"/>
                </a:solidFill>
                <a:latin typeface="Meiryo" pitchFamily="34" charset="0"/>
                <a:ea typeface="Meiryo" pitchFamily="34" charset="-122"/>
                <a:cs typeface="Meiryo" pitchFamily="34" charset="-120"/>
              </a:rPr>
              <a:t>成果の方程式</a:t>
            </a:r>
            <a:endParaRPr lang="en-US" sz="1200" dirty="0"/>
          </a:p>
        </p:txBody>
      </p:sp>
      <p:sp>
        <p:nvSpPr>
          <p:cNvPr id="7" name="Text 5"/>
          <p:cNvSpPr/>
          <p:nvPr/>
        </p:nvSpPr>
        <p:spPr>
          <a:xfrm>
            <a:off x="786384" y="777240"/>
            <a:ext cx="2103120" cy="640080"/>
          </a:xfrm>
          <a:prstGeom prst="rect">
            <a:avLst/>
          </a:prstGeom>
          <a:noFill/>
          <a:ln/>
        </p:spPr>
        <p:txBody>
          <a:bodyPr wrap="square" rtlCol="0" anchor="ctr"/>
          <a:lstStyle/>
          <a:p>
            <a:pPr marL="0" indent="0" algn="ctr">
              <a:buNone/>
            </a:pPr>
            <a:r>
              <a:rPr lang="en-US" sz="2600" b="1" dirty="0">
                <a:solidFill>
                  <a:srgbClr val="004098"/>
                </a:solidFill>
                <a:latin typeface="Meiryo" pitchFamily="34" charset="0"/>
                <a:ea typeface="Meiryo" pitchFamily="34" charset="-122"/>
                <a:cs typeface="Meiryo" pitchFamily="34" charset="-120"/>
              </a:rPr>
              <a:t>試行回数</a:t>
            </a:r>
            <a:endParaRPr lang="en-US" sz="2600" dirty="0"/>
          </a:p>
        </p:txBody>
      </p:sp>
      <p:sp>
        <p:nvSpPr>
          <p:cNvPr id="8" name="Text 6"/>
          <p:cNvSpPr/>
          <p:nvPr/>
        </p:nvSpPr>
        <p:spPr>
          <a:xfrm>
            <a:off x="2999232" y="777240"/>
            <a:ext cx="411480" cy="640080"/>
          </a:xfrm>
          <a:prstGeom prst="rect">
            <a:avLst/>
          </a:prstGeom>
          <a:noFill/>
          <a:ln/>
        </p:spPr>
        <p:txBody>
          <a:bodyPr wrap="square" rtlCol="0" anchor="ctr"/>
          <a:lstStyle/>
          <a:p>
            <a:pPr marL="0" indent="0" algn="ctr">
              <a:buNone/>
            </a:pPr>
            <a:r>
              <a:rPr lang="en-US" sz="2800" b="1" dirty="0">
                <a:solidFill>
                  <a:srgbClr val="1A1A2E"/>
                </a:solidFill>
                <a:latin typeface="Arial" pitchFamily="34" charset="0"/>
                <a:ea typeface="Arial" pitchFamily="34" charset="-122"/>
                <a:cs typeface="Arial" pitchFamily="34" charset="-120"/>
              </a:rPr>
              <a:t>×</a:t>
            </a:r>
            <a:endParaRPr lang="en-US" sz="2800" dirty="0"/>
          </a:p>
        </p:txBody>
      </p:sp>
      <p:sp>
        <p:nvSpPr>
          <p:cNvPr id="9" name="Text 7"/>
          <p:cNvSpPr/>
          <p:nvPr/>
        </p:nvSpPr>
        <p:spPr>
          <a:xfrm>
            <a:off x="3520440" y="777240"/>
            <a:ext cx="2103120" cy="640080"/>
          </a:xfrm>
          <a:prstGeom prst="rect">
            <a:avLst/>
          </a:prstGeom>
          <a:noFill/>
          <a:ln/>
        </p:spPr>
        <p:txBody>
          <a:bodyPr wrap="square" rtlCol="0" anchor="ctr"/>
          <a:lstStyle/>
          <a:p>
            <a:pPr marL="0" indent="0" algn="ctr">
              <a:buNone/>
            </a:pPr>
            <a:r>
              <a:rPr lang="en-US" sz="2600" b="1" dirty="0">
                <a:solidFill>
                  <a:srgbClr val="546E8A"/>
                </a:solidFill>
                <a:latin typeface="Meiryo" pitchFamily="34" charset="0"/>
                <a:ea typeface="Meiryo" pitchFamily="34" charset="-122"/>
                <a:cs typeface="Meiryo" pitchFamily="34" charset="-120"/>
              </a:rPr>
              <a:t>施策の精度</a:t>
            </a:r>
            <a:endParaRPr lang="en-US" sz="2600" dirty="0"/>
          </a:p>
        </p:txBody>
      </p:sp>
      <p:sp>
        <p:nvSpPr>
          <p:cNvPr id="10" name="Text 8"/>
          <p:cNvSpPr/>
          <p:nvPr/>
        </p:nvSpPr>
        <p:spPr>
          <a:xfrm>
            <a:off x="5733288" y="777240"/>
            <a:ext cx="411480" cy="640080"/>
          </a:xfrm>
          <a:prstGeom prst="rect">
            <a:avLst/>
          </a:prstGeom>
          <a:noFill/>
          <a:ln/>
        </p:spPr>
        <p:txBody>
          <a:bodyPr wrap="square" rtlCol="0" anchor="ctr"/>
          <a:lstStyle/>
          <a:p>
            <a:pPr marL="0" indent="0" algn="ctr">
              <a:buNone/>
            </a:pPr>
            <a:r>
              <a:rPr lang="en-US" sz="2800" b="1" dirty="0">
                <a:solidFill>
                  <a:srgbClr val="1A1A2E"/>
                </a:solidFill>
                <a:latin typeface="Arial" pitchFamily="34" charset="0"/>
                <a:ea typeface="Arial" pitchFamily="34" charset="-122"/>
                <a:cs typeface="Arial" pitchFamily="34" charset="-120"/>
              </a:rPr>
              <a:t>＝</a:t>
            </a:r>
            <a:endParaRPr lang="en-US" sz="2800" dirty="0"/>
          </a:p>
        </p:txBody>
      </p:sp>
      <p:sp>
        <p:nvSpPr>
          <p:cNvPr id="11" name="Text 9"/>
          <p:cNvSpPr/>
          <p:nvPr/>
        </p:nvSpPr>
        <p:spPr>
          <a:xfrm>
            <a:off x="6254496" y="777240"/>
            <a:ext cx="2103120" cy="640080"/>
          </a:xfrm>
          <a:prstGeom prst="rect">
            <a:avLst/>
          </a:prstGeom>
          <a:noFill/>
          <a:ln/>
        </p:spPr>
        <p:txBody>
          <a:bodyPr wrap="square" rtlCol="0" anchor="ctr"/>
          <a:lstStyle/>
          <a:p>
            <a:pPr marL="0" indent="0" algn="ctr">
              <a:buNone/>
            </a:pPr>
            <a:r>
              <a:rPr lang="en-US" sz="2600" b="1" dirty="0">
                <a:solidFill>
                  <a:srgbClr val="1A1A2E"/>
                </a:solidFill>
                <a:latin typeface="Meiryo" pitchFamily="34" charset="0"/>
                <a:ea typeface="Meiryo" pitchFamily="34" charset="-122"/>
                <a:cs typeface="Meiryo" pitchFamily="34" charset="-120"/>
              </a:rPr>
              <a:t>事業成果</a:t>
            </a:r>
            <a:endParaRPr lang="en-US" sz="2600" dirty="0"/>
          </a:p>
        </p:txBody>
      </p:sp>
      <p:sp>
        <p:nvSpPr>
          <p:cNvPr id="12" name="Text 10"/>
          <p:cNvSpPr/>
          <p:nvPr/>
        </p:nvSpPr>
        <p:spPr>
          <a:xfrm>
            <a:off x="365760" y="1508760"/>
            <a:ext cx="8412480" cy="320040"/>
          </a:xfrm>
          <a:prstGeom prst="rect">
            <a:avLst/>
          </a:prstGeom>
          <a:noFill/>
          <a:ln/>
        </p:spPr>
        <p:txBody>
          <a:bodyPr wrap="square" rtlCol="0" anchor="ctr"/>
          <a:lstStyle/>
          <a:p>
            <a:pPr marL="0" indent="0" algn="ctr">
              <a:buNone/>
            </a:pPr>
            <a:r>
              <a:rPr lang="en-US" sz="1300" dirty="0">
                <a:solidFill>
                  <a:srgbClr val="444466"/>
                </a:solidFill>
                <a:latin typeface="Meiryo" pitchFamily="34" charset="0"/>
                <a:ea typeface="Meiryo" pitchFamily="34" charset="-122"/>
                <a:cs typeface="Meiryo" pitchFamily="34" charset="-120"/>
              </a:rPr>
              <a:t>不確実性が高い施策を、小さく・早く・数多く 試す</a:t>
            </a:r>
            <a:endParaRPr lang="en-US" sz="1300" dirty="0"/>
          </a:p>
        </p:txBody>
      </p:sp>
      <p:sp>
        <p:nvSpPr>
          <p:cNvPr id="13" name="Shape 11"/>
          <p:cNvSpPr/>
          <p:nvPr/>
        </p:nvSpPr>
        <p:spPr>
          <a:xfrm>
            <a:off x="365760" y="196596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4" name="Shape 12"/>
          <p:cNvSpPr/>
          <p:nvPr/>
        </p:nvSpPr>
        <p:spPr>
          <a:xfrm>
            <a:off x="365760" y="2148840"/>
            <a:ext cx="8412480" cy="1325880"/>
          </a:xfrm>
          <a:prstGeom prst="roundRect">
            <a:avLst>
              <a:gd name="adj" fmla="val 2069"/>
            </a:avLst>
          </a:prstGeom>
          <a:solidFill>
            <a:srgbClr val="F5F5F5"/>
          </a:solidFill>
          <a:ln/>
        </p:spPr>
        <p:txBody>
          <a:bodyPr/>
          <a:lstStyle/>
          <a:p>
            <a:endParaRPr lang="ja-JP" altLang="en-US"/>
          </a:p>
        </p:txBody>
      </p:sp>
      <p:sp>
        <p:nvSpPr>
          <p:cNvPr id="15" name="Text 13"/>
          <p:cNvSpPr/>
          <p:nvPr/>
        </p:nvSpPr>
        <p:spPr>
          <a:xfrm>
            <a:off x="548640" y="2240280"/>
            <a:ext cx="3657600" cy="274320"/>
          </a:xfrm>
          <a:prstGeom prst="rect">
            <a:avLst/>
          </a:prstGeom>
          <a:noFill/>
          <a:ln/>
        </p:spPr>
        <p:txBody>
          <a:bodyPr wrap="square" rtlCol="0" anchor="ctr"/>
          <a:lstStyle/>
          <a:p>
            <a:pPr marL="0" indent="0" algn="l">
              <a:buNone/>
            </a:pPr>
            <a:r>
              <a:rPr lang="en-US" sz="1100" b="1" dirty="0">
                <a:solidFill>
                  <a:srgbClr val="004098"/>
                </a:solidFill>
                <a:latin typeface="Arial" pitchFamily="34" charset="0"/>
                <a:ea typeface="Arial" pitchFamily="34" charset="-122"/>
                <a:cs typeface="Arial" pitchFamily="34" charset="-120"/>
              </a:rPr>
              <a:t>KPI </a:t>
            </a:r>
            <a:r>
              <a:rPr lang="en-US" sz="1100" b="1" dirty="0">
                <a:solidFill>
                  <a:srgbClr val="004098"/>
                </a:solidFill>
                <a:latin typeface="Meiryo" pitchFamily="34" charset="0"/>
                <a:ea typeface="Meiryo" pitchFamily="34" charset="-122"/>
                <a:cs typeface="Meiryo" pitchFamily="34" charset="-120"/>
              </a:rPr>
              <a:t>①　試行回数</a:t>
            </a:r>
            <a:endParaRPr lang="en-US" sz="1100" dirty="0"/>
          </a:p>
        </p:txBody>
      </p:sp>
      <p:sp>
        <p:nvSpPr>
          <p:cNvPr id="16" name="Text 14"/>
          <p:cNvSpPr/>
          <p:nvPr/>
        </p:nvSpPr>
        <p:spPr>
          <a:xfrm>
            <a:off x="548640" y="2514600"/>
            <a:ext cx="8046720" cy="365760"/>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顧客価値領域の施策について、企画 → リリースまでのリードタイムが平均1ヶ月以内</a:t>
            </a:r>
            <a:endParaRPr lang="en-US" sz="1400" dirty="0"/>
          </a:p>
        </p:txBody>
      </p:sp>
      <p:sp>
        <p:nvSpPr>
          <p:cNvPr id="17" name="Text 15"/>
          <p:cNvSpPr/>
          <p:nvPr/>
        </p:nvSpPr>
        <p:spPr>
          <a:xfrm>
            <a:off x="548640" y="2880360"/>
            <a:ext cx="8046720" cy="27432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思いついてから届けるまでの時間が短い ＝ 試行回数が増える</a:t>
            </a:r>
            <a:endParaRPr lang="en-US" sz="1100" dirty="0"/>
          </a:p>
        </p:txBody>
      </p:sp>
      <p:sp>
        <p:nvSpPr>
          <p:cNvPr id="18" name="Shape 16"/>
          <p:cNvSpPr/>
          <p:nvPr/>
        </p:nvSpPr>
        <p:spPr>
          <a:xfrm>
            <a:off x="365760" y="3611880"/>
            <a:ext cx="8412480" cy="1325880"/>
          </a:xfrm>
          <a:prstGeom prst="roundRect">
            <a:avLst>
              <a:gd name="adj" fmla="val 2069"/>
            </a:avLst>
          </a:prstGeom>
          <a:solidFill>
            <a:srgbClr val="F5F5F5"/>
          </a:solidFill>
          <a:ln/>
        </p:spPr>
        <p:txBody>
          <a:bodyPr/>
          <a:lstStyle/>
          <a:p>
            <a:endParaRPr lang="ja-JP" altLang="en-US"/>
          </a:p>
        </p:txBody>
      </p:sp>
      <p:sp>
        <p:nvSpPr>
          <p:cNvPr id="19" name="Text 17"/>
          <p:cNvSpPr/>
          <p:nvPr/>
        </p:nvSpPr>
        <p:spPr>
          <a:xfrm>
            <a:off x="548640" y="3703320"/>
            <a:ext cx="3657600" cy="274320"/>
          </a:xfrm>
          <a:prstGeom prst="rect">
            <a:avLst/>
          </a:prstGeom>
          <a:noFill/>
          <a:ln/>
        </p:spPr>
        <p:txBody>
          <a:bodyPr wrap="square" rtlCol="0" anchor="ctr"/>
          <a:lstStyle/>
          <a:p>
            <a:pPr marL="0" indent="0" algn="l">
              <a:buNone/>
            </a:pPr>
            <a:r>
              <a:rPr lang="en-US" sz="1100" b="1" dirty="0">
                <a:solidFill>
                  <a:srgbClr val="546E8A"/>
                </a:solidFill>
                <a:latin typeface="Arial" pitchFamily="34" charset="0"/>
                <a:ea typeface="Arial" pitchFamily="34" charset="-122"/>
                <a:cs typeface="Arial" pitchFamily="34" charset="-120"/>
              </a:rPr>
              <a:t>KPI </a:t>
            </a:r>
            <a:r>
              <a:rPr lang="en-US" sz="1100" b="1" dirty="0">
                <a:solidFill>
                  <a:srgbClr val="546E8A"/>
                </a:solidFill>
                <a:latin typeface="Meiryo" pitchFamily="34" charset="0"/>
                <a:ea typeface="Meiryo" pitchFamily="34" charset="-122"/>
                <a:cs typeface="Meiryo" pitchFamily="34" charset="-120"/>
              </a:rPr>
              <a:t>②　施策の精度</a:t>
            </a:r>
            <a:endParaRPr lang="en-US" sz="1100" dirty="0"/>
          </a:p>
        </p:txBody>
      </p:sp>
      <p:sp>
        <p:nvSpPr>
          <p:cNvPr id="20" name="Text 18"/>
          <p:cNvSpPr/>
          <p:nvPr/>
        </p:nvSpPr>
        <p:spPr>
          <a:xfrm>
            <a:off x="548640" y="3977640"/>
            <a:ext cx="8046720" cy="365760"/>
          </a:xfrm>
          <a:prstGeom prst="rect">
            <a:avLst/>
          </a:prstGeom>
          <a:noFill/>
          <a:ln/>
        </p:spPr>
        <p:txBody>
          <a:bodyPr wrap="square" rtlCol="0" anchor="ctr"/>
          <a:lstStyle/>
          <a:p>
            <a:pPr marL="0" indent="0" algn="l">
              <a:buNone/>
            </a:pPr>
            <a:r>
              <a:rPr lang="en-US" sz="1400" b="1" dirty="0">
                <a:solidFill>
                  <a:srgbClr val="1A1A2E"/>
                </a:solidFill>
                <a:latin typeface="Meiryo" pitchFamily="34" charset="0"/>
                <a:ea typeface="Meiryo" pitchFamily="34" charset="-122"/>
                <a:cs typeface="Meiryo" pitchFamily="34" charset="-120"/>
              </a:rPr>
              <a:t>リリース後の検証結果 → 次の施策への反映までのリードタイムが平均1ヶ月以内</a:t>
            </a:r>
            <a:endParaRPr lang="en-US" sz="1400" dirty="0"/>
          </a:p>
        </p:txBody>
      </p:sp>
      <p:sp>
        <p:nvSpPr>
          <p:cNvPr id="21" name="Text 19"/>
          <p:cNvSpPr/>
          <p:nvPr/>
        </p:nvSpPr>
        <p:spPr>
          <a:xfrm>
            <a:off x="548640" y="4343400"/>
            <a:ext cx="8046720" cy="274320"/>
          </a:xfrm>
          <a:prstGeom prst="rect">
            <a:avLst/>
          </a:prstGeom>
          <a:noFill/>
          <a:ln/>
        </p:spPr>
        <p:txBody>
          <a:bodyPr wrap="square" rtlCol="0" anchor="ctr"/>
          <a:lstStyle/>
          <a:p>
            <a:pPr marL="0" indent="0" algn="l">
              <a:buNone/>
            </a:pPr>
            <a:r>
              <a:rPr lang="en-US" sz="1100" dirty="0">
                <a:solidFill>
                  <a:srgbClr val="444466"/>
                </a:solidFill>
                <a:latin typeface="Meiryo" pitchFamily="34" charset="0"/>
                <a:ea typeface="Meiryo" pitchFamily="34" charset="-122"/>
                <a:cs typeface="Meiryo" pitchFamily="34" charset="-120"/>
              </a:rPr>
              <a:t>出した結果を見て「次に何をやるか」を変えられる ＝ 施策の精度が上がる</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3490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 ＞ 目標根拠</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296936" y="411480"/>
            <a:ext cx="8412480" cy="365760"/>
          </a:xfrm>
          <a:prstGeom prst="rect">
            <a:avLst/>
          </a:prstGeom>
          <a:noFill/>
          <a:ln/>
        </p:spPr>
        <p:txBody>
          <a:bodyPr wrap="square" rtlCol="0" anchor="ctr"/>
          <a:lstStyle/>
          <a:p>
            <a:pPr marL="0" indent="0" algn="l">
              <a:buNone/>
            </a:pPr>
            <a:r>
              <a:rPr lang="en-US" sz="2000" b="1" dirty="0">
                <a:solidFill>
                  <a:srgbClr val="1A1A2E"/>
                </a:solidFill>
                <a:latin typeface="Meiryo" pitchFamily="34" charset="0"/>
                <a:ea typeface="Meiryo" pitchFamily="34" charset="-122"/>
                <a:cs typeface="Meiryo" pitchFamily="34" charset="-120"/>
              </a:rPr>
              <a:t>なぜ「1ヶ月」が目標なのか</a:t>
            </a:r>
            <a:endParaRPr lang="en-US" sz="2000" dirty="0"/>
          </a:p>
        </p:txBody>
      </p:sp>
      <p:sp>
        <p:nvSpPr>
          <p:cNvPr id="7" name="Text 5"/>
          <p:cNvSpPr/>
          <p:nvPr/>
        </p:nvSpPr>
        <p:spPr>
          <a:xfrm>
            <a:off x="296936" y="804672"/>
            <a:ext cx="8412480" cy="274320"/>
          </a:xfrm>
          <a:prstGeom prst="rect">
            <a:avLst/>
          </a:prstGeom>
          <a:noFill/>
          <a:ln/>
        </p:spPr>
        <p:txBody>
          <a:bodyPr wrap="square" rtlCol="0" anchor="ctr"/>
          <a:lstStyle/>
          <a:p>
            <a:pPr marL="0" indent="0" algn="l">
              <a:buNone/>
            </a:pPr>
            <a:r>
              <a:rPr lang="en-US" sz="1300" dirty="0">
                <a:solidFill>
                  <a:srgbClr val="444466"/>
                </a:solidFill>
                <a:latin typeface="Meiryo" pitchFamily="34" charset="0"/>
                <a:ea typeface="Meiryo" pitchFamily="34" charset="-122"/>
                <a:cs typeface="Meiryo" pitchFamily="34" charset="-120"/>
              </a:rPr>
              <a:t>開発組織能力の世界標準指標 </a:t>
            </a:r>
            <a:r>
              <a:rPr lang="en-US" sz="1300" b="1" dirty="0">
                <a:solidFill>
                  <a:srgbClr val="004098"/>
                </a:solidFill>
                <a:latin typeface="Arial" pitchFamily="34" charset="0"/>
                <a:ea typeface="Arial" pitchFamily="34" charset="-122"/>
                <a:cs typeface="Arial" pitchFamily="34" charset="-120"/>
              </a:rPr>
              <a:t>"DORA"</a:t>
            </a:r>
            <a:r>
              <a:rPr lang="en-US" sz="1300" dirty="0">
                <a:solidFill>
                  <a:srgbClr val="444466"/>
                </a:solidFill>
                <a:latin typeface="Meiryo" pitchFamily="34" charset="0"/>
                <a:ea typeface="Meiryo" pitchFamily="34" charset="-122"/>
                <a:cs typeface="Meiryo" pitchFamily="34" charset="-120"/>
              </a:rPr>
              <a:t> の High レベルに相当する。</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378910818"/>
              </p:ext>
            </p:extLst>
          </p:nvPr>
        </p:nvGraphicFramePr>
        <p:xfrm>
          <a:off x="365760" y="1093840"/>
          <a:ext cx="8412480" cy="1490472"/>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20040">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レベル</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4098"/>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Lead Time</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4098"/>
                    </a:solidFill>
                  </a:tcPr>
                </a:tc>
                <a:tc>
                  <a:txBody>
                    <a:bodyPr/>
                    <a:lstStyle/>
                    <a:p>
                      <a:pPr marL="0" indent="0" algn="ctr">
                        <a:buNone/>
                      </a:pPr>
                      <a:r>
                        <a:rPr lang="en-US" sz="1100" b="1" dirty="0">
                          <a:solidFill>
                            <a:srgbClr val="FFFFFF"/>
                          </a:solidFill>
                          <a:latin typeface="Meiryo" pitchFamily="34" charset="0"/>
                          <a:ea typeface="Meiryo" pitchFamily="34" charset="-122"/>
                          <a:cs typeface="Meiryo" pitchFamily="34" charset="-120"/>
                        </a:rPr>
                        <a:t>該当する組織</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04098"/>
                    </a:solidFill>
                  </a:tcPr>
                </a:tc>
                <a:extLst>
                  <a:ext uri="{0D108BD9-81ED-4DB2-BD59-A6C34878D82A}">
                    <a16:rowId xmlns:a16="http://schemas.microsoft.com/office/drawing/2014/main" val="10000"/>
                  </a:ext>
                </a:extLst>
              </a:tr>
              <a:tr h="274320">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Elite</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Meiryo" pitchFamily="34" charset="0"/>
                          <a:ea typeface="Meiryo" pitchFamily="34" charset="-122"/>
                          <a:cs typeface="Meiryo" pitchFamily="34" charset="-120"/>
                        </a:rPr>
                        <a:t>1日未満</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44466"/>
                          </a:solidFill>
                          <a:latin typeface="Arial" pitchFamily="34" charset="0"/>
                          <a:ea typeface="Arial" pitchFamily="34" charset="-122"/>
                          <a:cs typeface="Arial" pitchFamily="34" charset="-120"/>
                        </a:rPr>
                        <a:t>Amazon, Netflix, Google</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ctr">
                        <a:buNone/>
                      </a:pPr>
                      <a:r>
                        <a:rPr lang="en-US" sz="1100" b="1" dirty="0">
                          <a:solidFill>
                            <a:srgbClr val="004098"/>
                          </a:solidFill>
                          <a:latin typeface="Meiryo" pitchFamily="34" charset="0"/>
                          <a:ea typeface="Meiryo" pitchFamily="34" charset="-122"/>
                          <a:cs typeface="Meiryo" pitchFamily="34" charset="-120"/>
                        </a:rPr>
                        <a:t>★ High（目標）</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CF8"/>
                    </a:solidFill>
                  </a:tcPr>
                </a:tc>
                <a:tc>
                  <a:txBody>
                    <a:bodyPr/>
                    <a:lstStyle/>
                    <a:p>
                      <a:pPr marL="0" indent="0" algn="ctr">
                        <a:buNone/>
                      </a:pPr>
                      <a:r>
                        <a:rPr lang="en-US" sz="1100" b="1" dirty="0">
                          <a:solidFill>
                            <a:srgbClr val="004098"/>
                          </a:solidFill>
                          <a:latin typeface="Meiryo" pitchFamily="34" charset="0"/>
                          <a:ea typeface="Meiryo" pitchFamily="34" charset="-122"/>
                          <a:cs typeface="Meiryo" pitchFamily="34" charset="-120"/>
                        </a:rPr>
                        <a:t>1日〜1ヶ月</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CF8"/>
                    </a:solidFill>
                  </a:tcPr>
                </a:tc>
                <a:tc>
                  <a:txBody>
                    <a:bodyPr/>
                    <a:lstStyle/>
                    <a:p>
                      <a:pPr marL="0" indent="0" algn="l">
                        <a:buNone/>
                      </a:pPr>
                      <a:r>
                        <a:rPr lang="en-US" sz="1100" b="1" dirty="0">
                          <a:solidFill>
                            <a:srgbClr val="004098"/>
                          </a:solidFill>
                          <a:latin typeface="Meiryo" pitchFamily="34" charset="0"/>
                          <a:ea typeface="Meiryo" pitchFamily="34" charset="-122"/>
                          <a:cs typeface="Meiryo" pitchFamily="34" charset="-120"/>
                        </a:rPr>
                        <a:t>メガベンチャー、デジタル先進企業</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CF8"/>
                    </a:solidFill>
                  </a:tcPr>
                </a:tc>
                <a:extLst>
                  <a:ext uri="{0D108BD9-81ED-4DB2-BD59-A6C34878D82A}">
                    <a16:rowId xmlns:a16="http://schemas.microsoft.com/office/drawing/2014/main" val="10002"/>
                  </a:ext>
                </a:extLst>
              </a:tr>
              <a:tr h="274320">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Medium</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A1A2E"/>
                          </a:solidFill>
                          <a:latin typeface="Meiryo" pitchFamily="34" charset="0"/>
                          <a:ea typeface="Meiryo" pitchFamily="34" charset="-122"/>
                          <a:cs typeface="Meiryo" pitchFamily="34" charset="-120"/>
                        </a:rPr>
                        <a:t>1か月〜半年</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444466"/>
                          </a:solidFill>
                          <a:latin typeface="Meiryo" pitchFamily="34" charset="0"/>
                          <a:ea typeface="Meiryo" pitchFamily="34" charset="-122"/>
                          <a:cs typeface="Meiryo" pitchFamily="34" charset="-120"/>
                        </a:rPr>
                        <a:t>標準的な大企業</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Low</a:t>
                      </a:r>
                      <a:endParaRPr lang="en-US" sz="1100" dirty="0">
                        <a:latin typeface="Arial" charset="0"/>
                        <a:ea typeface="Arial" charset="0"/>
                        <a:cs typeface="Arial"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ctr">
                        <a:buNone/>
                      </a:pPr>
                      <a:r>
                        <a:rPr lang="en-US" sz="1100" dirty="0">
                          <a:solidFill>
                            <a:srgbClr val="1A1A2E"/>
                          </a:solidFill>
                          <a:latin typeface="Meiryo" pitchFamily="34" charset="0"/>
                          <a:ea typeface="Meiryo" pitchFamily="34" charset="-122"/>
                          <a:cs typeface="Meiryo" pitchFamily="34" charset="-120"/>
                        </a:rPr>
                        <a:t>半年以上</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00" dirty="0">
                          <a:solidFill>
                            <a:srgbClr val="444466"/>
                          </a:solidFill>
                          <a:latin typeface="Meiryo" pitchFamily="34" charset="0"/>
                          <a:ea typeface="Meiryo" pitchFamily="34" charset="-122"/>
                          <a:cs typeface="Meiryo" pitchFamily="34" charset="-120"/>
                        </a:rPr>
                        <a:t>レガシー組織</a:t>
                      </a:r>
                      <a:endParaRPr lang="en-US" sz="1100" dirty="0">
                        <a:latin typeface="Meiryo" charset="0"/>
                        <a:ea typeface="Meiryo" charset="0"/>
                        <a:cs typeface="Meiryo" charset="0"/>
                      </a:endParaRPr>
                    </a:p>
                  </a:txBody>
                  <a:tcPr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bl>
          </a:graphicData>
        </a:graphic>
      </p:graphicFrame>
      <p:sp>
        <p:nvSpPr>
          <p:cNvPr id="9" name="Shape 6"/>
          <p:cNvSpPr/>
          <p:nvPr/>
        </p:nvSpPr>
        <p:spPr>
          <a:xfrm>
            <a:off x="365759" y="2694039"/>
            <a:ext cx="8453775" cy="2251587"/>
          </a:xfrm>
          <a:prstGeom prst="roundRect">
            <a:avLst>
              <a:gd name="adj" fmla="val 1395"/>
            </a:avLst>
          </a:prstGeom>
          <a:solidFill>
            <a:srgbClr val="F5F5F5"/>
          </a:solidFill>
          <a:ln/>
        </p:spPr>
        <p:txBody>
          <a:bodyPr/>
          <a:lstStyle/>
          <a:p>
            <a:endParaRPr lang="ja-JP" altLang="en-US"/>
          </a:p>
        </p:txBody>
      </p:sp>
      <p:sp>
        <p:nvSpPr>
          <p:cNvPr id="10" name="Text 7"/>
          <p:cNvSpPr/>
          <p:nvPr/>
        </p:nvSpPr>
        <p:spPr>
          <a:xfrm>
            <a:off x="502920" y="2803768"/>
            <a:ext cx="2377440" cy="274320"/>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DORAとは</a:t>
            </a:r>
            <a:endParaRPr lang="en-US" sz="1100" dirty="0"/>
          </a:p>
        </p:txBody>
      </p:sp>
      <p:sp>
        <p:nvSpPr>
          <p:cNvPr id="11" name="Shape 8"/>
          <p:cNvSpPr/>
          <p:nvPr/>
        </p:nvSpPr>
        <p:spPr>
          <a:xfrm>
            <a:off x="502920" y="3132952"/>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12" name="Text 9"/>
          <p:cNvSpPr/>
          <p:nvPr/>
        </p:nvSpPr>
        <p:spPr>
          <a:xfrm>
            <a:off x="502920" y="3147800"/>
            <a:ext cx="6694293" cy="667119"/>
          </a:xfrm>
          <a:prstGeom prst="rect">
            <a:avLst/>
          </a:prstGeom>
          <a:noFill/>
          <a:ln/>
        </p:spPr>
        <p:txBody>
          <a:bodyPr wrap="square" rtlCol="0" anchor="t"/>
          <a:lstStyle/>
          <a:p>
            <a:pPr marL="0" indent="0" algn="l">
              <a:lnSpc>
                <a:spcPct val="160000"/>
              </a:lnSpc>
              <a:buNone/>
            </a:pPr>
            <a:r>
              <a:rPr lang="en-US" sz="1100" dirty="0">
                <a:solidFill>
                  <a:srgbClr val="1A1A2E"/>
                </a:solidFill>
                <a:latin typeface="Meiryo" pitchFamily="34" charset="0"/>
                <a:ea typeface="Meiryo" pitchFamily="34" charset="-122"/>
                <a:cs typeface="Meiryo" pitchFamily="34" charset="-120"/>
              </a:rPr>
              <a:t>Google傘下の研究チームが10年以上継続している、世界最大の開発組織ベンチマーク調査。</a:t>
            </a:r>
            <a:br>
              <a:rPr lang="en-US" sz="1100" dirty="0">
                <a:solidFill>
                  <a:srgbClr val="1A1A2E"/>
                </a:solidFill>
                <a:latin typeface="Meiryo" pitchFamily="34" charset="0"/>
                <a:ea typeface="Meiryo" pitchFamily="34" charset="-122"/>
                <a:cs typeface="Meiryo" pitchFamily="34" charset="-120"/>
              </a:rPr>
            </a:br>
            <a:r>
              <a:rPr lang="en-US" sz="1100" dirty="0">
                <a:solidFill>
                  <a:srgbClr val="1A1A2E"/>
                </a:solidFill>
                <a:latin typeface="Meiryo" pitchFamily="34" charset="0"/>
                <a:ea typeface="Meiryo" pitchFamily="34" charset="-122"/>
                <a:cs typeface="Meiryo" pitchFamily="34" charset="-120"/>
              </a:rPr>
              <a:t>Amazon・Google・Microsoftから伝統的大企業まで、累計3万人以上の開発者を調査。</a:t>
            </a:r>
            <a:endParaRPr lang="en-US" sz="1100" dirty="0"/>
          </a:p>
        </p:txBody>
      </p:sp>
      <p:sp>
        <p:nvSpPr>
          <p:cNvPr id="14" name="Text 11"/>
          <p:cNvSpPr/>
          <p:nvPr/>
        </p:nvSpPr>
        <p:spPr>
          <a:xfrm>
            <a:off x="453268" y="3845988"/>
            <a:ext cx="2377440" cy="274320"/>
          </a:xfrm>
          <a:prstGeom prst="rect">
            <a:avLst/>
          </a:prstGeom>
          <a:noFill/>
          <a:ln/>
        </p:spPr>
        <p:txBody>
          <a:bodyPr wrap="square" rtlCol="0" anchor="ctr"/>
          <a:lstStyle/>
          <a:p>
            <a:pPr marL="0" indent="0" algn="l">
              <a:buNone/>
            </a:pPr>
            <a:r>
              <a:rPr lang="en-US" sz="1100" b="1" dirty="0">
                <a:solidFill>
                  <a:srgbClr val="004098"/>
                </a:solidFill>
                <a:latin typeface="Meiryo" pitchFamily="34" charset="0"/>
                <a:ea typeface="Meiryo" pitchFamily="34" charset="-122"/>
                <a:cs typeface="Meiryo" pitchFamily="34" charset="-120"/>
              </a:rPr>
              <a:t>なぜこの指標を採用するか</a:t>
            </a:r>
            <a:endParaRPr lang="en-US" sz="1100" dirty="0"/>
          </a:p>
        </p:txBody>
      </p:sp>
      <p:sp>
        <p:nvSpPr>
          <p:cNvPr id="15" name="Shape 12"/>
          <p:cNvSpPr/>
          <p:nvPr/>
        </p:nvSpPr>
        <p:spPr>
          <a:xfrm>
            <a:off x="453268" y="4175172"/>
            <a:ext cx="2377440" cy="4572"/>
          </a:xfrm>
          <a:prstGeom prst="rect">
            <a:avLst/>
          </a:prstGeom>
          <a:solidFill>
            <a:srgbClr val="DDDDDD"/>
          </a:solidFill>
          <a:ln w="12700">
            <a:solidFill>
              <a:srgbClr val="DDDDDD"/>
            </a:solidFill>
            <a:prstDash val="solid"/>
          </a:ln>
        </p:spPr>
        <p:txBody>
          <a:bodyPr/>
          <a:lstStyle/>
          <a:p>
            <a:endParaRPr lang="ja-JP" altLang="en-US"/>
          </a:p>
        </p:txBody>
      </p:sp>
      <p:sp>
        <p:nvSpPr>
          <p:cNvPr id="16" name="Text 13"/>
          <p:cNvSpPr/>
          <p:nvPr/>
        </p:nvSpPr>
        <p:spPr>
          <a:xfrm>
            <a:off x="481780" y="4180185"/>
            <a:ext cx="6351639" cy="914155"/>
          </a:xfrm>
          <a:prstGeom prst="rect">
            <a:avLst/>
          </a:prstGeom>
          <a:noFill/>
          <a:ln/>
        </p:spPr>
        <p:txBody>
          <a:bodyPr wrap="square" rtlCol="0" anchor="t"/>
          <a:lstStyle/>
          <a:p>
            <a:pPr marL="0" indent="0" algn="l">
              <a:lnSpc>
                <a:spcPct val="160000"/>
              </a:lnSpc>
              <a:buNone/>
            </a:pPr>
            <a:r>
              <a:rPr lang="en-US" sz="1100" dirty="0" err="1">
                <a:solidFill>
                  <a:srgbClr val="1A1A2E"/>
                </a:solidFill>
                <a:latin typeface="Meiryo" pitchFamily="34" charset="0"/>
                <a:ea typeface="Meiryo" pitchFamily="34" charset="-122"/>
                <a:cs typeface="Meiryo" pitchFamily="34" charset="-120"/>
              </a:rPr>
              <a:t>DORA調査により「開発スピードと事業成果は連動する」ことが統計的に証明されている</a:t>
            </a:r>
            <a:r>
              <a:rPr lang="en-US" sz="1100" dirty="0">
                <a:solidFill>
                  <a:srgbClr val="1A1A2E"/>
                </a:solidFill>
                <a:latin typeface="Meiryo" pitchFamily="34" charset="0"/>
                <a:ea typeface="Meiryo" pitchFamily="34" charset="-122"/>
                <a:cs typeface="Meiryo" pitchFamily="34" charset="-120"/>
              </a:rPr>
              <a:t>。</a:t>
            </a:r>
            <a:br>
              <a:rPr lang="en-US" sz="1100" dirty="0">
                <a:solidFill>
                  <a:srgbClr val="1A1A2E"/>
                </a:solidFill>
                <a:latin typeface="Meiryo" pitchFamily="34" charset="0"/>
                <a:ea typeface="Meiryo" pitchFamily="34" charset="-122"/>
                <a:cs typeface="Meiryo" pitchFamily="34" charset="-120"/>
              </a:rPr>
            </a:br>
            <a:r>
              <a:rPr lang="en-US" sz="1100" dirty="0">
                <a:solidFill>
                  <a:srgbClr val="1A1A2E"/>
                </a:solidFill>
                <a:latin typeface="Meiryo" pitchFamily="34" charset="0"/>
                <a:ea typeface="Meiryo" pitchFamily="34" charset="-122"/>
                <a:cs typeface="Meiryo" pitchFamily="34" charset="-120"/>
              </a:rPr>
              <a:t>Eliteレベル組織はLowレベル組織と比べて収益成長が2倍以上というデータも出ており、</a:t>
            </a:r>
            <a:br>
              <a:rPr lang="en-US" sz="1100" dirty="0">
                <a:solidFill>
                  <a:srgbClr val="1A1A2E"/>
                </a:solidFill>
                <a:latin typeface="Meiryo" pitchFamily="34" charset="0"/>
                <a:ea typeface="Meiryo" pitchFamily="34" charset="-122"/>
                <a:cs typeface="Meiryo" pitchFamily="34" charset="-120"/>
              </a:rPr>
            </a:br>
            <a:r>
              <a:rPr lang="en-US" sz="1100" dirty="0" err="1">
                <a:solidFill>
                  <a:srgbClr val="1A1A2E"/>
                </a:solidFill>
                <a:latin typeface="Meiryo" pitchFamily="34" charset="0"/>
                <a:ea typeface="Meiryo" pitchFamily="34" charset="-122"/>
                <a:cs typeface="Meiryo" pitchFamily="34" charset="-120"/>
              </a:rPr>
              <a:t>ソフトウェア業界標準として広く採用されている</a:t>
            </a:r>
            <a:r>
              <a:rPr lang="en-US" sz="1100" dirty="0">
                <a:solidFill>
                  <a:srgbClr val="1A1A2E"/>
                </a:solidFill>
                <a:latin typeface="Meiryo" pitchFamily="34" charset="0"/>
                <a:ea typeface="Meiryo" pitchFamily="34" charset="-122"/>
                <a:cs typeface="Meiryo" pitchFamily="34" charset="-120"/>
              </a:rPr>
              <a: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 ＞ KPI ① 試行回数</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365760"/>
            <a:ext cx="3657600" cy="256032"/>
          </a:xfrm>
          <a:prstGeom prst="rect">
            <a:avLst/>
          </a:prstGeom>
          <a:noFill/>
          <a:ln/>
        </p:spPr>
        <p:txBody>
          <a:bodyPr wrap="square" rtlCol="0" anchor="ctr"/>
          <a:lstStyle/>
          <a:p>
            <a:pPr marL="0" indent="0" algn="l">
              <a:buNone/>
            </a:pPr>
            <a:r>
              <a:rPr lang="en-US" sz="1100" b="1" dirty="0">
                <a:solidFill>
                  <a:srgbClr val="004098"/>
                </a:solidFill>
                <a:latin typeface="Arial" pitchFamily="34" charset="0"/>
                <a:ea typeface="Arial" pitchFamily="34" charset="-122"/>
                <a:cs typeface="Arial" pitchFamily="34" charset="-120"/>
              </a:rPr>
              <a:t>KPI </a:t>
            </a:r>
            <a:r>
              <a:rPr lang="en-US" sz="1100" b="1" dirty="0">
                <a:solidFill>
                  <a:srgbClr val="004098"/>
                </a:solidFill>
                <a:latin typeface="Meiryo" pitchFamily="34" charset="0"/>
                <a:ea typeface="Meiryo" pitchFamily="34" charset="-122"/>
                <a:cs typeface="Meiryo" pitchFamily="34" charset="-120"/>
              </a:rPr>
              <a:t>①　試行回数</a:t>
            </a:r>
            <a:endParaRPr lang="en-US" sz="1100" dirty="0"/>
          </a:p>
        </p:txBody>
      </p:sp>
      <p:sp>
        <p:nvSpPr>
          <p:cNvPr id="7" name="Text 5"/>
          <p:cNvSpPr/>
          <p:nvPr/>
        </p:nvSpPr>
        <p:spPr>
          <a:xfrm>
            <a:off x="365760" y="621792"/>
            <a:ext cx="8412480" cy="411480"/>
          </a:xfrm>
          <a:prstGeom prst="rect">
            <a:avLst/>
          </a:prstGeom>
          <a:noFill/>
          <a:ln/>
        </p:spPr>
        <p:txBody>
          <a:bodyPr wrap="square" rtlCol="0" anchor="ctr"/>
          <a:lstStyle/>
          <a:p>
            <a:pPr marL="0" indent="0" algn="l">
              <a:buNone/>
            </a:pPr>
            <a:r>
              <a:rPr lang="en-US" sz="1800" b="1" dirty="0">
                <a:solidFill>
                  <a:srgbClr val="1A1A2E"/>
                </a:solidFill>
                <a:latin typeface="Meiryo" pitchFamily="34" charset="0"/>
                <a:ea typeface="Meiryo" pitchFamily="34" charset="-122"/>
                <a:cs typeface="Meiryo" pitchFamily="34" charset="-120"/>
              </a:rPr>
              <a:t>顧客価値領域の施策について、企画 → リリースまでのリードタイムが平均1ヶ月以内</a:t>
            </a:r>
            <a:endParaRPr lang="en-US" sz="1800" dirty="0"/>
          </a:p>
        </p:txBody>
      </p:sp>
      <p:sp>
        <p:nvSpPr>
          <p:cNvPr id="8" name="Text 6"/>
          <p:cNvSpPr/>
          <p:nvPr/>
        </p:nvSpPr>
        <p:spPr>
          <a:xfrm>
            <a:off x="365760" y="1051560"/>
            <a:ext cx="8412480" cy="274320"/>
          </a:xfrm>
          <a:prstGeom prst="rect">
            <a:avLst/>
          </a:prstGeom>
          <a:noFill/>
          <a:ln/>
        </p:spPr>
        <p:txBody>
          <a:bodyPr wrap="square" rtlCol="0" anchor="ctr"/>
          <a:lstStyle/>
          <a:p>
            <a:pPr marL="0" indent="0" algn="l">
              <a:buNone/>
            </a:pPr>
            <a:r>
              <a:rPr lang="en-US" sz="1200" dirty="0">
                <a:solidFill>
                  <a:srgbClr val="444466"/>
                </a:solidFill>
                <a:latin typeface="Meiryo" pitchFamily="34" charset="0"/>
                <a:ea typeface="Meiryo" pitchFamily="34" charset="-122"/>
                <a:cs typeface="Meiryo" pitchFamily="34" charset="-120"/>
              </a:rPr>
              <a:t>思いついてから届けるまでの時間が短い ＝ 試行回数が増える</a:t>
            </a:r>
            <a:endParaRPr lang="en-US" sz="1200" dirty="0"/>
          </a:p>
        </p:txBody>
      </p:sp>
      <p:sp>
        <p:nvSpPr>
          <p:cNvPr id="9" name="Shape 7"/>
          <p:cNvSpPr/>
          <p:nvPr/>
        </p:nvSpPr>
        <p:spPr>
          <a:xfrm>
            <a:off x="365760" y="137160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Shape 8"/>
          <p:cNvSpPr/>
          <p:nvPr/>
        </p:nvSpPr>
        <p:spPr>
          <a:xfrm>
            <a:off x="365760" y="1554480"/>
            <a:ext cx="3977640" cy="3337560"/>
          </a:xfrm>
          <a:prstGeom prst="roundRect">
            <a:avLst>
              <a:gd name="adj" fmla="val 822"/>
            </a:avLst>
          </a:prstGeom>
          <a:solidFill>
            <a:srgbClr val="EEF3FA"/>
          </a:solidFill>
          <a:ln/>
        </p:spPr>
        <p:txBody>
          <a:bodyPr/>
          <a:lstStyle/>
          <a:p>
            <a:endParaRPr lang="ja-JP" altLang="en-US"/>
          </a:p>
        </p:txBody>
      </p:sp>
      <p:sp>
        <p:nvSpPr>
          <p:cNvPr id="11" name="Text 9"/>
          <p:cNvSpPr/>
          <p:nvPr/>
        </p:nvSpPr>
        <p:spPr>
          <a:xfrm>
            <a:off x="548640" y="1691640"/>
            <a:ext cx="640080" cy="457200"/>
          </a:xfrm>
          <a:prstGeom prst="rect">
            <a:avLst/>
          </a:prstGeom>
          <a:noFill/>
          <a:ln/>
        </p:spPr>
        <p:txBody>
          <a:bodyPr wrap="square" rtlCol="0" anchor="ctr"/>
          <a:lstStyle/>
          <a:p>
            <a:pPr marL="0" indent="0" algn="l">
              <a:buNone/>
            </a:pPr>
            <a:r>
              <a:rPr lang="en-US" sz="2800" b="1" dirty="0">
                <a:solidFill>
                  <a:srgbClr val="004098"/>
                </a:solidFill>
                <a:latin typeface="Arial" pitchFamily="34" charset="0"/>
                <a:ea typeface="Arial" pitchFamily="34" charset="-122"/>
                <a:cs typeface="Arial" pitchFamily="34" charset="-120"/>
              </a:rPr>
              <a:t>100</a:t>
            </a:r>
            <a:endParaRPr lang="en-US" sz="2800" dirty="0"/>
          </a:p>
        </p:txBody>
      </p:sp>
      <p:sp>
        <p:nvSpPr>
          <p:cNvPr id="12" name="Text 10"/>
          <p:cNvSpPr/>
          <p:nvPr/>
        </p:nvSpPr>
        <p:spPr>
          <a:xfrm>
            <a:off x="1234440" y="1691640"/>
            <a:ext cx="1828800" cy="457200"/>
          </a:xfrm>
          <a:prstGeom prst="rect">
            <a:avLst/>
          </a:prstGeom>
          <a:noFill/>
          <a:ln/>
        </p:spPr>
        <p:txBody>
          <a:bodyPr wrap="square" rtlCol="0" anchor="ctr"/>
          <a:lstStyle/>
          <a:p>
            <a:pPr marL="0" indent="0" algn="l">
              <a:buNone/>
            </a:pPr>
            <a:r>
              <a:rPr lang="en-US" sz="1300" dirty="0">
                <a:solidFill>
                  <a:srgbClr val="444466"/>
                </a:solidFill>
                <a:latin typeface="Meiryo" pitchFamily="34" charset="0"/>
                <a:ea typeface="Meiryo" pitchFamily="34" charset="-122"/>
                <a:cs typeface="Meiryo" pitchFamily="34" charset="-120"/>
              </a:rPr>
              <a:t>理想状態</a:t>
            </a:r>
            <a:endParaRPr lang="en-US" sz="1300" dirty="0"/>
          </a:p>
        </p:txBody>
      </p:sp>
      <p:sp>
        <p:nvSpPr>
          <p:cNvPr id="13" name="Shape 11"/>
          <p:cNvSpPr/>
          <p:nvPr/>
        </p:nvSpPr>
        <p:spPr>
          <a:xfrm>
            <a:off x="548640" y="2286000"/>
            <a:ext cx="3566160" cy="320040"/>
          </a:xfrm>
          <a:prstGeom prst="roundRect">
            <a:avLst>
              <a:gd name="adj" fmla="val 5714"/>
            </a:avLst>
          </a:prstGeom>
          <a:solidFill>
            <a:srgbClr val="004098"/>
          </a:solidFill>
          <a:ln/>
        </p:spPr>
        <p:txBody>
          <a:bodyPr/>
          <a:lstStyle/>
          <a:p>
            <a:endParaRPr lang="ja-JP" altLang="en-US"/>
          </a:p>
        </p:txBody>
      </p:sp>
      <p:sp>
        <p:nvSpPr>
          <p:cNvPr id="14" name="Text 12"/>
          <p:cNvSpPr/>
          <p:nvPr/>
        </p:nvSpPr>
        <p:spPr>
          <a:xfrm>
            <a:off x="54864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企画 → リリース　平均 1ヶ月以内</a:t>
            </a:r>
            <a:endParaRPr lang="en-US" sz="1200" dirty="0"/>
          </a:p>
        </p:txBody>
      </p:sp>
      <p:sp>
        <p:nvSpPr>
          <p:cNvPr id="15" name="Text 13"/>
          <p:cNvSpPr/>
          <p:nvPr/>
        </p:nvSpPr>
        <p:spPr>
          <a:xfrm>
            <a:off x="54864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試したい施策を、平均1ヶ月以内にお客様に届けて反応を見れる。試行回数が多いから、当たる施策を早く見つけられる。</a:t>
            </a:r>
            <a:endParaRPr lang="en-US" sz="1300" dirty="0"/>
          </a:p>
        </p:txBody>
      </p:sp>
      <p:sp>
        <p:nvSpPr>
          <p:cNvPr id="16" name="Shape 14"/>
          <p:cNvSpPr/>
          <p:nvPr/>
        </p:nvSpPr>
        <p:spPr>
          <a:xfrm>
            <a:off x="4800600" y="1554480"/>
            <a:ext cx="3977640" cy="3337560"/>
          </a:xfrm>
          <a:prstGeom prst="roundRect">
            <a:avLst>
              <a:gd name="adj" fmla="val 822"/>
            </a:avLst>
          </a:prstGeom>
          <a:solidFill>
            <a:srgbClr val="F8FAFC"/>
          </a:solidFill>
          <a:ln/>
        </p:spPr>
        <p:txBody>
          <a:bodyPr/>
          <a:lstStyle/>
          <a:p>
            <a:endParaRPr lang="ja-JP" altLang="en-US"/>
          </a:p>
        </p:txBody>
      </p:sp>
      <p:sp>
        <p:nvSpPr>
          <p:cNvPr id="17" name="Text 15"/>
          <p:cNvSpPr/>
          <p:nvPr/>
        </p:nvSpPr>
        <p:spPr>
          <a:xfrm>
            <a:off x="4983480" y="1691640"/>
            <a:ext cx="548640" cy="457200"/>
          </a:xfrm>
          <a:prstGeom prst="rect">
            <a:avLst/>
          </a:prstGeom>
          <a:noFill/>
          <a:ln/>
        </p:spPr>
        <p:txBody>
          <a:bodyPr wrap="square" rtlCol="0" anchor="ctr"/>
          <a:lstStyle/>
          <a:p>
            <a:pPr marL="0" indent="0" algn="l">
              <a:buNone/>
            </a:pPr>
            <a:r>
              <a:rPr lang="en-US" sz="2800" b="1" dirty="0">
                <a:solidFill>
                  <a:srgbClr val="757575"/>
                </a:solidFill>
                <a:latin typeface="Arial" pitchFamily="34" charset="0"/>
                <a:ea typeface="Arial" pitchFamily="34" charset="-122"/>
                <a:cs typeface="Arial" pitchFamily="34" charset="-120"/>
              </a:rPr>
              <a:t>30</a:t>
            </a:r>
            <a:endParaRPr lang="en-US" sz="2800" dirty="0"/>
          </a:p>
        </p:txBody>
      </p:sp>
      <p:sp>
        <p:nvSpPr>
          <p:cNvPr id="18" name="Text 16"/>
          <p:cNvSpPr/>
          <p:nvPr/>
        </p:nvSpPr>
        <p:spPr>
          <a:xfrm>
            <a:off x="5577840" y="1691640"/>
            <a:ext cx="1828800" cy="457200"/>
          </a:xfrm>
          <a:prstGeom prst="rect">
            <a:avLst/>
          </a:prstGeom>
          <a:noFill/>
          <a:ln/>
        </p:spPr>
        <p:txBody>
          <a:bodyPr wrap="square" rtlCol="0" anchor="ctr"/>
          <a:lstStyle/>
          <a:p>
            <a:pPr marL="0" indent="0" algn="l">
              <a:buNone/>
            </a:pPr>
            <a:r>
              <a:rPr lang="en-US" sz="1300" dirty="0">
                <a:solidFill>
                  <a:srgbClr val="444466"/>
                </a:solidFill>
                <a:latin typeface="Meiryo" pitchFamily="34" charset="0"/>
                <a:ea typeface="Meiryo" pitchFamily="34" charset="-122"/>
                <a:cs typeface="Meiryo" pitchFamily="34" charset="-120"/>
              </a:rPr>
              <a:t>最低ライン</a:t>
            </a:r>
            <a:endParaRPr lang="en-US" sz="1300" dirty="0"/>
          </a:p>
        </p:txBody>
      </p:sp>
      <p:sp>
        <p:nvSpPr>
          <p:cNvPr id="19" name="Shape 17"/>
          <p:cNvSpPr/>
          <p:nvPr/>
        </p:nvSpPr>
        <p:spPr>
          <a:xfrm>
            <a:off x="4983480" y="2286000"/>
            <a:ext cx="3566160" cy="320040"/>
          </a:xfrm>
          <a:prstGeom prst="roundRect">
            <a:avLst>
              <a:gd name="adj" fmla="val 5714"/>
            </a:avLst>
          </a:prstGeom>
          <a:solidFill>
            <a:srgbClr val="757575"/>
          </a:solidFill>
          <a:ln/>
        </p:spPr>
        <p:txBody>
          <a:bodyPr/>
          <a:lstStyle/>
          <a:p>
            <a:endParaRPr lang="ja-JP" altLang="en-US"/>
          </a:p>
        </p:txBody>
      </p:sp>
      <p:sp>
        <p:nvSpPr>
          <p:cNvPr id="20" name="Text 18"/>
          <p:cNvSpPr/>
          <p:nvPr/>
        </p:nvSpPr>
        <p:spPr>
          <a:xfrm>
            <a:off x="498348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企画 → リリース　平均 3ヶ月以上</a:t>
            </a:r>
            <a:endParaRPr lang="en-US" sz="1200" dirty="0"/>
          </a:p>
        </p:txBody>
      </p:sp>
      <p:sp>
        <p:nvSpPr>
          <p:cNvPr id="21" name="Text 19"/>
          <p:cNvSpPr/>
          <p:nvPr/>
        </p:nvSpPr>
        <p:spPr>
          <a:xfrm>
            <a:off x="498348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試したい施策が、お客様に届くまで平均3ヶ月以上かかる。大型案件に引きずられ、新しいことを試す回数が限られる。当たる施策にたどり着く前に時間切れになりやすい。</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5084064"/>
            <a:ext cx="7315200" cy="64008"/>
          </a:xfrm>
          <a:prstGeom prst="rect">
            <a:avLst/>
          </a:prstGeom>
          <a:solidFill>
            <a:srgbClr val="004098"/>
          </a:solidFill>
          <a:ln w="12700">
            <a:solidFill>
              <a:srgbClr val="004098"/>
            </a:solidFill>
            <a:prstDash val="solid"/>
          </a:ln>
        </p:spPr>
        <p:txBody>
          <a:bodyPr/>
          <a:lstStyle/>
          <a:p>
            <a:endParaRPr lang="ja-JP" altLang="en-US"/>
          </a:p>
        </p:txBody>
      </p:sp>
      <p:sp>
        <p:nvSpPr>
          <p:cNvPr id="3" name="Shape 1"/>
          <p:cNvSpPr/>
          <p:nvPr/>
        </p:nvSpPr>
        <p:spPr>
          <a:xfrm>
            <a:off x="7315200" y="5084064"/>
            <a:ext cx="1828800" cy="64008"/>
          </a:xfrm>
          <a:prstGeom prst="rect">
            <a:avLst/>
          </a:prstGeom>
          <a:solidFill>
            <a:srgbClr val="DC2626"/>
          </a:solidFill>
          <a:ln w="12700">
            <a:solidFill>
              <a:srgbClr val="DC2626"/>
            </a:solidFill>
            <a:prstDash val="solid"/>
          </a:ln>
        </p:spPr>
        <p:txBody>
          <a:bodyPr/>
          <a:lstStyle/>
          <a:p>
            <a:endParaRPr lang="ja-JP" altLang="en-US"/>
          </a:p>
        </p:txBody>
      </p:sp>
      <p:sp>
        <p:nvSpPr>
          <p:cNvPr id="4" name="Text 2"/>
          <p:cNvSpPr/>
          <p:nvPr/>
        </p:nvSpPr>
        <p:spPr>
          <a:xfrm>
            <a:off x="365760" y="73152"/>
            <a:ext cx="8412480" cy="201168"/>
          </a:xfrm>
          <a:prstGeom prst="rect">
            <a:avLst/>
          </a:prstGeom>
          <a:noFill/>
          <a:ln/>
        </p:spPr>
        <p:txBody>
          <a:bodyPr wrap="square" lIns="0" tIns="0" rIns="0" bIns="0" rtlCol="0" anchor="ctr"/>
          <a:lstStyle/>
          <a:p>
            <a:pPr marL="0" indent="0" algn="l">
              <a:buNone/>
            </a:pPr>
            <a:r>
              <a:rPr lang="en-US" sz="900" dirty="0">
                <a:solidFill>
                  <a:srgbClr val="444466"/>
                </a:solidFill>
                <a:latin typeface="Meiryo" pitchFamily="34" charset="0"/>
                <a:ea typeface="Meiryo" pitchFamily="34" charset="-122"/>
                <a:cs typeface="Meiryo" pitchFamily="34" charset="-120"/>
              </a:rPr>
              <a:t>成果の方程式 ＞ KPI ② 施策の精度</a:t>
            </a:r>
            <a:endParaRPr lang="en-US" sz="900" dirty="0"/>
          </a:p>
        </p:txBody>
      </p:sp>
      <p:sp>
        <p:nvSpPr>
          <p:cNvPr id="5" name="Shape 3"/>
          <p:cNvSpPr/>
          <p:nvPr/>
        </p:nvSpPr>
        <p:spPr>
          <a:xfrm>
            <a:off x="0" y="310896"/>
            <a:ext cx="9144000" cy="9144"/>
          </a:xfrm>
          <a:prstGeom prst="rect">
            <a:avLst/>
          </a:prstGeom>
          <a:solidFill>
            <a:srgbClr val="CADCFC"/>
          </a:solidFill>
          <a:ln w="12700">
            <a:solidFill>
              <a:srgbClr val="CADCFC"/>
            </a:solidFill>
            <a:prstDash val="solid"/>
          </a:ln>
        </p:spPr>
        <p:txBody>
          <a:bodyPr/>
          <a:lstStyle/>
          <a:p>
            <a:endParaRPr lang="ja-JP" altLang="en-US"/>
          </a:p>
        </p:txBody>
      </p:sp>
      <p:sp>
        <p:nvSpPr>
          <p:cNvPr id="6" name="Text 4"/>
          <p:cNvSpPr/>
          <p:nvPr/>
        </p:nvSpPr>
        <p:spPr>
          <a:xfrm>
            <a:off x="365760" y="365760"/>
            <a:ext cx="3657600" cy="256032"/>
          </a:xfrm>
          <a:prstGeom prst="rect">
            <a:avLst/>
          </a:prstGeom>
          <a:noFill/>
          <a:ln/>
        </p:spPr>
        <p:txBody>
          <a:bodyPr wrap="square" rtlCol="0" anchor="ctr"/>
          <a:lstStyle/>
          <a:p>
            <a:pPr marL="0" indent="0" algn="l">
              <a:buNone/>
            </a:pPr>
            <a:r>
              <a:rPr lang="en-US" sz="1100" b="1" dirty="0">
                <a:solidFill>
                  <a:srgbClr val="546E8A"/>
                </a:solidFill>
                <a:latin typeface="Arial" pitchFamily="34" charset="0"/>
                <a:ea typeface="Arial" pitchFamily="34" charset="-122"/>
                <a:cs typeface="Arial" pitchFamily="34" charset="-120"/>
              </a:rPr>
              <a:t>KPI </a:t>
            </a:r>
            <a:r>
              <a:rPr lang="en-US" sz="1100" b="1" dirty="0">
                <a:solidFill>
                  <a:srgbClr val="546E8A"/>
                </a:solidFill>
                <a:latin typeface="Meiryo" pitchFamily="34" charset="0"/>
                <a:ea typeface="Meiryo" pitchFamily="34" charset="-122"/>
                <a:cs typeface="Meiryo" pitchFamily="34" charset="-120"/>
              </a:rPr>
              <a:t>②　施策の精度</a:t>
            </a:r>
            <a:endParaRPr lang="en-US" sz="1100" dirty="0"/>
          </a:p>
        </p:txBody>
      </p:sp>
      <p:sp>
        <p:nvSpPr>
          <p:cNvPr id="7" name="Text 5"/>
          <p:cNvSpPr/>
          <p:nvPr/>
        </p:nvSpPr>
        <p:spPr>
          <a:xfrm>
            <a:off x="365760" y="621792"/>
            <a:ext cx="8412480" cy="411480"/>
          </a:xfrm>
          <a:prstGeom prst="rect">
            <a:avLst/>
          </a:prstGeom>
          <a:noFill/>
          <a:ln/>
        </p:spPr>
        <p:txBody>
          <a:bodyPr wrap="square" rtlCol="0" anchor="ctr"/>
          <a:lstStyle/>
          <a:p>
            <a:pPr marL="0" indent="0" algn="l">
              <a:buNone/>
            </a:pPr>
            <a:r>
              <a:rPr lang="en-US" sz="1800" b="1" dirty="0">
                <a:solidFill>
                  <a:srgbClr val="1A1A2E"/>
                </a:solidFill>
                <a:latin typeface="Meiryo" pitchFamily="34" charset="0"/>
                <a:ea typeface="Meiryo" pitchFamily="34" charset="-122"/>
                <a:cs typeface="Meiryo" pitchFamily="34" charset="-120"/>
              </a:rPr>
              <a:t>リリース後の検証結果 → 次の施策への反映までのリードタイムが平均1ヶ月以内</a:t>
            </a:r>
            <a:endParaRPr lang="en-US" sz="1800" dirty="0"/>
          </a:p>
        </p:txBody>
      </p:sp>
      <p:sp>
        <p:nvSpPr>
          <p:cNvPr id="8" name="Text 6"/>
          <p:cNvSpPr/>
          <p:nvPr/>
        </p:nvSpPr>
        <p:spPr>
          <a:xfrm>
            <a:off x="365760" y="1051560"/>
            <a:ext cx="8412480" cy="274320"/>
          </a:xfrm>
          <a:prstGeom prst="rect">
            <a:avLst/>
          </a:prstGeom>
          <a:noFill/>
          <a:ln/>
        </p:spPr>
        <p:txBody>
          <a:bodyPr wrap="square" rtlCol="0" anchor="ctr"/>
          <a:lstStyle/>
          <a:p>
            <a:pPr marL="0" indent="0" algn="l">
              <a:buNone/>
            </a:pPr>
            <a:r>
              <a:rPr lang="en-US" sz="1200" dirty="0">
                <a:solidFill>
                  <a:srgbClr val="444466"/>
                </a:solidFill>
                <a:latin typeface="Meiryo" pitchFamily="34" charset="0"/>
                <a:ea typeface="Meiryo" pitchFamily="34" charset="-122"/>
                <a:cs typeface="Meiryo" pitchFamily="34" charset="-120"/>
              </a:rPr>
              <a:t>出した結果を見て「次に何をやるか」を変えられる ＝ 施策の精度が上がる</a:t>
            </a:r>
            <a:endParaRPr lang="en-US" sz="1200" dirty="0"/>
          </a:p>
        </p:txBody>
      </p:sp>
      <p:sp>
        <p:nvSpPr>
          <p:cNvPr id="9" name="Shape 7"/>
          <p:cNvSpPr/>
          <p:nvPr/>
        </p:nvSpPr>
        <p:spPr>
          <a:xfrm>
            <a:off x="365760" y="1371600"/>
            <a:ext cx="8412480" cy="9144"/>
          </a:xfrm>
          <a:prstGeom prst="rect">
            <a:avLst/>
          </a:prstGeom>
          <a:solidFill>
            <a:srgbClr val="CADCFC"/>
          </a:solidFill>
          <a:ln w="12700">
            <a:solidFill>
              <a:srgbClr val="CADCFC"/>
            </a:solidFill>
            <a:prstDash val="solid"/>
          </a:ln>
        </p:spPr>
        <p:txBody>
          <a:bodyPr/>
          <a:lstStyle/>
          <a:p>
            <a:endParaRPr lang="ja-JP" altLang="en-US"/>
          </a:p>
        </p:txBody>
      </p:sp>
      <p:sp>
        <p:nvSpPr>
          <p:cNvPr id="10" name="Shape 8"/>
          <p:cNvSpPr/>
          <p:nvPr/>
        </p:nvSpPr>
        <p:spPr>
          <a:xfrm>
            <a:off x="365760" y="1554480"/>
            <a:ext cx="3977640" cy="3337560"/>
          </a:xfrm>
          <a:prstGeom prst="roundRect">
            <a:avLst>
              <a:gd name="adj" fmla="val 822"/>
            </a:avLst>
          </a:prstGeom>
          <a:solidFill>
            <a:srgbClr val="EEF3FA"/>
          </a:solidFill>
          <a:ln/>
        </p:spPr>
        <p:txBody>
          <a:bodyPr/>
          <a:lstStyle/>
          <a:p>
            <a:endParaRPr lang="ja-JP" altLang="en-US"/>
          </a:p>
        </p:txBody>
      </p:sp>
      <p:sp>
        <p:nvSpPr>
          <p:cNvPr id="11" name="Text 9"/>
          <p:cNvSpPr/>
          <p:nvPr/>
        </p:nvSpPr>
        <p:spPr>
          <a:xfrm>
            <a:off x="548640" y="1691640"/>
            <a:ext cx="640080" cy="457200"/>
          </a:xfrm>
          <a:prstGeom prst="rect">
            <a:avLst/>
          </a:prstGeom>
          <a:noFill/>
          <a:ln/>
        </p:spPr>
        <p:txBody>
          <a:bodyPr wrap="square" rtlCol="0" anchor="ctr"/>
          <a:lstStyle/>
          <a:p>
            <a:pPr marL="0" indent="0" algn="l">
              <a:buNone/>
            </a:pPr>
            <a:r>
              <a:rPr lang="en-US" sz="2800" b="1" dirty="0">
                <a:solidFill>
                  <a:srgbClr val="004098"/>
                </a:solidFill>
                <a:latin typeface="Arial" pitchFamily="34" charset="0"/>
                <a:ea typeface="Arial" pitchFamily="34" charset="-122"/>
                <a:cs typeface="Arial" pitchFamily="34" charset="-120"/>
              </a:rPr>
              <a:t>100</a:t>
            </a:r>
            <a:endParaRPr lang="en-US" sz="2800" dirty="0"/>
          </a:p>
        </p:txBody>
      </p:sp>
      <p:sp>
        <p:nvSpPr>
          <p:cNvPr id="12" name="Text 10"/>
          <p:cNvSpPr/>
          <p:nvPr/>
        </p:nvSpPr>
        <p:spPr>
          <a:xfrm>
            <a:off x="1234440" y="1691640"/>
            <a:ext cx="1828800" cy="457200"/>
          </a:xfrm>
          <a:prstGeom prst="rect">
            <a:avLst/>
          </a:prstGeom>
          <a:noFill/>
          <a:ln/>
        </p:spPr>
        <p:txBody>
          <a:bodyPr wrap="square" rtlCol="0" anchor="ctr"/>
          <a:lstStyle/>
          <a:p>
            <a:pPr marL="0" indent="0" algn="l">
              <a:buNone/>
            </a:pPr>
            <a:r>
              <a:rPr lang="en-US" sz="1300" dirty="0">
                <a:solidFill>
                  <a:srgbClr val="444466"/>
                </a:solidFill>
                <a:latin typeface="Meiryo" pitchFamily="34" charset="0"/>
                <a:ea typeface="Meiryo" pitchFamily="34" charset="-122"/>
                <a:cs typeface="Meiryo" pitchFamily="34" charset="-120"/>
              </a:rPr>
              <a:t>理想状態</a:t>
            </a:r>
            <a:endParaRPr lang="en-US" sz="1300" dirty="0"/>
          </a:p>
        </p:txBody>
      </p:sp>
      <p:sp>
        <p:nvSpPr>
          <p:cNvPr id="13" name="Shape 11"/>
          <p:cNvSpPr/>
          <p:nvPr/>
        </p:nvSpPr>
        <p:spPr>
          <a:xfrm>
            <a:off x="548640" y="2286000"/>
            <a:ext cx="3566160" cy="320040"/>
          </a:xfrm>
          <a:prstGeom prst="roundRect">
            <a:avLst>
              <a:gd name="adj" fmla="val 5714"/>
            </a:avLst>
          </a:prstGeom>
          <a:solidFill>
            <a:srgbClr val="004098"/>
          </a:solidFill>
          <a:ln/>
        </p:spPr>
        <p:txBody>
          <a:bodyPr/>
          <a:lstStyle/>
          <a:p>
            <a:endParaRPr lang="ja-JP" altLang="en-US"/>
          </a:p>
        </p:txBody>
      </p:sp>
      <p:sp>
        <p:nvSpPr>
          <p:cNvPr id="14" name="Text 12"/>
          <p:cNvSpPr/>
          <p:nvPr/>
        </p:nvSpPr>
        <p:spPr>
          <a:xfrm>
            <a:off x="54864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検証 → 次の施策へ反映　平均 1ヶ月以内</a:t>
            </a:r>
            <a:endParaRPr lang="en-US" sz="1200" dirty="0"/>
          </a:p>
        </p:txBody>
      </p:sp>
      <p:sp>
        <p:nvSpPr>
          <p:cNvPr id="15" name="Text 13"/>
          <p:cNvSpPr/>
          <p:nvPr/>
        </p:nvSpPr>
        <p:spPr>
          <a:xfrm>
            <a:off x="54864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効果のない施策を早く止めて、効く施策に人手を寄せられる。同じリソースでも、成果に繋がる仕事の比率が上がる。</a:t>
            </a:r>
            <a:endParaRPr lang="en-US" sz="1300" dirty="0"/>
          </a:p>
        </p:txBody>
      </p:sp>
      <p:sp>
        <p:nvSpPr>
          <p:cNvPr id="16" name="Shape 14"/>
          <p:cNvSpPr/>
          <p:nvPr/>
        </p:nvSpPr>
        <p:spPr>
          <a:xfrm>
            <a:off x="4800600" y="1554480"/>
            <a:ext cx="3977640" cy="3337560"/>
          </a:xfrm>
          <a:prstGeom prst="roundRect">
            <a:avLst>
              <a:gd name="adj" fmla="val 822"/>
            </a:avLst>
          </a:prstGeom>
          <a:solidFill>
            <a:srgbClr val="F8FAFC"/>
          </a:solidFill>
          <a:ln/>
        </p:spPr>
        <p:txBody>
          <a:bodyPr/>
          <a:lstStyle/>
          <a:p>
            <a:endParaRPr lang="ja-JP" altLang="en-US"/>
          </a:p>
        </p:txBody>
      </p:sp>
      <p:sp>
        <p:nvSpPr>
          <p:cNvPr id="17" name="Text 15"/>
          <p:cNvSpPr/>
          <p:nvPr/>
        </p:nvSpPr>
        <p:spPr>
          <a:xfrm>
            <a:off x="4983480" y="1691640"/>
            <a:ext cx="548640" cy="457200"/>
          </a:xfrm>
          <a:prstGeom prst="rect">
            <a:avLst/>
          </a:prstGeom>
          <a:noFill/>
          <a:ln/>
        </p:spPr>
        <p:txBody>
          <a:bodyPr wrap="square" rtlCol="0" anchor="ctr"/>
          <a:lstStyle/>
          <a:p>
            <a:pPr marL="0" indent="0" algn="l">
              <a:buNone/>
            </a:pPr>
            <a:r>
              <a:rPr lang="en-US" sz="2800" b="1" dirty="0">
                <a:solidFill>
                  <a:srgbClr val="757575"/>
                </a:solidFill>
                <a:latin typeface="Arial" pitchFamily="34" charset="0"/>
                <a:ea typeface="Arial" pitchFamily="34" charset="-122"/>
                <a:cs typeface="Arial" pitchFamily="34" charset="-120"/>
              </a:rPr>
              <a:t>30</a:t>
            </a:r>
            <a:endParaRPr lang="en-US" sz="2800" dirty="0"/>
          </a:p>
        </p:txBody>
      </p:sp>
      <p:sp>
        <p:nvSpPr>
          <p:cNvPr id="18" name="Text 16"/>
          <p:cNvSpPr/>
          <p:nvPr/>
        </p:nvSpPr>
        <p:spPr>
          <a:xfrm>
            <a:off x="5577840" y="1691640"/>
            <a:ext cx="1828800" cy="457200"/>
          </a:xfrm>
          <a:prstGeom prst="rect">
            <a:avLst/>
          </a:prstGeom>
          <a:noFill/>
          <a:ln/>
        </p:spPr>
        <p:txBody>
          <a:bodyPr wrap="square" rtlCol="0" anchor="ctr"/>
          <a:lstStyle/>
          <a:p>
            <a:pPr marL="0" indent="0" algn="l">
              <a:buNone/>
            </a:pPr>
            <a:r>
              <a:rPr lang="en-US" sz="1300" dirty="0">
                <a:solidFill>
                  <a:srgbClr val="444466"/>
                </a:solidFill>
                <a:latin typeface="Meiryo" pitchFamily="34" charset="0"/>
                <a:ea typeface="Meiryo" pitchFamily="34" charset="-122"/>
                <a:cs typeface="Meiryo" pitchFamily="34" charset="-120"/>
              </a:rPr>
              <a:t>最低ライン</a:t>
            </a:r>
            <a:endParaRPr lang="en-US" sz="1300" dirty="0"/>
          </a:p>
        </p:txBody>
      </p:sp>
      <p:sp>
        <p:nvSpPr>
          <p:cNvPr id="19" name="Shape 17"/>
          <p:cNvSpPr/>
          <p:nvPr/>
        </p:nvSpPr>
        <p:spPr>
          <a:xfrm>
            <a:off x="4983480" y="2286000"/>
            <a:ext cx="3566160" cy="320040"/>
          </a:xfrm>
          <a:prstGeom prst="roundRect">
            <a:avLst>
              <a:gd name="adj" fmla="val 5714"/>
            </a:avLst>
          </a:prstGeom>
          <a:solidFill>
            <a:srgbClr val="757575"/>
          </a:solidFill>
          <a:ln/>
        </p:spPr>
        <p:txBody>
          <a:bodyPr/>
          <a:lstStyle/>
          <a:p>
            <a:endParaRPr lang="ja-JP" altLang="en-US"/>
          </a:p>
        </p:txBody>
      </p:sp>
      <p:sp>
        <p:nvSpPr>
          <p:cNvPr id="20" name="Text 18"/>
          <p:cNvSpPr/>
          <p:nvPr/>
        </p:nvSpPr>
        <p:spPr>
          <a:xfrm>
            <a:off x="4983480" y="2286000"/>
            <a:ext cx="3566160" cy="320040"/>
          </a:xfrm>
          <a:prstGeom prst="rect">
            <a:avLst/>
          </a:prstGeom>
          <a:noFill/>
          <a:ln/>
        </p:spPr>
        <p:txBody>
          <a:bodyPr wrap="square" rtlCol="0" anchor="ctr"/>
          <a:lstStyle/>
          <a:p>
            <a:pPr marL="0" indent="0" algn="ctr">
              <a:buNone/>
            </a:pPr>
            <a:r>
              <a:rPr lang="en-US" sz="1200" b="1" dirty="0">
                <a:solidFill>
                  <a:srgbClr val="FFFFFF"/>
                </a:solidFill>
                <a:latin typeface="Meiryo" pitchFamily="34" charset="0"/>
                <a:ea typeface="Meiryo" pitchFamily="34" charset="-122"/>
                <a:cs typeface="Meiryo" pitchFamily="34" charset="-120"/>
              </a:rPr>
              <a:t>検証 → 次の施策へ反映　3ヶ月以上 or 未反映</a:t>
            </a:r>
            <a:endParaRPr lang="en-US" sz="1200" dirty="0"/>
          </a:p>
        </p:txBody>
      </p:sp>
      <p:sp>
        <p:nvSpPr>
          <p:cNvPr id="21" name="Text 19"/>
          <p:cNvSpPr/>
          <p:nvPr/>
        </p:nvSpPr>
        <p:spPr>
          <a:xfrm>
            <a:off x="4983480" y="2788920"/>
            <a:ext cx="3611880" cy="1828800"/>
          </a:xfrm>
          <a:prstGeom prst="rect">
            <a:avLst/>
          </a:prstGeom>
          <a:noFill/>
          <a:ln/>
        </p:spPr>
        <p:txBody>
          <a:bodyPr wrap="square" rtlCol="0" anchor="t"/>
          <a:lstStyle/>
          <a:p>
            <a:pPr marL="0" indent="0" algn="l">
              <a:lnSpc>
                <a:spcPct val="160000"/>
              </a:lnSpc>
              <a:buNone/>
            </a:pPr>
            <a:r>
              <a:rPr lang="en-US" sz="1300" dirty="0">
                <a:solidFill>
                  <a:srgbClr val="1A1A2E"/>
                </a:solidFill>
                <a:latin typeface="Meiryo" pitchFamily="34" charset="0"/>
                <a:ea typeface="Meiryo" pitchFamily="34" charset="-122"/>
                <a:cs typeface="Meiryo" pitchFamily="34" charset="-120"/>
              </a:rPr>
              <a:t>効いたかどうかわからないまま次に進む。効果のない施策を止められず、人手が分散したまま成果が出ない。</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388</Words>
  <Application>Microsoft Macintosh PowerPoint</Application>
  <PresentationFormat>画面に合わせる (16:9)</PresentationFormat>
  <Paragraphs>88</Paragraphs>
  <Slides>6</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6</vt:i4>
      </vt:variant>
    </vt:vector>
  </HeadingPairs>
  <TitlesOfParts>
    <vt:vector size="9" baseType="lpstr">
      <vt:lpstr>Meiryo</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成果の方程式</dc:title>
  <dc:subject>PptxGenJS Presentation</dc:subject>
  <dc:creator>PptxGenJS</dc:creator>
  <cp:lastModifiedBy>杉﨑　洋平</cp:lastModifiedBy>
  <cp:revision>2</cp:revision>
  <dcterms:created xsi:type="dcterms:W3CDTF">2026-04-15T06:35:44Z</dcterms:created>
  <dcterms:modified xsi:type="dcterms:W3CDTF">2026-04-15T06:54:41Z</dcterms:modified>
</cp:coreProperties>
</file>