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6"/>
    <p:restoredTop sz="94610"/>
  </p:normalViewPr>
  <p:slideViewPr>
    <p:cSldViewPr snapToGrid="0" snapToObjects="1">
      <p:cViewPr varScale="1">
        <p:scale>
          <a:sx n="142" d="100"/>
          <a:sy n="142" d="100"/>
        </p:scale>
        <p:origin x="15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3817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Shape 2"/>
          <p:cNvSpPr/>
          <p:nvPr/>
        </p:nvSpPr>
        <p:spPr>
          <a:xfrm>
            <a:off x="0" y="0"/>
            <a:ext cx="9144000" cy="731520"/>
          </a:xfrm>
          <a:prstGeom prst="rect">
            <a:avLst/>
          </a:prstGeom>
          <a:solidFill>
            <a:srgbClr val="004098"/>
          </a:solidFill>
          <a:ln/>
        </p:spPr>
        <p:txBody>
          <a:bodyPr/>
          <a:lstStyle/>
          <a:p>
            <a:endParaRPr lang="ja-JP" altLang="en-US"/>
          </a:p>
        </p:txBody>
      </p:sp>
      <p:sp>
        <p:nvSpPr>
          <p:cNvPr id="5" name="Shape 3"/>
          <p:cNvSpPr/>
          <p:nvPr/>
        </p:nvSpPr>
        <p:spPr>
          <a:xfrm>
            <a:off x="548640" y="731520"/>
            <a:ext cx="1097280" cy="36576"/>
          </a:xfrm>
          <a:prstGeom prst="rect">
            <a:avLst/>
          </a:prstGeom>
          <a:solidFill>
            <a:srgbClr val="DC2626"/>
          </a:solidFill>
          <a:ln/>
        </p:spPr>
        <p:txBody>
          <a:bodyPr/>
          <a:lstStyle/>
          <a:p>
            <a:endParaRPr lang="ja-JP" altLang="en-US"/>
          </a:p>
        </p:txBody>
      </p:sp>
      <p:sp>
        <p:nvSpPr>
          <p:cNvPr id="6" name="Text 4"/>
          <p:cNvSpPr/>
          <p:nvPr/>
        </p:nvSpPr>
        <p:spPr>
          <a:xfrm>
            <a:off x="548640" y="1653092"/>
            <a:ext cx="8046720" cy="1463040"/>
          </a:xfrm>
          <a:prstGeom prst="rect">
            <a:avLst/>
          </a:prstGeom>
          <a:noFill/>
          <a:ln/>
        </p:spPr>
        <p:txBody>
          <a:bodyPr wrap="square" lIns="0" tIns="0" rIns="0" bIns="0" rtlCol="0" anchor="ctr"/>
          <a:lstStyle/>
          <a:p>
            <a:pPr marL="0" indent="0" algn="l">
              <a:lnSpc>
                <a:spcPct val="120000"/>
              </a:lnSpc>
              <a:buNone/>
            </a:pPr>
            <a:r>
              <a:rPr lang="en-US" sz="3600" b="1" dirty="0">
                <a:solidFill>
                  <a:srgbClr val="004098"/>
                </a:solidFill>
                <a:latin typeface="Meiryo" pitchFamily="34" charset="0"/>
                <a:ea typeface="Meiryo" pitchFamily="34" charset="-122"/>
                <a:cs typeface="Meiryo" pitchFamily="34" charset="-120"/>
              </a:rPr>
              <a:t>挑戦KR２のKPIについて</a:t>
            </a:r>
            <a:endParaRPr lang="en-US" sz="3600" dirty="0"/>
          </a:p>
        </p:txBody>
      </p:sp>
      <p:sp>
        <p:nvSpPr>
          <p:cNvPr id="8" name="Text 6"/>
          <p:cNvSpPr/>
          <p:nvPr/>
        </p:nvSpPr>
        <p:spPr>
          <a:xfrm>
            <a:off x="548640" y="3383280"/>
            <a:ext cx="3657600" cy="274320"/>
          </a:xfrm>
          <a:prstGeom prst="rect">
            <a:avLst/>
          </a:prstGeom>
          <a:noFill/>
          <a:ln/>
        </p:spPr>
        <p:txBody>
          <a:bodyPr wrap="square" rtlCol="0" anchor="ctr"/>
          <a:lstStyle/>
          <a:p>
            <a:pPr marL="0" indent="0" algn="l">
              <a:buNone/>
            </a:pPr>
            <a:r>
              <a:rPr lang="en-US" sz="1200" dirty="0">
                <a:solidFill>
                  <a:srgbClr val="444466"/>
                </a:solidFill>
                <a:latin typeface="Arial" pitchFamily="34" charset="0"/>
                <a:ea typeface="Arial" pitchFamily="34" charset="-122"/>
                <a:cs typeface="Arial" pitchFamily="34" charset="-120"/>
              </a:rPr>
              <a:t>2026-04-15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OKR 挑戦KR2</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Shape 4"/>
          <p:cNvSpPr/>
          <p:nvPr/>
        </p:nvSpPr>
        <p:spPr>
          <a:xfrm>
            <a:off x="365760" y="438912"/>
            <a:ext cx="1280160" cy="292608"/>
          </a:xfrm>
          <a:prstGeom prst="roundRect">
            <a:avLst>
              <a:gd name="adj" fmla="val 6250"/>
            </a:avLst>
          </a:prstGeom>
          <a:solidFill>
            <a:srgbClr val="004098"/>
          </a:solidFill>
          <a:ln/>
        </p:spPr>
        <p:txBody>
          <a:bodyPr/>
          <a:lstStyle/>
          <a:p>
            <a:endParaRPr lang="ja-JP" altLang="en-US"/>
          </a:p>
        </p:txBody>
      </p:sp>
      <p:sp>
        <p:nvSpPr>
          <p:cNvPr id="7" name="Text 5"/>
          <p:cNvSpPr/>
          <p:nvPr/>
        </p:nvSpPr>
        <p:spPr>
          <a:xfrm>
            <a:off x="365760" y="438912"/>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pitchFamily="34" charset="0"/>
                <a:ea typeface="Meiryo" pitchFamily="34" charset="-122"/>
                <a:cs typeface="Meiryo" pitchFamily="34" charset="-120"/>
              </a:rPr>
              <a:t>挑戦 KR2</a:t>
            </a:r>
            <a:endParaRPr lang="en-US" sz="1000" dirty="0"/>
          </a:p>
        </p:txBody>
      </p:sp>
      <p:sp>
        <p:nvSpPr>
          <p:cNvPr id="8" name="Text 6"/>
          <p:cNvSpPr/>
          <p:nvPr/>
        </p:nvSpPr>
        <p:spPr>
          <a:xfrm>
            <a:off x="365760" y="804672"/>
            <a:ext cx="8412480" cy="731520"/>
          </a:xfrm>
          <a:prstGeom prst="rect">
            <a:avLst/>
          </a:prstGeom>
          <a:noFill/>
          <a:ln/>
        </p:spPr>
        <p:txBody>
          <a:bodyPr wrap="square" rtlCol="0" anchor="t"/>
          <a:lstStyle/>
          <a:p>
            <a:pPr marL="0" indent="0" algn="l">
              <a:lnSpc>
                <a:spcPct val="160000"/>
              </a:lnSpc>
              <a:buNone/>
            </a:pPr>
            <a:r>
              <a:rPr lang="en-US" sz="1200" b="1" dirty="0">
                <a:solidFill>
                  <a:srgbClr val="1A1A2E"/>
                </a:solidFill>
                <a:latin typeface="Meiryo" pitchFamily="34" charset="0"/>
                <a:ea typeface="Meiryo" pitchFamily="34" charset="-122"/>
                <a:cs typeface="Meiryo" pitchFamily="34" charset="-120"/>
              </a:rPr>
              <a:t>仮説・検証・学習が止まらず高速に巡るプロダクト開発の型を定常運用できている。</a:t>
            </a:r>
            <a:endParaRPr lang="en-US" sz="1200" b="1" dirty="0"/>
          </a:p>
          <a:p>
            <a:pPr marL="0" indent="0" algn="l">
              <a:lnSpc>
                <a:spcPct val="160000"/>
              </a:lnSpc>
              <a:buNone/>
            </a:pPr>
            <a:r>
              <a:rPr lang="en-US" sz="1200" b="1" dirty="0">
                <a:solidFill>
                  <a:srgbClr val="1A1A2E"/>
                </a:solidFill>
                <a:latin typeface="Meiryo" pitchFamily="34" charset="0"/>
                <a:ea typeface="Meiryo" pitchFamily="34" charset="-122"/>
                <a:cs typeface="Meiryo" pitchFamily="34" charset="-120"/>
              </a:rPr>
              <a:t>小さく早く検証する考え方がメンバーに浸透し、不確実性に対してムダの少ない意思決定と実行ができている。</a:t>
            </a:r>
            <a:endParaRPr lang="en-US" sz="1200" b="1" dirty="0"/>
          </a:p>
        </p:txBody>
      </p:sp>
      <p:sp>
        <p:nvSpPr>
          <p:cNvPr id="9" name="Shape 7"/>
          <p:cNvSpPr/>
          <p:nvPr/>
        </p:nvSpPr>
        <p:spPr>
          <a:xfrm>
            <a:off x="365760" y="1627632"/>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Text 8"/>
          <p:cNvSpPr/>
          <p:nvPr/>
        </p:nvSpPr>
        <p:spPr>
          <a:xfrm>
            <a:off x="365760" y="1864109"/>
            <a:ext cx="8412480" cy="292608"/>
          </a:xfrm>
          <a:prstGeom prst="rect">
            <a:avLst/>
          </a:prstGeom>
          <a:noFill/>
          <a:ln/>
        </p:spPr>
        <p:txBody>
          <a:bodyPr wrap="square" rtlCol="0" anchor="ctr"/>
          <a:lstStyle/>
          <a:p>
            <a:pPr marL="0" indent="0" algn="l">
              <a:buNone/>
            </a:pPr>
            <a:r>
              <a:rPr lang="en-US" sz="1400" b="1" dirty="0" err="1">
                <a:solidFill>
                  <a:srgbClr val="004098"/>
                </a:solidFill>
                <a:latin typeface="Meiryo" pitchFamily="34" charset="0"/>
                <a:ea typeface="Meiryo" pitchFamily="34" charset="-122"/>
                <a:cs typeface="Meiryo" pitchFamily="34" charset="-120"/>
              </a:rPr>
              <a:t>KRを達成するためになにをやるのか</a:t>
            </a:r>
            <a:r>
              <a:rPr lang="en-US" sz="1400" b="1" dirty="0">
                <a:solidFill>
                  <a:srgbClr val="004098"/>
                </a:solidFill>
                <a:latin typeface="Meiryo" pitchFamily="34" charset="0"/>
                <a:ea typeface="Meiryo" pitchFamily="34" charset="-122"/>
                <a:cs typeface="Meiryo" pitchFamily="34" charset="-120"/>
              </a:rPr>
              <a:t>？</a:t>
            </a:r>
            <a:endParaRPr lang="en-US" sz="1400" dirty="0"/>
          </a:p>
        </p:txBody>
      </p:sp>
      <p:sp>
        <p:nvSpPr>
          <p:cNvPr id="11" name="Text 9"/>
          <p:cNvSpPr/>
          <p:nvPr/>
        </p:nvSpPr>
        <p:spPr>
          <a:xfrm>
            <a:off x="365760" y="2265177"/>
            <a:ext cx="841248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「プロダクト開発の型を回す」を3つの構造的課題に分解して取り組む。</a:t>
            </a:r>
            <a:endParaRPr lang="en-US" sz="1100" dirty="0"/>
          </a:p>
        </p:txBody>
      </p:sp>
      <p:sp>
        <p:nvSpPr>
          <p:cNvPr id="12" name="Shape 10"/>
          <p:cNvSpPr/>
          <p:nvPr/>
        </p:nvSpPr>
        <p:spPr>
          <a:xfrm>
            <a:off x="365760" y="2549003"/>
            <a:ext cx="2651760" cy="2195013"/>
          </a:xfrm>
          <a:prstGeom prst="roundRect">
            <a:avLst>
              <a:gd name="adj" fmla="val 1277"/>
            </a:avLst>
          </a:prstGeom>
          <a:solidFill>
            <a:srgbClr val="F5F5F5"/>
          </a:solidFill>
          <a:ln/>
        </p:spPr>
        <p:txBody>
          <a:bodyPr/>
          <a:lstStyle/>
          <a:p>
            <a:endParaRPr lang="ja-JP" altLang="en-US"/>
          </a:p>
        </p:txBody>
      </p:sp>
      <p:sp>
        <p:nvSpPr>
          <p:cNvPr id="13" name="Shape 11"/>
          <p:cNvSpPr/>
          <p:nvPr/>
        </p:nvSpPr>
        <p:spPr>
          <a:xfrm>
            <a:off x="365760" y="2549003"/>
            <a:ext cx="2651760" cy="36576"/>
          </a:xfrm>
          <a:prstGeom prst="rect">
            <a:avLst/>
          </a:prstGeom>
          <a:solidFill>
            <a:srgbClr val="004098"/>
          </a:solidFill>
          <a:ln/>
        </p:spPr>
        <p:txBody>
          <a:bodyPr/>
          <a:lstStyle/>
          <a:p>
            <a:endParaRPr lang="ja-JP" altLang="en-US"/>
          </a:p>
        </p:txBody>
      </p:sp>
      <p:sp>
        <p:nvSpPr>
          <p:cNvPr id="14" name="Text 12"/>
          <p:cNvSpPr/>
          <p:nvPr/>
        </p:nvSpPr>
        <p:spPr>
          <a:xfrm>
            <a:off x="502920" y="2686163"/>
            <a:ext cx="1828800" cy="256032"/>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アプローチ ①</a:t>
            </a:r>
            <a:endParaRPr lang="en-US" sz="1100" dirty="0"/>
          </a:p>
        </p:txBody>
      </p:sp>
      <p:sp>
        <p:nvSpPr>
          <p:cNvPr id="15" name="Text 13"/>
          <p:cNvSpPr/>
          <p:nvPr/>
        </p:nvSpPr>
        <p:spPr>
          <a:xfrm>
            <a:off x="502920" y="2960483"/>
            <a:ext cx="2377440" cy="292608"/>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入口品質をあげる</a:t>
            </a:r>
            <a:endParaRPr lang="en-US" sz="1400" dirty="0"/>
          </a:p>
        </p:txBody>
      </p:sp>
      <p:sp>
        <p:nvSpPr>
          <p:cNvPr id="16" name="Text 14"/>
          <p:cNvSpPr/>
          <p:nvPr/>
        </p:nvSpPr>
        <p:spPr>
          <a:xfrm>
            <a:off x="502920" y="3773223"/>
            <a:ext cx="2377440" cy="228600"/>
          </a:xfrm>
          <a:prstGeom prst="rect">
            <a:avLst/>
          </a:prstGeom>
          <a:noFill/>
          <a:ln/>
        </p:spPr>
        <p:txBody>
          <a:bodyPr wrap="square" rtlCol="0" anchor="ctr"/>
          <a:lstStyle/>
          <a:p>
            <a:pPr marL="0" indent="0" algn="l">
              <a:lnSpc>
                <a:spcPct val="200000"/>
              </a:lnSpc>
              <a:buNone/>
            </a:pPr>
            <a:r>
              <a:rPr lang="en-US" sz="1100" dirty="0" err="1">
                <a:solidFill>
                  <a:srgbClr val="444466"/>
                </a:solidFill>
                <a:latin typeface="Meiryo" pitchFamily="34" charset="0"/>
                <a:ea typeface="Meiryo" pitchFamily="34" charset="-122"/>
                <a:cs typeface="Meiryo" pitchFamily="34" charset="-120"/>
              </a:rPr>
              <a:t>実装に入る前の前提整理</a:t>
            </a:r>
            <a:r>
              <a:rPr lang="en-US" sz="1100" dirty="0">
                <a:solidFill>
                  <a:srgbClr val="444466"/>
                </a:solidFill>
                <a:latin typeface="Meiryo" pitchFamily="34" charset="0"/>
                <a:ea typeface="Meiryo" pitchFamily="34" charset="-122"/>
                <a:cs typeface="Meiryo" pitchFamily="34" charset="-120"/>
              </a:rPr>
              <a:t>・</a:t>
            </a:r>
          </a:p>
          <a:p>
            <a:pPr marL="0" indent="0" algn="l">
              <a:lnSpc>
                <a:spcPct val="200000"/>
              </a:lnSpc>
              <a:buNone/>
            </a:pPr>
            <a:r>
              <a:rPr lang="en-US" sz="1100" dirty="0" err="1">
                <a:solidFill>
                  <a:srgbClr val="444466"/>
                </a:solidFill>
                <a:latin typeface="Meiryo" pitchFamily="34" charset="0"/>
                <a:ea typeface="Meiryo" pitchFamily="34" charset="-122"/>
                <a:cs typeface="Meiryo" pitchFamily="34" charset="-120"/>
              </a:rPr>
              <a:t>要求定義の曖昧さをなくす</a:t>
            </a:r>
            <a:endParaRPr lang="en-US" sz="1100" dirty="0"/>
          </a:p>
        </p:txBody>
      </p:sp>
      <p:sp>
        <p:nvSpPr>
          <p:cNvPr id="17" name="Shape 15"/>
          <p:cNvSpPr/>
          <p:nvPr/>
        </p:nvSpPr>
        <p:spPr>
          <a:xfrm>
            <a:off x="502920" y="3554843"/>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19" name="Shape 17"/>
          <p:cNvSpPr/>
          <p:nvPr/>
        </p:nvSpPr>
        <p:spPr>
          <a:xfrm>
            <a:off x="3246120" y="2549003"/>
            <a:ext cx="2651760" cy="2195013"/>
          </a:xfrm>
          <a:prstGeom prst="roundRect">
            <a:avLst>
              <a:gd name="adj" fmla="val 1277"/>
            </a:avLst>
          </a:prstGeom>
          <a:solidFill>
            <a:srgbClr val="F5F5F5"/>
          </a:solidFill>
          <a:ln/>
        </p:spPr>
        <p:txBody>
          <a:bodyPr/>
          <a:lstStyle/>
          <a:p>
            <a:endParaRPr lang="ja-JP" altLang="en-US"/>
          </a:p>
        </p:txBody>
      </p:sp>
      <p:sp>
        <p:nvSpPr>
          <p:cNvPr id="20" name="Shape 18"/>
          <p:cNvSpPr/>
          <p:nvPr/>
        </p:nvSpPr>
        <p:spPr>
          <a:xfrm>
            <a:off x="3246120" y="2549003"/>
            <a:ext cx="2651760" cy="36576"/>
          </a:xfrm>
          <a:prstGeom prst="rect">
            <a:avLst/>
          </a:prstGeom>
          <a:solidFill>
            <a:srgbClr val="004098"/>
          </a:solidFill>
          <a:ln/>
        </p:spPr>
        <p:txBody>
          <a:bodyPr/>
          <a:lstStyle/>
          <a:p>
            <a:endParaRPr lang="ja-JP" altLang="en-US"/>
          </a:p>
        </p:txBody>
      </p:sp>
      <p:sp>
        <p:nvSpPr>
          <p:cNvPr id="21" name="Text 19"/>
          <p:cNvSpPr/>
          <p:nvPr/>
        </p:nvSpPr>
        <p:spPr>
          <a:xfrm>
            <a:off x="3383280" y="2686163"/>
            <a:ext cx="1828800" cy="256032"/>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アプローチ ②</a:t>
            </a:r>
            <a:endParaRPr lang="en-US" sz="1100" dirty="0"/>
          </a:p>
        </p:txBody>
      </p:sp>
      <p:sp>
        <p:nvSpPr>
          <p:cNvPr id="22" name="Text 20"/>
          <p:cNvSpPr/>
          <p:nvPr/>
        </p:nvSpPr>
        <p:spPr>
          <a:xfrm>
            <a:off x="3383280" y="2960483"/>
            <a:ext cx="2377440" cy="292608"/>
          </a:xfrm>
          <a:prstGeom prst="rect">
            <a:avLst/>
          </a:prstGeom>
          <a:noFill/>
          <a:ln/>
        </p:spPr>
        <p:txBody>
          <a:bodyPr wrap="square" rtlCol="0" anchor="ctr"/>
          <a:lstStyle/>
          <a:p>
            <a:pPr marL="0" indent="0" algn="l">
              <a:buNone/>
            </a:pPr>
            <a:r>
              <a:rPr lang="en-US" sz="1400" b="1" dirty="0" err="1">
                <a:solidFill>
                  <a:srgbClr val="1A1A2E"/>
                </a:solidFill>
                <a:latin typeface="Meiryo" pitchFamily="34" charset="0"/>
                <a:ea typeface="Meiryo" pitchFamily="34" charset="-122"/>
                <a:cs typeface="Meiryo" pitchFamily="34" charset="-120"/>
              </a:rPr>
              <a:t>開発のフロー効率をあげる</a:t>
            </a:r>
            <a:endParaRPr lang="en-US" sz="1400" dirty="0"/>
          </a:p>
        </p:txBody>
      </p:sp>
      <p:sp>
        <p:nvSpPr>
          <p:cNvPr id="24" name="Shape 22"/>
          <p:cNvSpPr/>
          <p:nvPr/>
        </p:nvSpPr>
        <p:spPr>
          <a:xfrm>
            <a:off x="3383280" y="3554843"/>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25" name="Text 23"/>
          <p:cNvSpPr/>
          <p:nvPr/>
        </p:nvSpPr>
        <p:spPr>
          <a:xfrm>
            <a:off x="3383280" y="3627995"/>
            <a:ext cx="2377440" cy="1005840"/>
          </a:xfrm>
          <a:prstGeom prst="rect">
            <a:avLst/>
          </a:prstGeom>
          <a:noFill/>
          <a:ln/>
        </p:spPr>
        <p:txBody>
          <a:bodyPr wrap="square" rtlCol="0" anchor="t"/>
          <a:lstStyle/>
          <a:p>
            <a:pPr marL="0" indent="0" algn="l">
              <a:lnSpc>
                <a:spcPct val="160000"/>
              </a:lnSpc>
              <a:buNone/>
            </a:pPr>
            <a:r>
              <a:rPr lang="en-US" sz="1100" dirty="0">
                <a:solidFill>
                  <a:srgbClr val="1A1A2E"/>
                </a:solidFill>
                <a:latin typeface="Meiryo" pitchFamily="34" charset="0"/>
                <a:ea typeface="Meiryo" pitchFamily="34" charset="-122"/>
                <a:cs typeface="Meiryo" pitchFamily="34" charset="-120"/>
              </a:rPr>
              <a:t>開発工程のムリ・ムダ・ムラをなくし、案件を停滞させずにスムーズに整える。</a:t>
            </a:r>
            <a:endParaRPr lang="en-US" sz="1100" dirty="0"/>
          </a:p>
        </p:txBody>
      </p:sp>
      <p:sp>
        <p:nvSpPr>
          <p:cNvPr id="26" name="Shape 24"/>
          <p:cNvSpPr/>
          <p:nvPr/>
        </p:nvSpPr>
        <p:spPr>
          <a:xfrm>
            <a:off x="6126480" y="2549003"/>
            <a:ext cx="2651760" cy="2195013"/>
          </a:xfrm>
          <a:prstGeom prst="roundRect">
            <a:avLst>
              <a:gd name="adj" fmla="val 1277"/>
            </a:avLst>
          </a:prstGeom>
          <a:solidFill>
            <a:srgbClr val="F5F5F5"/>
          </a:solidFill>
          <a:ln/>
        </p:spPr>
        <p:txBody>
          <a:bodyPr/>
          <a:lstStyle/>
          <a:p>
            <a:endParaRPr lang="ja-JP" altLang="en-US"/>
          </a:p>
        </p:txBody>
      </p:sp>
      <p:sp>
        <p:nvSpPr>
          <p:cNvPr id="27" name="Shape 25"/>
          <p:cNvSpPr/>
          <p:nvPr/>
        </p:nvSpPr>
        <p:spPr>
          <a:xfrm>
            <a:off x="6126480" y="2549003"/>
            <a:ext cx="2651760" cy="36576"/>
          </a:xfrm>
          <a:prstGeom prst="rect">
            <a:avLst/>
          </a:prstGeom>
          <a:solidFill>
            <a:srgbClr val="546E8A"/>
          </a:solidFill>
          <a:ln/>
        </p:spPr>
        <p:txBody>
          <a:bodyPr/>
          <a:lstStyle/>
          <a:p>
            <a:endParaRPr lang="ja-JP" altLang="en-US"/>
          </a:p>
        </p:txBody>
      </p:sp>
      <p:sp>
        <p:nvSpPr>
          <p:cNvPr id="28" name="Text 26"/>
          <p:cNvSpPr/>
          <p:nvPr/>
        </p:nvSpPr>
        <p:spPr>
          <a:xfrm>
            <a:off x="6263640" y="2686163"/>
            <a:ext cx="1828800" cy="256032"/>
          </a:xfrm>
          <a:prstGeom prst="rect">
            <a:avLst/>
          </a:prstGeom>
          <a:noFill/>
          <a:ln/>
        </p:spPr>
        <p:txBody>
          <a:bodyPr wrap="square" rtlCol="0" anchor="ctr"/>
          <a:lstStyle/>
          <a:p>
            <a:pPr marL="0" indent="0" algn="l">
              <a:buNone/>
            </a:pPr>
            <a:r>
              <a:rPr lang="en-US" sz="1100" b="1" dirty="0">
                <a:solidFill>
                  <a:srgbClr val="546E8A"/>
                </a:solidFill>
                <a:latin typeface="Meiryo" pitchFamily="34" charset="0"/>
                <a:ea typeface="Meiryo" pitchFamily="34" charset="-122"/>
                <a:cs typeface="Meiryo" pitchFamily="34" charset="-120"/>
              </a:rPr>
              <a:t>アプローチ ③</a:t>
            </a:r>
            <a:endParaRPr lang="en-US" sz="1100" dirty="0"/>
          </a:p>
        </p:txBody>
      </p:sp>
      <p:sp>
        <p:nvSpPr>
          <p:cNvPr id="29" name="Text 27"/>
          <p:cNvSpPr/>
          <p:nvPr/>
        </p:nvSpPr>
        <p:spPr>
          <a:xfrm>
            <a:off x="6263640" y="2960483"/>
            <a:ext cx="2377440" cy="292608"/>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学習ループを回す</a:t>
            </a:r>
            <a:endParaRPr lang="en-US" sz="1400" dirty="0"/>
          </a:p>
        </p:txBody>
      </p:sp>
      <p:sp>
        <p:nvSpPr>
          <p:cNvPr id="30" name="Text 28"/>
          <p:cNvSpPr/>
          <p:nvPr/>
        </p:nvSpPr>
        <p:spPr>
          <a:xfrm>
            <a:off x="6263640" y="3262235"/>
            <a:ext cx="237744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結果を次の判断に繋ぐ</a:t>
            </a:r>
            <a:endParaRPr lang="en-US" sz="1100" dirty="0"/>
          </a:p>
        </p:txBody>
      </p:sp>
      <p:sp>
        <p:nvSpPr>
          <p:cNvPr id="31" name="Shape 29"/>
          <p:cNvSpPr/>
          <p:nvPr/>
        </p:nvSpPr>
        <p:spPr>
          <a:xfrm>
            <a:off x="6263640" y="3554843"/>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32" name="Text 30"/>
          <p:cNvSpPr/>
          <p:nvPr/>
        </p:nvSpPr>
        <p:spPr>
          <a:xfrm>
            <a:off x="6263639" y="3627995"/>
            <a:ext cx="2512807" cy="1005840"/>
          </a:xfrm>
          <a:prstGeom prst="rect">
            <a:avLst/>
          </a:prstGeom>
          <a:noFill/>
          <a:ln/>
        </p:spPr>
        <p:txBody>
          <a:bodyPr wrap="square" rtlCol="0" anchor="t"/>
          <a:lstStyle/>
          <a:p>
            <a:pPr marL="0" indent="0" algn="l">
              <a:lnSpc>
                <a:spcPct val="160000"/>
              </a:lnSpc>
              <a:buNone/>
            </a:pPr>
            <a:r>
              <a:rPr lang="en-US" sz="1100" dirty="0" err="1">
                <a:solidFill>
                  <a:srgbClr val="1A1A2E"/>
                </a:solidFill>
                <a:latin typeface="Meiryo" pitchFamily="34" charset="0"/>
                <a:ea typeface="Meiryo" pitchFamily="34" charset="-122"/>
                <a:cs typeface="Meiryo" pitchFamily="34" charset="-120"/>
              </a:rPr>
              <a:t>リリースして終わりにせず、お客様の反応を見て「次に何をやるか／やめるか」を決める</a:t>
            </a:r>
            <a:r>
              <a:rPr lang="en-US" sz="1100" dirty="0">
                <a:solidFill>
                  <a:srgbClr val="1A1A2E"/>
                </a:solidFill>
                <a:latin typeface="Meiryo" pitchFamily="34" charset="0"/>
                <a:ea typeface="Meiryo" pitchFamily="34" charset="-122"/>
                <a:cs typeface="Meiryo"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1549997"/>
            <a:ext cx="8412480" cy="320040"/>
          </a:xfrm>
          <a:prstGeom prst="rect">
            <a:avLst/>
          </a:prstGeom>
          <a:noFill/>
          <a:ln/>
        </p:spPr>
        <p:txBody>
          <a:bodyPr wrap="square" rtlCol="0" anchor="ctr"/>
          <a:lstStyle/>
          <a:p>
            <a:pPr marL="0" indent="0" algn="ctr">
              <a:buNone/>
            </a:pPr>
            <a:r>
              <a:rPr lang="en-US" sz="1200" dirty="0" err="1">
                <a:solidFill>
                  <a:srgbClr val="444466"/>
                </a:solidFill>
                <a:latin typeface="Meiryo" pitchFamily="34" charset="0"/>
                <a:ea typeface="Meiryo" pitchFamily="34" charset="-122"/>
                <a:cs typeface="Meiryo" pitchFamily="34" charset="-120"/>
              </a:rPr>
              <a:t>事業成果をスピーディーに出し続けるために試行回数と施策精度向上をねらう</a:t>
            </a:r>
            <a:endParaRPr lang="en-US" sz="1200" dirty="0"/>
          </a:p>
        </p:txBody>
      </p:sp>
      <p:sp>
        <p:nvSpPr>
          <p:cNvPr id="7" name="Text 5"/>
          <p:cNvSpPr/>
          <p:nvPr/>
        </p:nvSpPr>
        <p:spPr>
          <a:xfrm>
            <a:off x="786384" y="947569"/>
            <a:ext cx="2103120" cy="640080"/>
          </a:xfrm>
          <a:prstGeom prst="rect">
            <a:avLst/>
          </a:prstGeom>
          <a:noFill/>
          <a:ln/>
        </p:spPr>
        <p:txBody>
          <a:bodyPr wrap="square" rtlCol="0" anchor="ctr"/>
          <a:lstStyle/>
          <a:p>
            <a:pPr marL="0" indent="0" algn="ctr">
              <a:buNone/>
            </a:pPr>
            <a:r>
              <a:rPr lang="en-US" sz="2600" b="1" dirty="0">
                <a:solidFill>
                  <a:srgbClr val="004098"/>
                </a:solidFill>
                <a:latin typeface="Meiryo" pitchFamily="34" charset="0"/>
                <a:ea typeface="Meiryo" pitchFamily="34" charset="-122"/>
                <a:cs typeface="Meiryo" pitchFamily="34" charset="-120"/>
              </a:rPr>
              <a:t>試行回数</a:t>
            </a:r>
            <a:endParaRPr lang="en-US" sz="2600" dirty="0"/>
          </a:p>
        </p:txBody>
      </p:sp>
      <p:sp>
        <p:nvSpPr>
          <p:cNvPr id="8" name="Text 6"/>
          <p:cNvSpPr/>
          <p:nvPr/>
        </p:nvSpPr>
        <p:spPr>
          <a:xfrm>
            <a:off x="2999232" y="947569"/>
            <a:ext cx="411480" cy="640080"/>
          </a:xfrm>
          <a:prstGeom prst="rect">
            <a:avLst/>
          </a:prstGeom>
          <a:noFill/>
          <a:ln/>
        </p:spPr>
        <p:txBody>
          <a:bodyPr wrap="square" rtlCol="0" anchor="ctr"/>
          <a:lstStyle/>
          <a:p>
            <a:pPr marL="0" indent="0" algn="ctr">
              <a:buNone/>
            </a:pPr>
            <a:r>
              <a:rPr lang="en-US" sz="2800" b="1" dirty="0">
                <a:solidFill>
                  <a:srgbClr val="1A1A2E"/>
                </a:solidFill>
                <a:latin typeface="Arial" pitchFamily="34" charset="0"/>
                <a:ea typeface="Arial" pitchFamily="34" charset="-122"/>
                <a:cs typeface="Arial" pitchFamily="34" charset="-120"/>
              </a:rPr>
              <a:t>×</a:t>
            </a:r>
            <a:endParaRPr lang="en-US" sz="2800" dirty="0"/>
          </a:p>
        </p:txBody>
      </p:sp>
      <p:sp>
        <p:nvSpPr>
          <p:cNvPr id="9" name="Text 7"/>
          <p:cNvSpPr/>
          <p:nvPr/>
        </p:nvSpPr>
        <p:spPr>
          <a:xfrm>
            <a:off x="3520440" y="947569"/>
            <a:ext cx="2103120" cy="640080"/>
          </a:xfrm>
          <a:prstGeom prst="rect">
            <a:avLst/>
          </a:prstGeom>
          <a:noFill/>
          <a:ln/>
        </p:spPr>
        <p:txBody>
          <a:bodyPr wrap="square" rtlCol="0" anchor="ctr"/>
          <a:lstStyle/>
          <a:p>
            <a:pPr marL="0" indent="0" algn="ctr">
              <a:buNone/>
            </a:pPr>
            <a:r>
              <a:rPr lang="en-US" sz="2600" b="1" dirty="0">
                <a:solidFill>
                  <a:srgbClr val="546E8A"/>
                </a:solidFill>
                <a:latin typeface="Meiryo" pitchFamily="34" charset="0"/>
                <a:ea typeface="Meiryo" pitchFamily="34" charset="-122"/>
                <a:cs typeface="Meiryo" pitchFamily="34" charset="-120"/>
              </a:rPr>
              <a:t>施策の精度</a:t>
            </a:r>
            <a:endParaRPr lang="en-US" sz="2600" dirty="0"/>
          </a:p>
        </p:txBody>
      </p:sp>
      <p:sp>
        <p:nvSpPr>
          <p:cNvPr id="10" name="Text 8"/>
          <p:cNvSpPr/>
          <p:nvPr/>
        </p:nvSpPr>
        <p:spPr>
          <a:xfrm>
            <a:off x="5733288" y="947569"/>
            <a:ext cx="411480" cy="640080"/>
          </a:xfrm>
          <a:prstGeom prst="rect">
            <a:avLst/>
          </a:prstGeom>
          <a:noFill/>
          <a:ln/>
        </p:spPr>
        <p:txBody>
          <a:bodyPr wrap="square" rtlCol="0" anchor="ctr"/>
          <a:lstStyle/>
          <a:p>
            <a:pPr marL="0" indent="0" algn="ctr">
              <a:buNone/>
            </a:pPr>
            <a:r>
              <a:rPr lang="en-US" sz="2800" b="1" dirty="0">
                <a:solidFill>
                  <a:srgbClr val="1A1A2E"/>
                </a:solidFill>
                <a:latin typeface="Arial" pitchFamily="34" charset="0"/>
                <a:ea typeface="Arial" pitchFamily="34" charset="-122"/>
                <a:cs typeface="Arial" pitchFamily="34" charset="-120"/>
              </a:rPr>
              <a:t>＝</a:t>
            </a:r>
            <a:endParaRPr lang="en-US" sz="2800" dirty="0"/>
          </a:p>
        </p:txBody>
      </p:sp>
      <p:sp>
        <p:nvSpPr>
          <p:cNvPr id="11" name="Text 9"/>
          <p:cNvSpPr/>
          <p:nvPr/>
        </p:nvSpPr>
        <p:spPr>
          <a:xfrm>
            <a:off x="6254496" y="947569"/>
            <a:ext cx="2103120" cy="640080"/>
          </a:xfrm>
          <a:prstGeom prst="rect">
            <a:avLst/>
          </a:prstGeom>
          <a:noFill/>
          <a:ln/>
        </p:spPr>
        <p:txBody>
          <a:bodyPr wrap="square" rtlCol="0" anchor="ctr"/>
          <a:lstStyle/>
          <a:p>
            <a:pPr marL="0" indent="0" algn="ctr">
              <a:buNone/>
            </a:pPr>
            <a:r>
              <a:rPr lang="en-US" sz="2600" b="1" dirty="0">
                <a:solidFill>
                  <a:srgbClr val="1A1A2E"/>
                </a:solidFill>
                <a:latin typeface="Meiryo" pitchFamily="34" charset="0"/>
                <a:ea typeface="Meiryo" pitchFamily="34" charset="-122"/>
                <a:cs typeface="Meiryo" pitchFamily="34" charset="-120"/>
              </a:rPr>
              <a:t>事業成果</a:t>
            </a:r>
            <a:endParaRPr lang="en-US" sz="2600" dirty="0"/>
          </a:p>
        </p:txBody>
      </p:sp>
      <p:sp>
        <p:nvSpPr>
          <p:cNvPr id="13" name="Shape 11"/>
          <p:cNvSpPr/>
          <p:nvPr/>
        </p:nvSpPr>
        <p:spPr>
          <a:xfrm>
            <a:off x="365760" y="196596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4" name="Shape 12"/>
          <p:cNvSpPr/>
          <p:nvPr/>
        </p:nvSpPr>
        <p:spPr>
          <a:xfrm>
            <a:off x="365760" y="2148840"/>
            <a:ext cx="8412480" cy="1325880"/>
          </a:xfrm>
          <a:prstGeom prst="roundRect">
            <a:avLst>
              <a:gd name="adj" fmla="val 2069"/>
            </a:avLst>
          </a:prstGeom>
          <a:solidFill>
            <a:srgbClr val="F5F5F5"/>
          </a:solidFill>
          <a:ln/>
        </p:spPr>
        <p:txBody>
          <a:bodyPr/>
          <a:lstStyle/>
          <a:p>
            <a:endParaRPr lang="ja-JP" altLang="en-US"/>
          </a:p>
        </p:txBody>
      </p:sp>
      <p:sp>
        <p:nvSpPr>
          <p:cNvPr id="15" name="Text 13"/>
          <p:cNvSpPr/>
          <p:nvPr/>
        </p:nvSpPr>
        <p:spPr>
          <a:xfrm>
            <a:off x="434247" y="2284753"/>
            <a:ext cx="3325091" cy="274320"/>
          </a:xfrm>
          <a:prstGeom prst="rect">
            <a:avLst/>
          </a:prstGeom>
          <a:noFill/>
          <a:ln/>
        </p:spPr>
        <p:txBody>
          <a:bodyPr wrap="square" rtlCol="0" anchor="ctr"/>
          <a:lstStyle/>
          <a:p>
            <a:pPr marL="0" indent="0" algn="l">
              <a:buNone/>
            </a:pPr>
            <a:r>
              <a:rPr lang="en-US" sz="1600" b="1" dirty="0">
                <a:solidFill>
                  <a:srgbClr val="004098"/>
                </a:solidFill>
                <a:latin typeface="Arial" pitchFamily="34" charset="0"/>
                <a:ea typeface="Arial" pitchFamily="34" charset="-122"/>
                <a:cs typeface="Arial" pitchFamily="34" charset="-120"/>
              </a:rPr>
              <a:t>KPI </a:t>
            </a:r>
            <a:r>
              <a:rPr lang="en-US" sz="1600" b="1" dirty="0">
                <a:solidFill>
                  <a:srgbClr val="004098"/>
                </a:solidFill>
                <a:latin typeface="Meiryo" pitchFamily="34" charset="0"/>
                <a:ea typeface="Meiryo" pitchFamily="34" charset="-122"/>
                <a:cs typeface="Meiryo" pitchFamily="34" charset="-120"/>
              </a:rPr>
              <a:t>①　試行回数</a:t>
            </a:r>
            <a:endParaRPr lang="en-US" sz="1600" dirty="0"/>
          </a:p>
        </p:txBody>
      </p:sp>
      <p:sp>
        <p:nvSpPr>
          <p:cNvPr id="16" name="Text 14"/>
          <p:cNvSpPr/>
          <p:nvPr/>
        </p:nvSpPr>
        <p:spPr>
          <a:xfrm>
            <a:off x="432099" y="2650045"/>
            <a:ext cx="8046720" cy="365760"/>
          </a:xfrm>
          <a:prstGeom prst="rect">
            <a:avLst/>
          </a:prstGeom>
          <a:noFill/>
          <a:ln/>
        </p:spPr>
        <p:txBody>
          <a:bodyPr wrap="square" rtlCol="0" anchor="ctr"/>
          <a:lstStyle/>
          <a:p>
            <a:pPr marL="0" indent="0" algn="l">
              <a:buNone/>
            </a:pPr>
            <a:r>
              <a:rPr lang="en-US" sz="1600" b="1" dirty="0">
                <a:solidFill>
                  <a:srgbClr val="1A1A2E"/>
                </a:solidFill>
                <a:latin typeface="Meiryo" pitchFamily="34" charset="0"/>
                <a:ea typeface="Meiryo" pitchFamily="34" charset="-122"/>
                <a:cs typeface="Meiryo" pitchFamily="34" charset="-120"/>
              </a:rPr>
              <a:t>顧客価値領域の施策について、企画からリリースまでのリードタイムが平均1ヶ月以内</a:t>
            </a:r>
            <a:endParaRPr lang="en-US" sz="1600" dirty="0"/>
          </a:p>
        </p:txBody>
      </p:sp>
      <p:sp>
        <p:nvSpPr>
          <p:cNvPr id="17" name="Text 15"/>
          <p:cNvSpPr/>
          <p:nvPr/>
        </p:nvSpPr>
        <p:spPr>
          <a:xfrm>
            <a:off x="432099" y="3087523"/>
            <a:ext cx="8046720" cy="274320"/>
          </a:xfrm>
          <a:prstGeom prst="rect">
            <a:avLst/>
          </a:prstGeom>
          <a:noFill/>
          <a:ln/>
        </p:spPr>
        <p:txBody>
          <a:bodyPr wrap="square" rtlCol="0" anchor="ctr"/>
          <a:lstStyle/>
          <a:p>
            <a:pPr marL="0" indent="0" algn="l">
              <a:buNone/>
            </a:pPr>
            <a:r>
              <a:rPr lang="en-US" sz="1400" dirty="0">
                <a:solidFill>
                  <a:srgbClr val="444466"/>
                </a:solidFill>
                <a:latin typeface="Meiryo" pitchFamily="34" charset="0"/>
                <a:ea typeface="Meiryo" pitchFamily="34" charset="-122"/>
                <a:cs typeface="Meiryo" pitchFamily="34" charset="-120"/>
              </a:rPr>
              <a:t>思いついてから届けるまでの時間が短い ＝ 試行回数が増える</a:t>
            </a:r>
            <a:endParaRPr lang="en-US" sz="1400" dirty="0"/>
          </a:p>
        </p:txBody>
      </p:sp>
      <p:sp>
        <p:nvSpPr>
          <p:cNvPr id="18" name="Shape 16"/>
          <p:cNvSpPr/>
          <p:nvPr/>
        </p:nvSpPr>
        <p:spPr>
          <a:xfrm>
            <a:off x="365760" y="3611880"/>
            <a:ext cx="8412480" cy="1325880"/>
          </a:xfrm>
          <a:prstGeom prst="roundRect">
            <a:avLst>
              <a:gd name="adj" fmla="val 2069"/>
            </a:avLst>
          </a:prstGeom>
          <a:solidFill>
            <a:srgbClr val="F5F5F5"/>
          </a:solidFill>
          <a:ln/>
        </p:spPr>
        <p:txBody>
          <a:bodyPr/>
          <a:lstStyle/>
          <a:p>
            <a:endParaRPr lang="ja-JP" altLang="en-US"/>
          </a:p>
        </p:txBody>
      </p:sp>
      <p:sp>
        <p:nvSpPr>
          <p:cNvPr id="19" name="Text 17"/>
          <p:cNvSpPr/>
          <p:nvPr/>
        </p:nvSpPr>
        <p:spPr>
          <a:xfrm>
            <a:off x="434247" y="3747793"/>
            <a:ext cx="3325091" cy="274320"/>
          </a:xfrm>
          <a:prstGeom prst="rect">
            <a:avLst/>
          </a:prstGeom>
          <a:noFill/>
          <a:ln/>
        </p:spPr>
        <p:txBody>
          <a:bodyPr wrap="square" rtlCol="0" anchor="ctr"/>
          <a:lstStyle/>
          <a:p>
            <a:pPr marL="0" indent="0" algn="l">
              <a:buNone/>
            </a:pPr>
            <a:r>
              <a:rPr lang="en-US" sz="1600" b="1" dirty="0">
                <a:solidFill>
                  <a:schemeClr val="accent1"/>
                </a:solidFill>
                <a:latin typeface="Arial" pitchFamily="34" charset="0"/>
                <a:ea typeface="Arial" pitchFamily="34" charset="-122"/>
                <a:cs typeface="Arial" pitchFamily="34" charset="-120"/>
              </a:rPr>
              <a:t>KPI </a:t>
            </a:r>
            <a:r>
              <a:rPr lang="en-US" sz="1600" b="1" dirty="0">
                <a:solidFill>
                  <a:schemeClr val="accent1"/>
                </a:solidFill>
                <a:latin typeface="Meiryo" pitchFamily="34" charset="0"/>
                <a:ea typeface="Meiryo" pitchFamily="34" charset="-122"/>
                <a:cs typeface="Meiryo" pitchFamily="34" charset="-120"/>
              </a:rPr>
              <a:t>②　施策の精度</a:t>
            </a:r>
            <a:endParaRPr lang="en-US" sz="1600" dirty="0">
              <a:solidFill>
                <a:schemeClr val="accent1"/>
              </a:solidFill>
            </a:endParaRPr>
          </a:p>
        </p:txBody>
      </p:sp>
      <p:sp>
        <p:nvSpPr>
          <p:cNvPr id="20" name="Text 18"/>
          <p:cNvSpPr/>
          <p:nvPr/>
        </p:nvSpPr>
        <p:spPr>
          <a:xfrm>
            <a:off x="432099" y="4113085"/>
            <a:ext cx="8046720" cy="365760"/>
          </a:xfrm>
          <a:prstGeom prst="rect">
            <a:avLst/>
          </a:prstGeom>
          <a:noFill/>
          <a:ln/>
        </p:spPr>
        <p:txBody>
          <a:bodyPr wrap="square" rtlCol="0" anchor="ctr"/>
          <a:lstStyle/>
          <a:p>
            <a:pPr marL="0" indent="0" algn="l">
              <a:buNone/>
            </a:pPr>
            <a:r>
              <a:rPr lang="en-US" sz="1600" b="1" dirty="0">
                <a:solidFill>
                  <a:srgbClr val="1A1A2E"/>
                </a:solidFill>
                <a:latin typeface="Meiryo" pitchFamily="34" charset="0"/>
                <a:ea typeface="Meiryo" pitchFamily="34" charset="-122"/>
                <a:cs typeface="Meiryo" pitchFamily="34" charset="-120"/>
              </a:rPr>
              <a:t>リリース後の検証結果 → 次の施策への反映までのリードタイムが平均1ヶ月以内</a:t>
            </a:r>
            <a:endParaRPr lang="en-US" sz="1600" dirty="0"/>
          </a:p>
        </p:txBody>
      </p:sp>
      <p:sp>
        <p:nvSpPr>
          <p:cNvPr id="21" name="Text 19"/>
          <p:cNvSpPr/>
          <p:nvPr/>
        </p:nvSpPr>
        <p:spPr>
          <a:xfrm>
            <a:off x="432099" y="4550563"/>
            <a:ext cx="8046720" cy="274320"/>
          </a:xfrm>
          <a:prstGeom prst="rect">
            <a:avLst/>
          </a:prstGeom>
          <a:noFill/>
          <a:ln/>
        </p:spPr>
        <p:txBody>
          <a:bodyPr wrap="square" rtlCol="0" anchor="ctr"/>
          <a:lstStyle/>
          <a:p>
            <a:pPr marL="0" indent="0" algn="l">
              <a:buNone/>
            </a:pPr>
            <a:r>
              <a:rPr lang="en-US" sz="1400" dirty="0">
                <a:solidFill>
                  <a:srgbClr val="444466"/>
                </a:solidFill>
                <a:latin typeface="Meiryo" pitchFamily="34" charset="0"/>
                <a:ea typeface="Meiryo" pitchFamily="34" charset="-122"/>
                <a:cs typeface="Meiryo" pitchFamily="34" charset="-120"/>
              </a:rPr>
              <a:t>出した結果を見て「次に何をやるか」を変えられる ＝ 施策の精度が上がる</a:t>
            </a:r>
            <a:endParaRPr lang="en-US" sz="1400" dirty="0"/>
          </a:p>
        </p:txBody>
      </p:sp>
      <p:sp>
        <p:nvSpPr>
          <p:cNvPr id="22" name="Text 8">
            <a:extLst>
              <a:ext uri="{FF2B5EF4-FFF2-40B4-BE49-F238E27FC236}">
                <a16:creationId xmlns:a16="http://schemas.microsoft.com/office/drawing/2014/main" id="{2A017B89-D994-4E95-F056-5D42CBF03EF5}"/>
              </a:ext>
            </a:extLst>
          </p:cNvPr>
          <p:cNvSpPr/>
          <p:nvPr/>
        </p:nvSpPr>
        <p:spPr>
          <a:xfrm>
            <a:off x="365760" y="492509"/>
            <a:ext cx="8412480" cy="292608"/>
          </a:xfrm>
          <a:prstGeom prst="rect">
            <a:avLst/>
          </a:prstGeom>
          <a:noFill/>
          <a:ln/>
        </p:spPr>
        <p:txBody>
          <a:bodyPr wrap="square" rtlCol="0" anchor="ctr"/>
          <a:lstStyle/>
          <a:p>
            <a:pPr marL="0" indent="0" algn="l">
              <a:buNone/>
            </a:pPr>
            <a:r>
              <a:rPr lang="en-US" sz="1400" b="1" dirty="0" err="1">
                <a:solidFill>
                  <a:srgbClr val="004098"/>
                </a:solidFill>
                <a:latin typeface="Meiryo" pitchFamily="34" charset="0"/>
                <a:ea typeface="Meiryo" pitchFamily="34" charset="-122"/>
                <a:cs typeface="Meiryo" pitchFamily="34" charset="-120"/>
              </a:rPr>
              <a:t>KRを達成するための指標はなにか</a:t>
            </a:r>
            <a:r>
              <a:rPr lang="en-US" sz="1400" b="1" dirty="0">
                <a:solidFill>
                  <a:srgbClr val="004098"/>
                </a:solidFill>
                <a:latin typeface="Meiryo" pitchFamily="34" charset="0"/>
                <a:ea typeface="Meiryo" pitchFamily="34" charset="-122"/>
                <a:cs typeface="Meiryo"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 ＞ KPI ① 試行回数</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365760"/>
            <a:ext cx="3657600" cy="256032"/>
          </a:xfrm>
          <a:prstGeom prst="rect">
            <a:avLst/>
          </a:prstGeom>
          <a:noFill/>
          <a:ln/>
        </p:spPr>
        <p:txBody>
          <a:bodyPr wrap="square" rtlCol="0" anchor="ctr"/>
          <a:lstStyle/>
          <a:p>
            <a:pPr marL="0" indent="0" algn="l">
              <a:buNone/>
            </a:pPr>
            <a:r>
              <a:rPr lang="en-US" sz="1100" b="1" dirty="0">
                <a:solidFill>
                  <a:srgbClr val="004098"/>
                </a:solidFill>
                <a:latin typeface="Arial" pitchFamily="34" charset="0"/>
                <a:ea typeface="Arial" pitchFamily="34" charset="-122"/>
                <a:cs typeface="Arial" pitchFamily="34" charset="-120"/>
              </a:rPr>
              <a:t>KPI </a:t>
            </a:r>
            <a:r>
              <a:rPr lang="en-US" sz="1100" b="1" dirty="0">
                <a:solidFill>
                  <a:srgbClr val="004098"/>
                </a:solidFill>
                <a:latin typeface="Meiryo" pitchFamily="34" charset="0"/>
                <a:ea typeface="Meiryo" pitchFamily="34" charset="-122"/>
                <a:cs typeface="Meiryo" pitchFamily="34" charset="-120"/>
              </a:rPr>
              <a:t>①　試行回数</a:t>
            </a:r>
            <a:endParaRPr lang="en-US" sz="1100" dirty="0"/>
          </a:p>
        </p:txBody>
      </p:sp>
      <p:sp>
        <p:nvSpPr>
          <p:cNvPr id="7" name="Text 5"/>
          <p:cNvSpPr/>
          <p:nvPr/>
        </p:nvSpPr>
        <p:spPr>
          <a:xfrm>
            <a:off x="365760" y="854874"/>
            <a:ext cx="8412480" cy="411480"/>
          </a:xfrm>
          <a:prstGeom prst="rect">
            <a:avLst/>
          </a:prstGeom>
          <a:noFill/>
          <a:ln/>
        </p:spPr>
        <p:txBody>
          <a:bodyPr wrap="square" rtlCol="0" anchor="ctr"/>
          <a:lstStyle/>
          <a:p>
            <a:pPr marL="0" indent="0" algn="l">
              <a:buNone/>
            </a:pPr>
            <a:r>
              <a:rPr lang="en-US" sz="1600" b="1" dirty="0" err="1">
                <a:solidFill>
                  <a:srgbClr val="1A1A2E"/>
                </a:solidFill>
                <a:latin typeface="Meiryo" pitchFamily="34" charset="0"/>
                <a:ea typeface="Meiryo" pitchFamily="34" charset="-122"/>
                <a:cs typeface="Meiryo" pitchFamily="34" charset="-120"/>
              </a:rPr>
              <a:t>顧客価値領域の施策について「企画</a:t>
            </a:r>
            <a:r>
              <a:rPr lang="en-US" sz="1600" b="1" dirty="0">
                <a:solidFill>
                  <a:srgbClr val="1A1A2E"/>
                </a:solidFill>
                <a:latin typeface="Meiryo" pitchFamily="34" charset="0"/>
                <a:ea typeface="Meiryo" pitchFamily="34" charset="-122"/>
                <a:cs typeface="Meiryo" pitchFamily="34" charset="-120"/>
              </a:rPr>
              <a:t> </a:t>
            </a:r>
            <a:r>
              <a:rPr lang="en-US" sz="1600" b="1" dirty="0" err="1">
                <a:solidFill>
                  <a:srgbClr val="1A1A2E"/>
                </a:solidFill>
                <a:latin typeface="Meiryo" pitchFamily="34" charset="0"/>
                <a:ea typeface="Meiryo" pitchFamily="34" charset="-122"/>
                <a:cs typeface="Meiryo" pitchFamily="34" charset="-120"/>
              </a:rPr>
              <a:t>から</a:t>
            </a:r>
            <a:r>
              <a:rPr lang="en-US" sz="1600" b="1" dirty="0">
                <a:solidFill>
                  <a:srgbClr val="1A1A2E"/>
                </a:solidFill>
                <a:latin typeface="Meiryo" pitchFamily="34" charset="0"/>
                <a:ea typeface="Meiryo" pitchFamily="34" charset="-122"/>
                <a:cs typeface="Meiryo" pitchFamily="34" charset="-120"/>
              </a:rPr>
              <a:t> リリース」までのリードタイムが平均1ヶ月以内</a:t>
            </a:r>
            <a:endParaRPr lang="en-US" sz="1600" dirty="0"/>
          </a:p>
        </p:txBody>
      </p:sp>
      <p:sp>
        <p:nvSpPr>
          <p:cNvPr id="9" name="Shape 7"/>
          <p:cNvSpPr/>
          <p:nvPr/>
        </p:nvSpPr>
        <p:spPr>
          <a:xfrm>
            <a:off x="365760" y="137160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Shape 8"/>
          <p:cNvSpPr/>
          <p:nvPr/>
        </p:nvSpPr>
        <p:spPr>
          <a:xfrm>
            <a:off x="365760" y="1554480"/>
            <a:ext cx="3977640" cy="3337560"/>
          </a:xfrm>
          <a:prstGeom prst="roundRect">
            <a:avLst>
              <a:gd name="adj" fmla="val 822"/>
            </a:avLst>
          </a:prstGeom>
          <a:solidFill>
            <a:srgbClr val="EEF3FA"/>
          </a:solidFill>
          <a:ln/>
        </p:spPr>
        <p:txBody>
          <a:bodyPr/>
          <a:lstStyle/>
          <a:p>
            <a:endParaRPr lang="ja-JP" altLang="en-US"/>
          </a:p>
        </p:txBody>
      </p:sp>
      <p:sp>
        <p:nvSpPr>
          <p:cNvPr id="12" name="Text 10"/>
          <p:cNvSpPr/>
          <p:nvPr/>
        </p:nvSpPr>
        <p:spPr>
          <a:xfrm>
            <a:off x="526228" y="1691640"/>
            <a:ext cx="1828800" cy="457200"/>
          </a:xfrm>
          <a:prstGeom prst="rect">
            <a:avLst/>
          </a:prstGeom>
          <a:noFill/>
          <a:ln/>
        </p:spPr>
        <p:txBody>
          <a:bodyPr wrap="square" rtlCol="0" anchor="ctr"/>
          <a:lstStyle/>
          <a:p>
            <a:pPr marL="0" indent="0" algn="l">
              <a:buNone/>
            </a:pPr>
            <a:r>
              <a:rPr lang="en-US" sz="1600" b="1" dirty="0">
                <a:solidFill>
                  <a:srgbClr val="444466"/>
                </a:solidFill>
                <a:latin typeface="Meiryo" pitchFamily="34" charset="0"/>
                <a:ea typeface="Meiryo" pitchFamily="34" charset="-122"/>
                <a:cs typeface="Meiryo" pitchFamily="34" charset="-120"/>
              </a:rPr>
              <a:t>理想状態</a:t>
            </a:r>
            <a:endParaRPr lang="en-US" sz="1600" b="1" dirty="0"/>
          </a:p>
        </p:txBody>
      </p:sp>
      <p:sp>
        <p:nvSpPr>
          <p:cNvPr id="13" name="Shape 11"/>
          <p:cNvSpPr/>
          <p:nvPr/>
        </p:nvSpPr>
        <p:spPr>
          <a:xfrm>
            <a:off x="548640" y="2286000"/>
            <a:ext cx="3566160" cy="320040"/>
          </a:xfrm>
          <a:prstGeom prst="roundRect">
            <a:avLst>
              <a:gd name="adj" fmla="val 5714"/>
            </a:avLst>
          </a:prstGeom>
          <a:solidFill>
            <a:srgbClr val="004098"/>
          </a:solidFill>
          <a:ln/>
        </p:spPr>
        <p:txBody>
          <a:bodyPr/>
          <a:lstStyle/>
          <a:p>
            <a:endParaRPr lang="ja-JP" altLang="en-US"/>
          </a:p>
        </p:txBody>
      </p:sp>
      <p:sp>
        <p:nvSpPr>
          <p:cNvPr id="14" name="Text 12"/>
          <p:cNvSpPr/>
          <p:nvPr/>
        </p:nvSpPr>
        <p:spPr>
          <a:xfrm>
            <a:off x="54864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企画 → リリース　平均 1ヶ月以内</a:t>
            </a:r>
            <a:endParaRPr lang="en-US" sz="1200" dirty="0"/>
          </a:p>
        </p:txBody>
      </p:sp>
      <p:sp>
        <p:nvSpPr>
          <p:cNvPr id="15" name="Text 13"/>
          <p:cNvSpPr/>
          <p:nvPr/>
        </p:nvSpPr>
        <p:spPr>
          <a:xfrm>
            <a:off x="54864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試したい施策を、平均1ヶ月以内にお客様に届けて反応を見れる。試行回数が多いから、当たる施策を早く見つけられる。</a:t>
            </a:r>
            <a:endParaRPr lang="en-US" sz="1300" dirty="0"/>
          </a:p>
        </p:txBody>
      </p:sp>
      <p:sp>
        <p:nvSpPr>
          <p:cNvPr id="16" name="Shape 14"/>
          <p:cNvSpPr/>
          <p:nvPr/>
        </p:nvSpPr>
        <p:spPr>
          <a:xfrm>
            <a:off x="4800600" y="1554480"/>
            <a:ext cx="3977640" cy="3337560"/>
          </a:xfrm>
          <a:prstGeom prst="roundRect">
            <a:avLst>
              <a:gd name="adj" fmla="val 822"/>
            </a:avLst>
          </a:prstGeom>
          <a:solidFill>
            <a:srgbClr val="F8FAFC"/>
          </a:solidFill>
          <a:ln/>
        </p:spPr>
        <p:txBody>
          <a:bodyPr/>
          <a:lstStyle/>
          <a:p>
            <a:endParaRPr lang="ja-JP" altLang="en-US"/>
          </a:p>
        </p:txBody>
      </p:sp>
      <p:sp>
        <p:nvSpPr>
          <p:cNvPr id="18" name="Text 16"/>
          <p:cNvSpPr/>
          <p:nvPr/>
        </p:nvSpPr>
        <p:spPr>
          <a:xfrm>
            <a:off x="4869628" y="1691640"/>
            <a:ext cx="1828800" cy="457200"/>
          </a:xfrm>
          <a:prstGeom prst="rect">
            <a:avLst/>
          </a:prstGeom>
          <a:noFill/>
          <a:ln/>
        </p:spPr>
        <p:txBody>
          <a:bodyPr wrap="square" rtlCol="0" anchor="ctr"/>
          <a:lstStyle/>
          <a:p>
            <a:pPr marL="0" indent="0" algn="l">
              <a:buNone/>
            </a:pPr>
            <a:r>
              <a:rPr lang="en-US" sz="1600" b="1" dirty="0">
                <a:solidFill>
                  <a:srgbClr val="444466"/>
                </a:solidFill>
                <a:latin typeface="Meiryo" pitchFamily="34" charset="0"/>
                <a:ea typeface="Meiryo" pitchFamily="34" charset="-122"/>
                <a:cs typeface="Meiryo" pitchFamily="34" charset="-120"/>
              </a:rPr>
              <a:t>最低ライン</a:t>
            </a:r>
            <a:endParaRPr lang="en-US" sz="1600" b="1" dirty="0"/>
          </a:p>
        </p:txBody>
      </p:sp>
      <p:sp>
        <p:nvSpPr>
          <p:cNvPr id="19" name="Shape 17"/>
          <p:cNvSpPr/>
          <p:nvPr/>
        </p:nvSpPr>
        <p:spPr>
          <a:xfrm>
            <a:off x="4983480" y="2286000"/>
            <a:ext cx="3566160" cy="320040"/>
          </a:xfrm>
          <a:prstGeom prst="roundRect">
            <a:avLst>
              <a:gd name="adj" fmla="val 5714"/>
            </a:avLst>
          </a:prstGeom>
          <a:solidFill>
            <a:srgbClr val="757575"/>
          </a:solidFill>
          <a:ln/>
        </p:spPr>
        <p:txBody>
          <a:bodyPr/>
          <a:lstStyle/>
          <a:p>
            <a:endParaRPr lang="ja-JP" altLang="en-US"/>
          </a:p>
        </p:txBody>
      </p:sp>
      <p:sp>
        <p:nvSpPr>
          <p:cNvPr id="20" name="Text 18"/>
          <p:cNvSpPr/>
          <p:nvPr/>
        </p:nvSpPr>
        <p:spPr>
          <a:xfrm>
            <a:off x="498348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企画 → リリース　平均 3ヶ月以上</a:t>
            </a:r>
            <a:endParaRPr lang="en-US" sz="1200" dirty="0"/>
          </a:p>
        </p:txBody>
      </p:sp>
      <p:sp>
        <p:nvSpPr>
          <p:cNvPr id="21" name="Text 19"/>
          <p:cNvSpPr/>
          <p:nvPr/>
        </p:nvSpPr>
        <p:spPr>
          <a:xfrm>
            <a:off x="498348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試したい施策が、お客様に届くまで平均3ヶ月以上かかる。大型案件に引きずられ、新しいことを試す回数が限られる。当たる施策にたどり着く前に時間切れになりやすい。</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 ＞ KPI ② 施策の精度</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365760"/>
            <a:ext cx="3657600" cy="256032"/>
          </a:xfrm>
          <a:prstGeom prst="rect">
            <a:avLst/>
          </a:prstGeom>
          <a:noFill/>
          <a:ln/>
        </p:spPr>
        <p:txBody>
          <a:bodyPr wrap="square" rtlCol="0" anchor="ctr"/>
          <a:lstStyle/>
          <a:p>
            <a:pPr marL="0" indent="0" algn="l">
              <a:buNone/>
            </a:pPr>
            <a:r>
              <a:rPr lang="en-US" sz="1100" b="1" dirty="0">
                <a:solidFill>
                  <a:srgbClr val="546E8A"/>
                </a:solidFill>
                <a:latin typeface="Arial" pitchFamily="34" charset="0"/>
                <a:ea typeface="Arial" pitchFamily="34" charset="-122"/>
                <a:cs typeface="Arial" pitchFamily="34" charset="-120"/>
              </a:rPr>
              <a:t>KPI </a:t>
            </a:r>
            <a:r>
              <a:rPr lang="en-US" sz="1100" b="1" dirty="0">
                <a:solidFill>
                  <a:srgbClr val="546E8A"/>
                </a:solidFill>
                <a:latin typeface="Meiryo" pitchFamily="34" charset="0"/>
                <a:ea typeface="Meiryo" pitchFamily="34" charset="-122"/>
                <a:cs typeface="Meiryo" pitchFamily="34" charset="-120"/>
              </a:rPr>
              <a:t>②　施策の精度</a:t>
            </a:r>
            <a:endParaRPr lang="en-US" sz="1100" dirty="0"/>
          </a:p>
        </p:txBody>
      </p:sp>
      <p:sp>
        <p:nvSpPr>
          <p:cNvPr id="7" name="Text 5"/>
          <p:cNvSpPr/>
          <p:nvPr/>
        </p:nvSpPr>
        <p:spPr>
          <a:xfrm>
            <a:off x="365760" y="765227"/>
            <a:ext cx="8412480" cy="411480"/>
          </a:xfrm>
          <a:prstGeom prst="rect">
            <a:avLst/>
          </a:prstGeom>
          <a:noFill/>
          <a:ln/>
        </p:spPr>
        <p:txBody>
          <a:bodyPr wrap="square" rtlCol="0" anchor="ctr"/>
          <a:lstStyle/>
          <a:p>
            <a:pPr marL="0" indent="0" algn="l">
              <a:buNone/>
            </a:pPr>
            <a:r>
              <a:rPr lang="en-US" sz="1600" b="1" dirty="0">
                <a:solidFill>
                  <a:srgbClr val="1A1A2E"/>
                </a:solidFill>
                <a:latin typeface="Meiryo" pitchFamily="34" charset="0"/>
                <a:ea typeface="Meiryo" pitchFamily="34" charset="-122"/>
                <a:cs typeface="Meiryo" pitchFamily="34" charset="-120"/>
              </a:rPr>
              <a:t>「リリース後の検証から次の施策への反映」までのリードタイムが平均1ヶ月以内</a:t>
            </a:r>
            <a:endParaRPr lang="en-US" sz="1600" dirty="0"/>
          </a:p>
        </p:txBody>
      </p:sp>
      <p:sp>
        <p:nvSpPr>
          <p:cNvPr id="9" name="Shape 7"/>
          <p:cNvSpPr/>
          <p:nvPr/>
        </p:nvSpPr>
        <p:spPr>
          <a:xfrm>
            <a:off x="365760" y="137160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Shape 8"/>
          <p:cNvSpPr/>
          <p:nvPr/>
        </p:nvSpPr>
        <p:spPr>
          <a:xfrm>
            <a:off x="365760" y="1554480"/>
            <a:ext cx="3977640" cy="3337560"/>
          </a:xfrm>
          <a:prstGeom prst="roundRect">
            <a:avLst>
              <a:gd name="adj" fmla="val 822"/>
            </a:avLst>
          </a:prstGeom>
          <a:solidFill>
            <a:srgbClr val="EEF3FA"/>
          </a:solidFill>
          <a:ln/>
        </p:spPr>
        <p:txBody>
          <a:bodyPr/>
          <a:lstStyle/>
          <a:p>
            <a:endParaRPr lang="ja-JP" altLang="en-US"/>
          </a:p>
        </p:txBody>
      </p:sp>
      <p:sp>
        <p:nvSpPr>
          <p:cNvPr id="12" name="Text 10"/>
          <p:cNvSpPr/>
          <p:nvPr/>
        </p:nvSpPr>
        <p:spPr>
          <a:xfrm>
            <a:off x="490369" y="1691640"/>
            <a:ext cx="1828800" cy="457200"/>
          </a:xfrm>
          <a:prstGeom prst="rect">
            <a:avLst/>
          </a:prstGeom>
          <a:noFill/>
          <a:ln/>
        </p:spPr>
        <p:txBody>
          <a:bodyPr wrap="square" rtlCol="0" anchor="ctr"/>
          <a:lstStyle/>
          <a:p>
            <a:pPr marL="0" indent="0" algn="l">
              <a:buNone/>
            </a:pPr>
            <a:r>
              <a:rPr lang="en-US" sz="1600" b="1" dirty="0">
                <a:solidFill>
                  <a:srgbClr val="444466"/>
                </a:solidFill>
                <a:latin typeface="Meiryo" pitchFamily="34" charset="0"/>
                <a:ea typeface="Meiryo" pitchFamily="34" charset="-122"/>
                <a:cs typeface="Meiryo" pitchFamily="34" charset="-120"/>
              </a:rPr>
              <a:t>理想状態</a:t>
            </a:r>
            <a:endParaRPr lang="en-US" sz="1600" b="1" dirty="0"/>
          </a:p>
        </p:txBody>
      </p:sp>
      <p:sp>
        <p:nvSpPr>
          <p:cNvPr id="13" name="Shape 11"/>
          <p:cNvSpPr/>
          <p:nvPr/>
        </p:nvSpPr>
        <p:spPr>
          <a:xfrm>
            <a:off x="548640" y="2286000"/>
            <a:ext cx="3566160" cy="320040"/>
          </a:xfrm>
          <a:prstGeom prst="roundRect">
            <a:avLst>
              <a:gd name="adj" fmla="val 5714"/>
            </a:avLst>
          </a:prstGeom>
          <a:solidFill>
            <a:srgbClr val="004098"/>
          </a:solidFill>
          <a:ln/>
        </p:spPr>
        <p:txBody>
          <a:bodyPr/>
          <a:lstStyle/>
          <a:p>
            <a:endParaRPr lang="ja-JP" altLang="en-US"/>
          </a:p>
        </p:txBody>
      </p:sp>
      <p:sp>
        <p:nvSpPr>
          <p:cNvPr id="14" name="Text 12"/>
          <p:cNvSpPr/>
          <p:nvPr/>
        </p:nvSpPr>
        <p:spPr>
          <a:xfrm>
            <a:off x="54864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検証 → 次の施策へ反映　平均 1ヶ月以内</a:t>
            </a:r>
            <a:endParaRPr lang="en-US" sz="1200" dirty="0"/>
          </a:p>
        </p:txBody>
      </p:sp>
      <p:sp>
        <p:nvSpPr>
          <p:cNvPr id="15" name="Text 13"/>
          <p:cNvSpPr/>
          <p:nvPr/>
        </p:nvSpPr>
        <p:spPr>
          <a:xfrm>
            <a:off x="54864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効果のない施策を早く止めて、効く施策に人手を寄せられる。同じリソースでも、成果に繋がる仕事の比率が上がる。</a:t>
            </a:r>
            <a:endParaRPr lang="en-US" sz="1300" dirty="0"/>
          </a:p>
        </p:txBody>
      </p:sp>
      <p:sp>
        <p:nvSpPr>
          <p:cNvPr id="16" name="Shape 14"/>
          <p:cNvSpPr/>
          <p:nvPr/>
        </p:nvSpPr>
        <p:spPr>
          <a:xfrm>
            <a:off x="4800600" y="1554480"/>
            <a:ext cx="3977640" cy="3337560"/>
          </a:xfrm>
          <a:prstGeom prst="roundRect">
            <a:avLst>
              <a:gd name="adj" fmla="val 822"/>
            </a:avLst>
          </a:prstGeom>
          <a:solidFill>
            <a:srgbClr val="F8FAFC"/>
          </a:solidFill>
          <a:ln/>
        </p:spPr>
        <p:txBody>
          <a:bodyPr/>
          <a:lstStyle/>
          <a:p>
            <a:endParaRPr lang="ja-JP" altLang="en-US"/>
          </a:p>
        </p:txBody>
      </p:sp>
      <p:sp>
        <p:nvSpPr>
          <p:cNvPr id="18" name="Text 16"/>
          <p:cNvSpPr/>
          <p:nvPr/>
        </p:nvSpPr>
        <p:spPr>
          <a:xfrm>
            <a:off x="4833769" y="1691640"/>
            <a:ext cx="1828800" cy="457200"/>
          </a:xfrm>
          <a:prstGeom prst="rect">
            <a:avLst/>
          </a:prstGeom>
          <a:noFill/>
          <a:ln/>
        </p:spPr>
        <p:txBody>
          <a:bodyPr wrap="square" rtlCol="0" anchor="ctr"/>
          <a:lstStyle/>
          <a:p>
            <a:pPr marL="0" indent="0" algn="l">
              <a:buNone/>
            </a:pPr>
            <a:r>
              <a:rPr lang="en-US" sz="1600" b="1" dirty="0">
                <a:solidFill>
                  <a:srgbClr val="444466"/>
                </a:solidFill>
                <a:latin typeface="Meiryo" pitchFamily="34" charset="0"/>
                <a:ea typeface="Meiryo" pitchFamily="34" charset="-122"/>
                <a:cs typeface="Meiryo" pitchFamily="34" charset="-120"/>
              </a:rPr>
              <a:t>最低ライン</a:t>
            </a:r>
            <a:endParaRPr lang="en-US" sz="1600" b="1" dirty="0"/>
          </a:p>
        </p:txBody>
      </p:sp>
      <p:sp>
        <p:nvSpPr>
          <p:cNvPr id="19" name="Shape 17"/>
          <p:cNvSpPr/>
          <p:nvPr/>
        </p:nvSpPr>
        <p:spPr>
          <a:xfrm>
            <a:off x="4983480" y="2286000"/>
            <a:ext cx="3566160" cy="320040"/>
          </a:xfrm>
          <a:prstGeom prst="roundRect">
            <a:avLst>
              <a:gd name="adj" fmla="val 5714"/>
            </a:avLst>
          </a:prstGeom>
          <a:solidFill>
            <a:srgbClr val="757575"/>
          </a:solidFill>
          <a:ln/>
        </p:spPr>
        <p:txBody>
          <a:bodyPr/>
          <a:lstStyle/>
          <a:p>
            <a:endParaRPr lang="ja-JP" altLang="en-US"/>
          </a:p>
        </p:txBody>
      </p:sp>
      <p:sp>
        <p:nvSpPr>
          <p:cNvPr id="20" name="Text 18"/>
          <p:cNvSpPr/>
          <p:nvPr/>
        </p:nvSpPr>
        <p:spPr>
          <a:xfrm>
            <a:off x="498348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検証 → 次の施策へ反映　3ヶ月以上 or 未反映</a:t>
            </a:r>
            <a:endParaRPr lang="en-US" sz="1200" dirty="0"/>
          </a:p>
        </p:txBody>
      </p:sp>
      <p:sp>
        <p:nvSpPr>
          <p:cNvPr id="21" name="Text 19"/>
          <p:cNvSpPr/>
          <p:nvPr/>
        </p:nvSpPr>
        <p:spPr>
          <a:xfrm>
            <a:off x="498348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効いたかどうかわからないまま次に進む。効果のない施策を止められず、人手が分散したまま成果が出ない。</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241</Words>
  <Application>Microsoft Macintosh PowerPoint</Application>
  <PresentationFormat>画面に合わせる (16:9)</PresentationFormat>
  <Paragraphs>56</Paragraphs>
  <Slides>5</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成果の方程式</dc:title>
  <dc:subject>PptxGenJS Presentation</dc:subject>
  <dc:creator>PptxGenJS</dc:creator>
  <cp:lastModifiedBy>杉﨑　洋平</cp:lastModifiedBy>
  <cp:revision>3</cp:revision>
  <dcterms:created xsi:type="dcterms:W3CDTF">2026-04-15T04:04:17Z</dcterms:created>
  <dcterms:modified xsi:type="dcterms:W3CDTF">2026-04-15T04:23:32Z</dcterms:modified>
</cp:coreProperties>
</file>