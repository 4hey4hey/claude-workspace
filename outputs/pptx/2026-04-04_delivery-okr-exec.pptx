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118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B5B0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デリバリーチーム OKR</a:t>
            </a:r>
            <a:endParaRPr lang="en-US" sz="3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説明・納得感共有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同じ開発投資で施策を速く・多く回すための挑戦目標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2026-04-04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デリバリーマネジメントチーム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118F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118F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このOKRの目的は、同じ開発投資で回せる施策の数とスピードを上げることです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88720"/>
            <a:ext cx="8412480" cy="777240"/>
          </a:xfrm>
          <a:prstGeom prst="roundRect">
            <a:avLst>
              <a:gd name="adj" fmla="val 3529"/>
            </a:avLst>
          </a:prstGeom>
          <a:solidFill>
            <a:srgbClr val="00118F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88720"/>
            <a:ext cx="8138160" cy="7772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FY26中に施策のリードタイムを20%短縮し、手戻りによる無駄な工数を30%削減します。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結果として、会員施策・熱狂顧客獲得・GP送客のすべてが「より多く、より速く」回るようになります。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2606040" cy="1554480"/>
          </a:xfrm>
          <a:prstGeom prst="roundRect">
            <a:avLst>
              <a:gd name="adj" fmla="val 1765"/>
            </a:avLst>
          </a:prstGeom>
          <a:solidFill>
            <a:srgbClr val="F2F2F2"/>
          </a:solidFill>
          <a:ln w="25400">
            <a:solidFill>
              <a:srgbClr val="264A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24028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A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入口を直す（KR1）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2651760"/>
            <a:ext cx="23865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仕様の曖昧さ・判断待ちを排除し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手戻りコストをゼロへ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23260" y="2148840"/>
            <a:ext cx="2606040" cy="1554480"/>
          </a:xfrm>
          <a:prstGeom prst="roundRect">
            <a:avLst>
              <a:gd name="adj" fmla="val 1765"/>
            </a:avLst>
          </a:prstGeom>
          <a:solidFill>
            <a:srgbClr val="F2F2F2"/>
          </a:solidFill>
          <a:ln w="25400">
            <a:solidFill>
              <a:srgbClr val="6F2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2988" y="224028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F23D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流れを速くする（KR2）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2988" y="2651760"/>
            <a:ext cx="23865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着手→リリースのサイクルタイムを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FY26で20%、FY28末で50%短縮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2148840"/>
            <a:ext cx="2606040" cy="1554480"/>
          </a:xfrm>
          <a:prstGeom prst="roundRect">
            <a:avLst>
              <a:gd name="adj" fmla="val 1765"/>
            </a:avLst>
          </a:prstGeom>
          <a:solidFill>
            <a:srgbClr val="F2F2F2"/>
          </a:solidFill>
          <a:ln w="25400">
            <a:solidFill>
              <a:srgbClr val="1D8B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224028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8B5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学んで次に活かす（KR3）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0488" y="2651760"/>
            <a:ext cx="23865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検証結果をPdMに返し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施策の仮説精度を上げ続ける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8404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基盤KR（健全性維持・次期リーダー育成）は上記3KRの前提条件として並走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118F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グループOKRとの紐づけ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デリバリーチームはDPG挑戦KR②「高速プロダクト開発の型」を直接担う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8" name="Image 0" descr="/Users/sugisaki/Documents/Claude/assets/diagrams/okr-hierarc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841248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118F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事業成果への効果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施策リリース頻度が上がり、同じリソースで打てる手が増える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70432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017520"/>
                <a:gridCol w="2651760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現状（As-Is）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FY26末の姿（To-Be）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事業成果への効果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仕様が曖昧なまま着手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→ 手戻りで2-3週間のロス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手戻り30%削減。Ready定義が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標準化され、着手した仕事が一発で通る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同じ人数で回せる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施策数が増える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施策のリードタイムが長く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四半期で出せる施策が限られる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サイクルタイム20%短縮。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着手→リリースが速くなる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施策のリリース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頻度が上がる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「言った通りに出てくるか」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が読めない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スプリントゴール達成率80%以上。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予測可能な開発ラインに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ビジネス側が施策計画を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信頼して先の手を打てる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作ったが効果が測れず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「なんとなく次の施策」に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スプリントレビューで毎回効果検証し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PdMへフィードバック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効かない施策を早期に止め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効く施策に集中できる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118F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KR間の因果構造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入口→フロー→学習の循環が回るほど、投資判断の精度が向上し続ける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8" name="Image 0" descr="/Users/sugisaki/Documents/Claude/assets/diagrams/okr-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8412480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118F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各KRの事業貢献 / KR1・KR2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入口品質とフロー効率の改善が「1週間以内リリース」の前提条件を作る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70432"/>
            <a:ext cx="8412480" cy="274320"/>
          </a:xfrm>
          <a:prstGeom prst="roundRect">
            <a:avLst>
              <a:gd name="adj" fmla="val 10000"/>
            </a:avLst>
          </a:prstGeom>
          <a:solidFill>
            <a:srgbClr val="264AF4"/>
          </a:solidFill>
          <a:ln w="12700">
            <a:solidFill>
              <a:srgbClr val="264A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70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挑戦KR1: 入口品質 — 仕様起因手戻り→ゼロへ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49377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デリバリーチームの取組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DPG KR②への効果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バックログ健全性（Ready比率）80%以上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曖昧な仕様での着手手戻りを根絶。「1週間以内リリース」の前提条件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仕様起因手戻り率30%削減（FY26）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手戻りが減れば同じリソースでより多くの施策を回せる。投資効率の直接改善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PO意思決定リードタイムの短縮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判断待ちの渋滞を解消し、施策の滞留時間を削減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65760" y="2331720"/>
            <a:ext cx="8412480" cy="274320"/>
          </a:xfrm>
          <a:prstGeom prst="roundRect">
            <a:avLst>
              <a:gd name="adj" fmla="val 10000"/>
            </a:avLst>
          </a:prstGeom>
          <a:solidFill>
            <a:srgbClr val="6F23D0"/>
          </a:solidFill>
          <a:ln w="12700">
            <a:solidFill>
              <a:srgbClr val="6F23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挑戦KR2: フロー効率 — サイクルタイム50%短縮（FY28末）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24328"/>
          <a:ext cx="84124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49377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デリバリーチームの取組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DPG KR②への効果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サイクルタイム計測+20%短縮（FY26）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「1週間以内リリース」を数字で追える状態に。現状の実力値を可視化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スプリントゴール達成率80%以上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「言った通りに出てくる」信頼性の確保。ビジネス側評価（KR⑦）に直結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WIP制限の導入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マルチタスクによる全体遅延を防止。1つの施策を最速で完了させる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365760" y="3813048"/>
            <a:ext cx="8412480" cy="384048"/>
          </a:xfrm>
          <a:prstGeom prst="roundRect">
            <a:avLst>
              <a:gd name="adj" fmla="val 7143"/>
            </a:avLst>
          </a:prstGeom>
          <a:solidFill>
            <a:srgbClr val="E8F1FE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381304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「開発が遅いのはエンジニアの手が足りないからではなく、仕様の曖昧さと判断待ちでフローが詰まっているから」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118F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各KRの事業貢献 / KR3・基盤KR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学習ループがKR①（熱狂顧客）の仮説精度を高め、基盤KRが拡大を支える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70432"/>
            <a:ext cx="8412480" cy="274320"/>
          </a:xfrm>
          <a:prstGeom prst="roundRect">
            <a:avLst>
              <a:gd name="adj" fmla="val 10000"/>
            </a:avLst>
          </a:prstGeom>
          <a:solidFill>
            <a:srgbClr val="1D8B56"/>
          </a:solidFill>
          <a:ln w="12700">
            <a:solidFill>
              <a:srgbClr val="1D8B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70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挑戦KR3: 学習ループ — 検証→次の投資判断精度↑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49377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デリバリーチームの取組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DPG KR②・KR①への効果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スプリントレビューに価値検証アジェンダを導入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KR②「検証結果が次の施策に反映」を構造的に実現する仕組み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学習ログ運用+PdMへの月次フィードバック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KR①担当PdMに「効いた/効かなかった」を返し、仮説検証精度を向上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65760" y="2194560"/>
            <a:ext cx="8412480" cy="274320"/>
          </a:xfrm>
          <a:prstGeom prst="roundRect">
            <a:avLst>
              <a:gd name="adj" fmla="val 10000"/>
            </a:avLst>
          </a:prstGeom>
          <a:solidFill>
            <a:srgbClr val="767676"/>
          </a:solidFill>
          <a:ln w="12700">
            <a:solidFill>
              <a:srgbClr val="76767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194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基盤KR: チーム健全性維持 ＋ 次期リーダー育成 — 全KRの前提条件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87168"/>
          <a:ext cx="84124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49377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デリバリーチームの取組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DPG全体への効果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チーム健全性を「良好」以上で維持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持続的に成果を出し続けるための土台。人が壊れたら全KRが止まる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チーフ育成計画マイルストーン100%達成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内製化の拡大=チームを増やす力の確保。リーダーなしではスケールできない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365760" y="3108960"/>
            <a:ext cx="8412480" cy="475488"/>
          </a:xfrm>
          <a:prstGeom prst="roundRect">
            <a:avLst>
              <a:gd name="adj" fmla="val 5769"/>
            </a:avLst>
          </a:prstGeom>
          <a:solidFill>
            <a:srgbClr val="E8F1FE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310896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速く作って、速く学んで、速く軌道修正できる仕組みがKR①（熱狂顧客獲得）の成功確率を高めます。PdMチームとデリバリーチームの両輪が揃ってはじめてmTGの目標が達成可能になります。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65760" y="3657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デリバリーチームとDPG他KRの接続</a:t>
            </a:r>
            <a:endParaRPr lang="en-US" sz="12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93192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4008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DPG KR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デリバリーチームの関わり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KR⑥ コスト削減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手戻り削減=無駄な開発コスト削減。フロー改善=同じリソースでより多くのアウトプット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KR⑦ ビジネス側評価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「言った通りに、言った時期に出てくる」信頼性の向上が評価に直結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118F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FY26 マイルストーン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FY26は仕組みを作る年——Qごとに成果を確認しながら改善サイクルを回す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70432"/>
          <a:ext cx="84124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846320"/>
                <a:gridCol w="256032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時期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デリバリーチームの到達点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DPG KR②との対応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1Q末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サイクルタイム・手戻り率の計測開始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Ready定義を全チーム標準化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スプリントレビューに価値検証アジェンダ導入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KR②1Q「リードタイム計測可能、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2Q目標設定完了」に対応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2Q末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ベースライン確立。改善施策の効果測定開始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WIP制限運用開始。学習ログ蓄積開始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KR②2Q「共通基準の整備完了」に対応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3Q末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サイクルタイム10-15%短縮実現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手戻り率15%削減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PdMへの月次FBが定着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3-4Qは独自マイルストーン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FY26末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サイクルタイム20%短縮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手戻り率30%削減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ゴール達成率80%以上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チーフ育成マイルストーン100%達成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FY27の「35%短縮」「50%削減」への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基盤確立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118F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想定Q&amp;A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経営が気にするQ&amp;Aをあらかじめ準備する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88720"/>
            <a:ext cx="8412480" cy="274320"/>
          </a:xfrm>
          <a:prstGeom prst="roundRect">
            <a:avLst>
              <a:gd name="adj" fmla="val 10000"/>
            </a:avLst>
          </a:prstGeom>
          <a:solidFill>
            <a:srgbClr val="00118F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Q1. 「これでKR②の『1週間以内リリース』は達成できるのか？」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8229600" cy="585216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A: FY26で20%短縮 → FY28末に50%短縮が目標。機能を小さく分割して1スプリント以内の単位にすることで、KR②の本質（高速に仮説検証を回す）は実現できます。1Q中にベースライン計測を完了し、具体的な目標数値を設定します。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8412480" cy="274320"/>
          </a:xfrm>
          <a:prstGeom prst="roundRect">
            <a:avLst>
              <a:gd name="adj" fmla="val 10000"/>
            </a:avLst>
          </a:prstGeom>
          <a:solidFill>
            <a:srgbClr val="00118F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Q3. 「内製化チームを増やす方が先ではないか？」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377440"/>
            <a:ext cx="8229600" cy="585216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A: 増やすべきときは来ます。ただし今のプロセスのまま人を増やしても、手戻りと判断待ちが比例して増えるだけです。FY26でプロセスの品質を上げ（KR1・KR2）、同時にチーフ育成（基盤KR2）を進めることで、FY27以降の組織拡大に耐えうる基盤を作ります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8412480" cy="274320"/>
          </a:xfrm>
          <a:prstGeom prst="roundRect">
            <a:avLst>
              <a:gd name="adj" fmla="val 10000"/>
            </a:avLst>
          </a:prstGeom>
          <a:solidFill>
            <a:srgbClr val="00118F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Q4. 「3年計画は長すぎないか？スピード感がない」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291840"/>
            <a:ext cx="8229600" cy="585216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A: 3年は最終ターゲットであり、FY26だけでもサイクルタイム20%短縮＋手戻り30%削減という具体的な成果を出します。1Qごとにマイルストーンを設定しており、効果が出ない場合はQごとに施策を修正します。遅い投資ではなく、確実に効く投資です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118F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ネクストアクション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FY26 1Q中に計測基盤を立ち上げ、今日から仕組みを動かし始める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70432"/>
            <a:ext cx="8412480" cy="73152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 w="25400">
            <a:solidFill>
              <a:srgbClr val="0011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704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このOKRにご承認・ご納得いただいた後、以下3点をQ1中に立ち上げます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965960"/>
          <a:ext cx="841248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011680"/>
                <a:gridCol w="16459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アクション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担い手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期限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サイクルタイム・手戻り率の計測ダッシュボード構築開始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SM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2026-04末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Ready定義（受入条件テンプレ）の全チーム標準化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PO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2026-04末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スプリントレビューへの価値検証アジェンダ追加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PO+SM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次スプリントから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65760" y="3410712"/>
            <a:ext cx="8412480" cy="475488"/>
          </a:xfrm>
          <a:prstGeom prst="roundRect">
            <a:avLst>
              <a:gd name="adj" fmla="val 5769"/>
            </a:avLst>
          </a:prstGeom>
          <a:solidFill>
            <a:srgbClr val="E8F1FE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41071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本OKRはDPG挑戦KR②「高速プロダクト開発の型」の現場実行計画です。及川GMのOKRをデリバリーチームが「仕組みとして動かす」ことをコミットします。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3959352"/>
            <a:ext cx="8412480" cy="640080"/>
          </a:xfrm>
          <a:prstGeom prst="roundRect">
            <a:avLst>
              <a:gd name="adj" fmla="val 4286"/>
            </a:avLst>
          </a:prstGeom>
          <a:solidFill>
            <a:srgbClr val="00118F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959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 本OKRの方向性への承認をいただけますか？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確認後、1Q計画の詳細を別途共有します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デリバリーチーム OKR 説明（及川GM・経営向け）</dc:title>
  <dc:subject>PptxGenJS Presentation</dc:subject>
  <dc:creator>PptxGenJS</dc:creator>
  <cp:lastModifiedBy>PptxGenJS</cp:lastModifiedBy>
  <cp:revision>1</cp:revision>
  <dcterms:created xsi:type="dcterms:W3CDTF">2026-04-04T09:33:30Z</dcterms:created>
  <dcterms:modified xsi:type="dcterms:W3CDTF">2026-04-04T09:33:30Z</dcterms:modified>
</cp:coreProperties>
</file>