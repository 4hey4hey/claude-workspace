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3" r:id="rId5"/>
    <p:sldId id="264" r:id="rId6"/>
    <p:sldId id="265" r:id="rId7"/>
    <p:sldId id="266" r:id="rId8"/>
    <p:sldId id="267" r:id="rId9"/>
    <p:sldId id="273" r:id="rId10"/>
    <p:sldId id="274" r:id="rId11"/>
    <p:sldId id="275" r:id="rId12"/>
    <p:sldId id="270" r:id="rId13"/>
    <p:sldId id="271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8" d="100"/>
          <a:sy n="148" d="100"/>
        </p:scale>
        <p:origin x="79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3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顧客価値を、正しく・速く・持続的に届けるデリバリーラインを確立する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杉崎 TL（及川GM向け説明資料）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Mission と Objective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作る力を、届く価値に変える ── 顧客価値を正しく・速く・持続的に届ける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229150"/>
            <a:ext cx="4023360" cy="1371600"/>
          </a:xfrm>
          <a:prstGeom prst="roundRect">
            <a:avLst>
              <a:gd name="adj" fmla="val 2000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10" name="Shape 8"/>
          <p:cNvSpPr/>
          <p:nvPr/>
        </p:nvSpPr>
        <p:spPr>
          <a:xfrm>
            <a:off x="384048" y="1229150"/>
            <a:ext cx="398678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136631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73207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作る力を、届く価値に変える。</a:t>
            </a:r>
            <a:endParaRPr lang="en-US" sz="1200" b="1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作る力が価値まで流れ切るように、流れを整える</a:t>
            </a: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229150"/>
            <a:ext cx="4206240" cy="1371600"/>
          </a:xfrm>
          <a:prstGeom prst="roundRect">
            <a:avLst>
              <a:gd name="adj" fmla="val 2000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590288" y="122915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3663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73207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顧客価値を、正しく・速く・持続的に届けるデリバリーラインを確立する。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635874"/>
              </p:ext>
            </p:extLst>
          </p:nvPr>
        </p:nvGraphicFramePr>
        <p:xfrm>
          <a:off x="365760" y="2783630"/>
          <a:ext cx="8412480" cy="1526519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0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担うKR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正しく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何を作るかの判断・検証の質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挑戦KR1（入口品質）＋挑戦KR3（学習ループ）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着手からリリースまでのスピード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挑戦KR2（フロー効率）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持続的に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走り続けられる土台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基盤KR1（健全性）＋基盤KR2（能力強化）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4299947"/>
            <a:ext cx="8412480" cy="592093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502920" y="4412925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当チームは「事業成果が生まれる条件」を整備する（How・Whenに責任をもつ</a:t>
            </a: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）。</a:t>
            </a:r>
            <a:b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200" dirty="0" err="1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事業成果（会員数・送客等）の責任は各KR責任者がもつ（Pdmチーム・ビジネス推進チーム</a:t>
            </a: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ロジックツリー（問いの形）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Missionを1つの大きな問いに変換し、6つのKRへ展開する（PLAID方式）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220838"/>
            <a:ext cx="8412480" cy="548640"/>
          </a:xfrm>
          <a:prstGeom prst="roundRect">
            <a:avLst>
              <a:gd name="adj" fmla="val 5000"/>
            </a:avLst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22083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Q:  </a:t>
            </a: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作る力を価値に変えるために、デリバリーチームは何を実現すべきか？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（＝顧客価値を、正しく・速く・持続的に届けるデリバリーラインを、どう確立するか？）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" y="1875276"/>
            <a:ext cx="18288" cy="2834640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140452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05840" y="1902708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115568" y="1902708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開発ラインに流す仕事の質と判断スピードを高め、仕様起因の手戻りと無駄な開発をなくせるか？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0215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66360" y="1902708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276088" y="1902708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入口品質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開発に入る前の前提整理・要求定義の曖昧さをなくし、仕様起因の手戻りをゼロにする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652516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005840" y="2414772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115568" y="2414772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顧客に届くスピードをどう上げるか？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5336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2414772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276088" y="2414772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フロー効率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開発工程のムリ・ムダ・ムラをなくし、案件を停滞させずスムーズに顧客へ届ける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164580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05840" y="2926836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115568" y="29268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届けた価値を検証し、学びを次のサイクルにどう反映し続けるか？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0457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66360" y="2926836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276088" y="2926836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学習ループ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リリースして終わりにせず、お客様の反応を見て「次にやること／やめること」を決める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676644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05840" y="3438900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115568" y="3438900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チームが走り続けられる土台と開発環境をどう担保するか？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5577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66360" y="3438900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276088" y="3438900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健全性・サブKPI・開発環境を整え、チームが走り続けられる土台を通年で担保する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188708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1005840" y="3950964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115568" y="3950964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デリバリー組織そのものを中長期にどう強くしていくか？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40698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66360" y="3950964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276088" y="3950964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プロセス・人・基盤の3層を同時に強化し、中長期的にデリバリー組織そのものを強くする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4700772"/>
            <a:ext cx="27432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005840" y="4463028"/>
            <a:ext cx="3749040" cy="493776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1115568" y="4463028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Q6  </a:t>
            </a: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事業側から見て、このデリバリー機能は本当に価値を生んでいるか？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5819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166360" y="4463028"/>
            <a:ext cx="3611880" cy="493776"/>
          </a:xfrm>
          <a:prstGeom prst="roundRect">
            <a:avLst>
              <a:gd name="adj" fmla="val 3704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276088" y="4463028"/>
            <a:ext cx="3392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事業側との四半期相互検証で、配置メンバーの事業貢献に相互納得を形成し外部妥当性を担保する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DPG KR接続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DPG KR②4アプローチ（計測／入口／フロー／学習）をチーム6KRが直接受ける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だから、上位OKRとの紐付けが構造的に保証される（6KR中5本が◎直接接続）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6KR中 ◎直接接続 5本／○安全装置 1本（基盤KR1のみ、暴走防止として意図的配置）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8508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チームKR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KR接続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接続強度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挑戦KR1 入口品質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アプローチ②（入口品質）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挑戦KR2 フロー効率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アプローチ③（フロー効率）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挑戦KR3 学習ループ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アプローチ④（学習ループ）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 健全性＋開発環境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サブKPI（変更失敗率／SPACE）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安全装置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基盤KR2 能力強化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アプローチ①（計測基盤）＋DPG KR⑥（コスト改善）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直接受け／直接貢献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基盤KR3 事業貢献PDCA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KR⑦（事業側との相互検証）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KR構造全体像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挑戦3KRで速く届ける能力を磨き、基盤3KRで走り続ける土台を守る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296785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29678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【挑戦】速く届ける能力を磨く（ムダを減らす）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45425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12" name="Shape 10"/>
          <p:cNvSpPr/>
          <p:nvPr/>
        </p:nvSpPr>
        <p:spPr>
          <a:xfrm>
            <a:off x="384048" y="1845425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13" name="Text 11"/>
          <p:cNvSpPr/>
          <p:nvPr/>
        </p:nvSpPr>
        <p:spPr>
          <a:xfrm>
            <a:off x="502920" y="198258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入口品質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198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開発に入る前の前提整理・要求定義の曖昧さをなくし、仕様起因の手戻りをゼロにする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2977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16" name="Shape 14"/>
          <p:cNvSpPr/>
          <p:nvPr/>
        </p:nvSpPr>
        <p:spPr>
          <a:xfrm>
            <a:off x="384048" y="2832977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17" name="Text 15"/>
          <p:cNvSpPr/>
          <p:nvPr/>
        </p:nvSpPr>
        <p:spPr>
          <a:xfrm>
            <a:off x="502920" y="297013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フロー効率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074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開発工程のムリ・ムダ・ムラをなくし、案件を停滞させずスムーズに顧客へ届ける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20529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20" name="Shape 18"/>
          <p:cNvSpPr/>
          <p:nvPr/>
        </p:nvSpPr>
        <p:spPr>
          <a:xfrm>
            <a:off x="384048" y="3820529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21" name="Text 19"/>
          <p:cNvSpPr/>
          <p:nvPr/>
        </p:nvSpPr>
        <p:spPr>
          <a:xfrm>
            <a:off x="502920" y="395768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学習ループ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949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リリースして終わりにせず、お客様の反応を見て「次にやること／やめること」を決める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6785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4444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663440" y="129678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【基盤】</a:t>
            </a: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走り続ける土台を守る（ムリ・ムラを抑える）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845425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26" name="Shape 24"/>
          <p:cNvSpPr/>
          <p:nvPr/>
        </p:nvSpPr>
        <p:spPr>
          <a:xfrm>
            <a:off x="4681728" y="1845425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27" name="Text 25"/>
          <p:cNvSpPr/>
          <p:nvPr/>
        </p:nvSpPr>
        <p:spPr>
          <a:xfrm>
            <a:off x="4800600" y="198258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2198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健全性・サブKPI・開発環境を整え、チームが走り続けられる土台を通年で担保する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2977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30" name="Shape 28"/>
          <p:cNvSpPr/>
          <p:nvPr/>
        </p:nvSpPr>
        <p:spPr>
          <a:xfrm>
            <a:off x="4681728" y="2832977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31" name="Text 29"/>
          <p:cNvSpPr/>
          <p:nvPr/>
        </p:nvSpPr>
        <p:spPr>
          <a:xfrm>
            <a:off x="4800600" y="297013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2074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プロセス・人・基盤の3層を同時に強化し、中長期的にデリバリー組織そのものを強くする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820529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1600"/>
          </a:p>
        </p:txBody>
      </p:sp>
      <p:sp>
        <p:nvSpPr>
          <p:cNvPr id="34" name="Shape 32"/>
          <p:cNvSpPr/>
          <p:nvPr/>
        </p:nvSpPr>
        <p:spPr>
          <a:xfrm>
            <a:off x="4681728" y="3820529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  <p:txBody>
          <a:bodyPr/>
          <a:lstStyle/>
          <a:p>
            <a:endParaRPr lang="ja-JP" altLang="en-US" sz="1600"/>
          </a:p>
        </p:txBody>
      </p:sp>
      <p:sp>
        <p:nvSpPr>
          <p:cNvPr id="35" name="Text 33"/>
          <p:cNvSpPr/>
          <p:nvPr/>
        </p:nvSpPr>
        <p:spPr>
          <a:xfrm>
            <a:off x="4800600" y="395768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1949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事業側との四半期相互検証で、配置メンバーの事業貢献に相互納得を形成し外部妥当性を担保する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挑戦KR1 入口品質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入口品質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開発に入る前の前提整理・要求定義の曖昧さをなくし、仕様起因の手戻りをゼロにする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開発に入る「前」で時間を失うことを止め、開発中の手戻りと方向違いの実装を減らす。人を増やすのではなく、仕様・判断・スコープの制御を先に整える。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・ベースライン数値を確定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・手戻り削減の下降トレンドを示す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全チームでReady定義が標準化</a:t>
            </a:r>
            <a:b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・要件定義→リリース 平均1ヶ月以内・仕様起因の手戻りゼロ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6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・Ready定義を全チーム標準化展開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・手戻り原因分析の運用開始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（仕様／技術／外部の3分類）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・工程・役割の明確化、優先対応基準の整備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Odd-eレクチャーで「小さく作り検証する」共通認識を継続支援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46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</a:t>
            </a: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）：</a:t>
            </a:r>
            <a:b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Ready定義達成率（PBI全数のうち着手時点でReady</a:t>
            </a: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　／　</a:t>
            </a: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PBI手戻り発生率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挑戦KR2 フロー効率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フロー効率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開発工程のムリ・ムダ・ムラをなくし、案件を停滞させずスムーズに顧客へ届ける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342128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342128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479288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845048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着手からリリースまでの流れそのものを速く、予測可能にする。全チームの型を言語化し、計測で見える化して継続改善する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0880" y="1342128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342128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479288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845048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全チームでサイクルタイム計測稼働</a:t>
            </a:r>
            <a:endParaRPr lang="en-US" sz="1100" dirty="0">
              <a:solidFill>
                <a:srgbClr val="1A1A2E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</a:rPr>
              <a:t>・サイクルタイムの具体目標は2Qまでに設定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・サイクルタイム平均1ヶ月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6000" y="1342128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342128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479288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60" y="1845048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・全チームでサイクルタイム計測導入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（Notion／Github計測ログ整備）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・工程リードタイム可視化でボトルネック特定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・Web／ネイティブアプリをフィーチャーチームに統合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・優先順位づけ基準の整備（意思決定速度向上）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94149"/>
            <a:ext cx="8412480" cy="801043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</a:t>
            </a: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）：</a:t>
            </a:r>
            <a:b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ボトルネック工程の滞留日数（ステージ別内訳</a:t>
            </a: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　／　1スプリントの見積精度（90%+目標）　／　</a:t>
            </a:r>
            <a:b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PBI粒度分布（1スプリント完了可能サイズの適用率）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挑戦KR3 学習ループ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学習ループ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リリースして終わりにせず、お客様の反応を見て「次にやること／やめること」を決める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ものが顧客価値につながったかを検証し、次の投資判断に反映するサイクルを定着させる。リリースして終わりにせず「次にやること／やめること」を決める循環を作る。成果の方程式の"精度側"を担うKR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965960"/>
            <a:ext cx="25841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・検証→次施策反映リードタイムのベースライン計測確定1Q末までに目標設定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b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・検証起因のバックログ変更 50%以上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検証→次施策反映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平均1ヶ月以内）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6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0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PBIフォーマットに「検証したい仮説／計測指標」を組込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・Ready定義（挑戦KR1）に仮説記入を組み込み、入口品質と学習ループを接続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0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開発環境にGoogleAnalytics導入、ドッグフーディング仕組化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先行KPI（途中確認指標）：PBI仮説・計測指標記入率（全PBI分母の実施率ベース）　／　検証起因バックログ変更件数　／　ドッグフーディング実施回数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基盤KR1 健全性＋開発環境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健全性・サブKPI・開発環境を整え、チームが走り続けられる土台を通年で担保する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持続可能に走り続けられる健全性と、働き方を成立させる開発環境が対象。速さを追うあまりレビュー省略・属人化・恒常残業に陥らないための安全装置も兼ねる。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FY26末（通年維持）：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・変更失敗率 15%以下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・開発者満足度 SPACE軸 4.0以上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59" y="1965960"/>
            <a:ext cx="25140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・サブKPI計測基盤の整備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変更失敗率の自動集計／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開発者満足度SPACE軸の月次サーベイ運用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・1on1の継続運用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先行KPI（途中確認指標）：月次1on1実施率（全メンバー／対象期間内）　／　</a:t>
            </a:r>
            <a:r>
              <a:rPr lang="en-US" sz="1200" dirty="0" err="1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月次サーベイ回答率</a:t>
            </a:r>
            <a:r>
              <a:rPr lang="ja-JP" altLang="en-US" sz="120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br>
              <a:rPr lang="en-US" altLang="ja-JP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altLang="ja-JP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</a:t>
            </a:r>
            <a:r>
              <a:rPr lang="en-US" altLang="ja-JP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変更失敗率</a:t>
            </a:r>
            <a:r>
              <a:rPr lang="en-US" altLang="ja-JP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15%以下</a:t>
            </a:r>
            <a:endParaRPr lang="en-US" altLang="ja-JP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基盤KR2 能力の多面的強化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プロセス・人・基盤の3層を同時に強化し、中長期的にデリバリー組織そのものを強くする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単年度の運用効率化ではなく、中長期的にデリバリー組織そのものを強くするKR。暗黙知依存から抜け出し、FY27〜28にDORA </a:t>
            </a:r>
            <a:r>
              <a:rPr lang="en-US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Highレベル到達できる組織状態を作る</a:t>
            </a: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・プロセス標準化が全チーム適用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・計測基盤が全チーム稼働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・inet費用削減見立て完了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・KARTE→Braze機能可否判断完了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・デリバリーマネージャー（DM）採用完了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6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・プロセス標準化の全チーム適用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計測基盤の整備</a:t>
            </a:r>
            <a:b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inet発注最適化で費用削減見立て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・KARTE→Braze機能可否検証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2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DM採用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先行KPI（途中確認指標）：プロセス標準化の適用チーム率　／　DM採用パイプライン進捗（候補者面談数・内定数）　／　計測ダッシュボード稼働チーム数　／　inet費用削減見立て（対26年度比%）　／　KARTE機能検証完了率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基盤KR3 事業貢献PDCA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事業側との四半期相互検証で、配置メンバーの事業貢献に相互納得を形成し外部妥当性を担保する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デリバリーラインの成果が本当に事業価値になっているかを、事業側との四半期振り返りで相互検証する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804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・配置メンバーの事業貢献について、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事業側（toC各部）との四半期振り返りで相互納得が形成されている状態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697480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160" y="1965960"/>
            <a:ext cx="240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・1Q・2Q・3Q末に事業側（toC各部）へアンケート／面談を実施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1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振り返りと次Qアクションプランを策定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先行KPI（途中確認指標）：四半期振り返り実施率（計画通り1Q・2Q・3Q末に実施できたか）　／　アンケート・面談カバー率（配置メンバー・事業側双方で対象者をカバーできたか）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KR間連動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挑戦3KRが循環し、基盤3KRが支える ── 6KRで成果の方程式を回す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だから、6KRは一体で動く設計。どれか1本だけ追っても成果は出ない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
</a:t>
            </a: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入口品質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7876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6616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
</a:t>
            </a: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17876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
</a:t>
            </a: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学習ループ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◀ 学びが仮説精度を高める（KR3 → KR1）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8412480" cy="10973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挑戦3KR すべての前提・支え（基盤3KR）──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前提条件＋安全装置（守る／ムリ）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813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中長期持続性（強くする／ムラ）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79976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02920" y="43799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外部妥当性チェック（見極め×強く）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別論点①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課題１.CorpチームのOKRの取り扱いについて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財務・労務・資産をどう取り扱うか</a:t>
            </a: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80015"/>
              </p:ext>
            </p:extLst>
          </p:nvPr>
        </p:nvGraphicFramePr>
        <p:xfrm>
          <a:off x="365760" y="1195621"/>
          <a:ext cx="8412480" cy="131673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業務領域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具体業務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本来の機能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現状担い手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財務・経理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予算策定・支出・購買・人件費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財務・経理機能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林・望月＋杉崎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資産管理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固定資産管理（端末棚卸・台帳）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資産管理機能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林・望月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ライセンス月次棚卸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経理機能に近い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望月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57133" y="2794096"/>
            <a:ext cx="8372798" cy="12344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366795" y="2802722"/>
            <a:ext cx="8363136" cy="104379"/>
          </a:xfrm>
          <a:prstGeom prst="rect">
            <a:avLst/>
          </a:prstGeom>
          <a:solidFill>
            <a:srgbClr val="0040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94293" y="2931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線引き基準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4293" y="3297016"/>
            <a:ext cx="8175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sz="1300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包含：デリバリー能力・開発生産性に直結（コーポレートエンジニアリング・ツール管理</a:t>
            </a: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・除外：Mission射程外 → OKR非搭載・評価軸外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9880" y="4283878"/>
            <a:ext cx="8412480" cy="32004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94293" y="428387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提起：中長期的な組織分離・移管を相談したい（今回は議題化まで）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別論点②／次の一手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b="1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r>
              <a:rPr lang="ja-JP" altLang="en-US" b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２．</a:t>
            </a:r>
            <a:r>
              <a:rPr lang="en-US" sz="1800" b="1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Kraken直連携PJのみ</a:t>
            </a: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b="1" dirty="0" err="1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事業成果責任者が不在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36452"/>
              </p:ext>
            </p:extLst>
          </p:nvPr>
        </p:nvGraphicFramePr>
        <p:xfrm>
          <a:off x="365760" y="1463040"/>
          <a:ext cx="4991244" cy="2048256"/>
        </p:xfrm>
        <a:graphic>
          <a:graphicData uri="http://schemas.openxmlformats.org/drawingml/2006/table">
            <a:tbl>
              <a:tblPr/>
              <a:tblGrid>
                <a:gridCol w="2495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責任者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①ディスカバリー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片山TL／髙松TL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③-1 Kraken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charset="0"/>
                        </a:rPr>
                        <a:t>？</a:t>
                      </a:r>
                      <a:r>
                        <a:rPr lang="ja-JP" altLang="en-US" sz="100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charset="0"/>
                        </a:rPr>
                        <a:t>（現状福田さんが</a:t>
                      </a:r>
                      <a:r>
                        <a:rPr lang="en-US" altLang="ja-JP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charset="0"/>
                        </a:rPr>
                        <a:t>PM</a:t>
                      </a:r>
                      <a:r>
                        <a:rPr lang="ja-JP" altLang="en-US" sz="100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charset="0"/>
                        </a:rPr>
                        <a:t>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③-2 MA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吉田TL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③-3 ID基盤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吉田TL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④会員数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柏木TL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⑤GP送客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湯浅PdM／高松TL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77840" y="1463040"/>
            <a:ext cx="3200400" cy="1645920"/>
          </a:xfrm>
          <a:prstGeom prst="roundRect">
            <a:avLst>
              <a:gd name="adj" fmla="val 1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57150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リスク3点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0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福田POの無限スコープ化（事業仮説言語化まで巻取り）</a:t>
            </a:r>
            <a:endParaRPr lang="en-US" sz="10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Kraken成果評価の曖昧化（事業にどう効いた？が説明不能）</a:t>
            </a:r>
            <a:endParaRPr lang="en-US" sz="10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挑戦KR3（学習ループ）の歪み（仮説の所有者不在）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59" y="3200400"/>
            <a:ext cx="8183017" cy="118872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7" name="Text 14"/>
          <p:cNvSpPr/>
          <p:nvPr/>
        </p:nvSpPr>
        <p:spPr>
          <a:xfrm>
            <a:off x="50292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福田POの責任境界（アサイン決定まで）</a:t>
            </a:r>
            <a:endParaRPr lang="en-US" sz="1100" dirty="0"/>
          </a:p>
        </p:txBody>
      </p:sp>
      <p:sp>
        <p:nvSpPr>
          <p:cNvPr id="9" name="Text 15"/>
          <p:cNvSpPr/>
          <p:nvPr/>
        </p:nvSpPr>
        <p:spPr>
          <a:xfrm>
            <a:off x="502919" y="3566160"/>
            <a:ext cx="682953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含む（デリバリー側PO責任）：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要件管理・開発進捗管理・接続完了／本番リリースまでの実行責任
</a:t>
            </a:r>
            <a:r>
              <a:rPr lang="en-US" sz="11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含まない（PdM責任＝別アサイン待ち）：</a:t>
            </a: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事業仮説言語化・ROI寄与設計・顧客価値仮説構築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1666</Words>
  <Application>Microsoft Macintosh PowerPoint</Application>
  <PresentationFormat>画面に合わせる (16:9)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杉﨑　洋平</cp:lastModifiedBy>
  <cp:revision>3</cp:revision>
  <dcterms:created xsi:type="dcterms:W3CDTF">2026-04-19T11:08:28Z</dcterms:created>
  <dcterms:modified xsi:type="dcterms:W3CDTF">2026-04-19T14:04:49Z</dcterms:modified>
</cp:coreProperties>
</file>