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AI時代に淘汰される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プロダクト開発関係者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マネジメント向け — 人材ポートフォリオ再考の提言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2026.04.04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デジタルプラットフォームＧ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AI時代の変化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AIコーディングツールは「補助」から「代替」フェーズに入った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551176"/>
            <a:ext cx="841248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362456" y="251002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34440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6090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48386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コード補完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（補助フェーズ）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65576" y="251002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66090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48386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AI統合IDE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（協調フェーズ）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8696" y="251002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234440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66090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48386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AI自律コーディング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（代替フェーズ）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71816" y="251002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234440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66090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自律開発Agent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48386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設計〜テスト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一気通貫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32004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「AIは使えない」という認識を今すぐ更新すべき — 補助ではなく代替が始まっている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AI時代の変化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淘汰されるのは「手を動かす人」ではなく「判断しない人」である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4440"/>
            <a:ext cx="4032504" cy="1495044"/>
          </a:xfrm>
          <a:prstGeom prst="roundRect">
            <a:avLst>
              <a:gd name="adj" fmla="val 1835"/>
            </a:avLst>
          </a:prstGeom>
          <a:solidFill>
            <a:srgbClr val="EEF3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07592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不可替人材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84962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判断力◎ × 実装力◎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PdM, アーキテクト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AIを武器にする人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5736" y="1234440"/>
            <a:ext cx="4032504" cy="1495044"/>
          </a:xfrm>
          <a:prstGeom prst="roundRect">
            <a:avLst>
              <a:gd name="adj" fmla="val 1835"/>
            </a:avLst>
          </a:prstGeom>
          <a:solidFill>
            <a:srgbClr val="EEF3F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307592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価値シフト必要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37176" y="1645920"/>
            <a:ext cx="384962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判断力◎ × 実装力△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旧来型マネージャー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→判断に集中で活路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02636"/>
            <a:ext cx="4032504" cy="1495044"/>
          </a:xfrm>
          <a:prstGeom prst="roundRect">
            <a:avLst>
              <a:gd name="adj" fmla="val 1835"/>
            </a:avLst>
          </a:prstGeom>
          <a:solidFill>
            <a:srgbClr val="EEF3F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75788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AI代替リスク高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214116"/>
            <a:ext cx="384962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判断力△ × 実装力◎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指示待ちコーダー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→AIに置き換わる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45736" y="2802636"/>
            <a:ext cx="4032504" cy="1495044"/>
          </a:xfrm>
          <a:prstGeom prst="roundRect">
            <a:avLst>
              <a:gd name="adj" fmla="val 1835"/>
            </a:avLst>
          </a:prstGeom>
          <a:solidFill>
            <a:srgbClr val="EEF3F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875788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淘汰対象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3214116"/>
            <a:ext cx="384962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判断力△ × 実装力△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定型作業の中継者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→存在理由が消失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 rot="16200000">
            <a:off x="365760" y="1234440"/>
            <a:ext cx="228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実装力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各社AI製品のベンチマーク・SWE-bench等の業界知見から作成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AI時代の変化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5つの役割が構造的に縮小し、3つの役割が拡大する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4069080" cy="3474720"/>
          </a:xfrm>
          <a:prstGeom prst="roundRect">
            <a:avLst>
              <a:gd name="adj" fmla="val 789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構造的に縮小する役割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794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定型コーダー（AIが同等品質で代替）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手動テスター（自動生成テストに移行）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設定・構築管理者（IaCの自動化）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翻訳的PM（伝言機能はAIで十分）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定型レビュアー（静的解析+AIレビュー）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069080" cy="3474720"/>
          </a:xfrm>
          <a:prstGeom prst="roundRect">
            <a:avLst>
              <a:gd name="adj" fmla="val 789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拡大・高度化する役割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794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 / PO（What/Whyの意思決定者）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アーキテクト（全体設計・技術判断）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SRE / Platform Eng（信頼性・基盤）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採用・育成の重点を「縮小側 → 拡大側」にシフトする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AI時代の変化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「What/Whyを決められる人」だけが不可替になる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2112" y="1234440"/>
            <a:ext cx="2779776" cy="758952"/>
          </a:xfrm>
          <a:prstGeom prst="roundRect">
            <a:avLst>
              <a:gd name="adj" fmla="val 241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273552" y="1234440"/>
            <a:ext cx="25968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事業判断（What / Why）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人間が独占 — AIは代替不可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4169664" cy="758952"/>
          </a:xfrm>
          <a:prstGeom prst="roundRect">
            <a:avLst>
              <a:gd name="adj" fmla="val 241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2048256"/>
            <a:ext cx="39867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設計判断（How）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AI協調 — 人間がレビュー・最終判断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92224" y="2862072"/>
            <a:ext cx="5559552" cy="758952"/>
          </a:xfrm>
          <a:prstGeom prst="roundRect">
            <a:avLst>
              <a:gd name="adj" fmla="val 241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883664" y="2862072"/>
            <a:ext cx="53766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実装（Do）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AI主導 — 人間は例外処理のみ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675888"/>
            <a:ext cx="6949440" cy="758952"/>
          </a:xfrm>
          <a:prstGeom prst="roundRect">
            <a:avLst>
              <a:gd name="adj" fmla="val 2410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675888"/>
            <a:ext cx="6766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AI自動化領域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テスト・ビルド・デプロイ・監視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組織の評価基準を「アウトプット量 → 意思決定の質」に変える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当組織への示唆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当組織（DPG）にも3つの構造的リスクがある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651760" cy="3291840"/>
          </a:xfrm>
          <a:prstGeom prst="roundRect">
            <a:avLst>
              <a:gd name="adj" fmla="val 103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234440"/>
            <a:ext cx="261518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PO機能の属人化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PO判断が特定個人に集中。AIが実装を代替するほどPO負荷が増大し、ボトルネック化する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51760" cy="3291840"/>
          </a:xfrm>
          <a:prstGeom prst="roundRect">
            <a:avLst>
              <a:gd name="adj" fmla="val 103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234440"/>
            <a:ext cx="261518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SM/コーチの役割再定義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AIがファシリテーション・可視化を代替すると、SM固有の価値が「組織学習の設計」に移行する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651760" cy="3291840"/>
          </a:xfrm>
          <a:prstGeom prst="roundRect">
            <a:avLst>
              <a:gd name="adj" fmla="val 103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234440"/>
            <a:ext cx="261518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SWEチームのスキル転換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3317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実装スキル中心の評価体系のまま放置すると、AI時代に必要な設計・判断スキルへの転換が遅れる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7091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半年以内にリスク対応の優先順位を決める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ネクストアクション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人材ポートフォリオの棚卸しと再配置を開始する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779776" cy="2011680"/>
          </a:xfrm>
          <a:prstGeom prst="roundRect">
            <a:avLst>
              <a:gd name="adj" fmla="val 909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527048"/>
            <a:ext cx="2633472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人材棚卸し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2090318"/>
            <a:ext cx="2633472" cy="10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現メンバーの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スキル×判断力を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マッピング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1234440"/>
            <a:ext cx="2779776" cy="2011680"/>
          </a:xfrm>
          <a:prstGeom prst="roundRect">
            <a:avLst>
              <a:gd name="adj" fmla="val 909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55264" y="1527048"/>
            <a:ext cx="2633472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スキルマップ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55264" y="2090318"/>
            <a:ext cx="2633472" cy="10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AI時代に必要な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スキルセットを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定義・共有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1234440"/>
            <a:ext cx="2779776" cy="2011680"/>
          </a:xfrm>
          <a:prstGeom prst="roundRect">
            <a:avLst>
              <a:gd name="adj" fmla="val 909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998464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71616" y="1527048"/>
            <a:ext cx="2633472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再配置計画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71616" y="2090318"/>
            <a:ext cx="2633472" cy="10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縮小領域→拡大領域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へのローテーション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計画を策定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64592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アクション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人材棚卸し（スキル×判断力マッピング）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杉﨑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2026年5月末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AI時代スキルマップの定義・共有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杉﨑 + 中島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2026年6月末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再配置計画の策定・GM承認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杉﨑 + 髙松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AI時代に淘汰されるプロダクト開発関係者</dc:title>
  <dc:subject>PptxGenJS Presentation</dc:subject>
  <dc:creator>PptxGenJS</dc:creator>
  <cp:lastModifiedBy>PptxGenJS</cp:lastModifiedBy>
  <cp:revision>1</cp:revision>
  <dcterms:created xsi:type="dcterms:W3CDTF">2026-04-04T09:33:29Z</dcterms:created>
  <dcterms:modified xsi:type="dcterms:W3CDTF">2026-04-04T09:33:29Z</dcterms:modified>
</cp:coreProperties>
</file>