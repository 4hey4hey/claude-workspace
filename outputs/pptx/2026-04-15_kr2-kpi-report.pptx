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挑戦KR②のKPIについて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仮説・検証・学習が高速に回る開発の型をつくる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2026-04-15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挑戦KR② ＞ 目標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仮説・検証・学習が高速に回るプロダクト開発の型を定常運用する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4023360" cy="1005840"/>
          </a:xfrm>
          <a:prstGeom prst="roundRect">
            <a:avLst>
              <a:gd name="adj" fmla="val 2727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188720"/>
            <a:ext cx="398678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KPI① リードタイム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1週間以内で機能を本番に出せること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023360" cy="1005840"/>
          </a:xfrm>
          <a:prstGeom prst="roundRect">
            <a:avLst>
              <a:gd name="adj" fmla="val 2727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1188720"/>
            <a:ext cx="398678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KPI② 学習サイクル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出した結果を見て次の施策を決められること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286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達成のための3つのアプローチ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606040"/>
            <a:ext cx="2651760" cy="2148840"/>
          </a:xfrm>
          <a:prstGeom prst="roundRect">
            <a:avLst>
              <a:gd name="adj" fmla="val 1277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606040"/>
            <a:ext cx="2615184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入口品質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310896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仕様を決める段階で「小さく作る」前提を揃える。無駄な手戻りを減らし、開発着手時の品質を上げる。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2606040"/>
            <a:ext cx="2651760" cy="2148840"/>
          </a:xfrm>
          <a:prstGeom prst="roundRect">
            <a:avLst>
              <a:gd name="adj" fmla="val 1277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64408" y="2606040"/>
            <a:ext cx="2615184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フロー効率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83280" y="310896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1チームで機能を完成できる体制にする。チーム間の調整待ちをなくし、リードタイムを短縮する。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2606040"/>
            <a:ext cx="2651760" cy="2148840"/>
          </a:xfrm>
          <a:prstGeom prst="roundRect">
            <a:avLst>
              <a:gd name="adj" fmla="val 1277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2606040"/>
            <a:ext cx="2615184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学習ループ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310896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リリース後の結果を計測・記録する仕組みを作る。出して終わりではなく、次の判断材料にする。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挑戦KR② ＞ ロードマップ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Q1で計測基盤・体制を整え課題を分析し、Q2以降で改善を回す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71600"/>
            <a:ext cx="2529840" cy="2743200"/>
          </a:xfrm>
          <a:prstGeom prst="roundRect">
            <a:avLst>
              <a:gd name="adj" fmla="val 1084"/>
            </a:avLst>
          </a:prstGeom>
          <a:solidFill>
            <a:srgbClr val="EEF3F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44752"/>
            <a:ext cx="2383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Q1（4–6月）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2468880"/>
            <a:ext cx="23835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計測基盤・体制の整備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課題分析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今どこで時間がかかっているかを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測れる状態を作る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87040" y="219456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07080" y="1371600"/>
            <a:ext cx="2529840" cy="2743200"/>
          </a:xfrm>
          <a:prstGeom prst="roundRect">
            <a:avLst>
              <a:gd name="adj" fmla="val 1084"/>
            </a:avLst>
          </a:prstGeom>
          <a:solidFill>
            <a:srgbClr val="EEF3F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0232" y="1444752"/>
            <a:ext cx="2383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Q2（7–9月）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0232" y="2468880"/>
            <a:ext cx="23835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チームごとの指標設定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改善サイクル始動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データに基づく改善を開始する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28360" y="219456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48400" y="1371600"/>
            <a:ext cx="2529840" cy="2743200"/>
          </a:xfrm>
          <a:prstGeom prst="roundRect">
            <a:avLst>
              <a:gd name="adj" fmla="val 1084"/>
            </a:avLst>
          </a:prstGeom>
          <a:solidFill>
            <a:srgbClr val="EEF3F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1552" y="1444752"/>
            <a:ext cx="2383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Q3–Q4（10月–）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21552" y="2468880"/>
            <a:ext cx="23835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効果検証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定着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改善の成果を測り、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型として定着させる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いきなり改善施策は打たない。まず測れる状態を作り、課題を正しく把握してから改善サイクルを回す。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挑戦KR② ＞ Q1計画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リードタイムの可視化と、開発プロセスの前提を揃える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Q1のKPI: </a:t>
            </a:r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リードタイムが計測できていて、Q2の目標が設定できている状態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4592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3093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アプローチ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Q1でやること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共通基盤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バリューチェーン全体の工程別リードタイムを可視化する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入口品質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PdM・ビジネスメンバー含め「小さく作る」考え方を外部講師と浸透させる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フロー効率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技術領域別チーム → フィーチャーチームへシフトする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学習ループ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リリース後のログ計測の仕組みを整備する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3アプローチそれぞれに手を打ち、Q2以降の改善サイクルの土台を作る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挑戦KR② ＞ Q1進捗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4つの取り組みすべてで動き始めている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4114800" cy="1787652"/>
          </a:xfrm>
          <a:prstGeom prst="roundRect">
            <a:avLst>
              <a:gd name="adj" fmla="val 1535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188720"/>
            <a:ext cx="4078224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可視化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691640"/>
            <a:ext cx="3840480" cy="114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アイデアからリリースまで、工程別のリードタイムを可視化する仕組みに取り組んでいる。どこで時間がかかっているかを正しく把握する起点になる。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114800" cy="1787652"/>
          </a:xfrm>
          <a:prstGeom prst="roundRect">
            <a:avLst>
              <a:gd name="adj" fmla="val 1535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1188720"/>
            <a:ext cx="4078224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入口品質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691640"/>
            <a:ext cx="3840480" cy="114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外部講師を交え、PdM・ビジネス推進メンバーも含めたレクチャーを実施中。継続支援も受けている。仕様を決める側も含めて「大きいまま作らない」前提を揃える。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159252"/>
            <a:ext cx="4114800" cy="1787652"/>
          </a:xfrm>
          <a:prstGeom prst="roundRect">
            <a:avLst>
              <a:gd name="adj" fmla="val 1535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159252"/>
            <a:ext cx="4078224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2964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フロー効率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662172"/>
            <a:ext cx="3840480" cy="114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技術領域別のチーム構成から、1チームで機能を完成できるフィーチャーチームへのシフトを進めている。チーム間の調整待ちをなくす。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159252"/>
            <a:ext cx="4114800" cy="1787652"/>
          </a:xfrm>
          <a:prstGeom prst="roundRect">
            <a:avLst>
              <a:gd name="adj" fmla="val 1535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3159252"/>
            <a:ext cx="4078224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2964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学習ループ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3662172"/>
            <a:ext cx="3840480" cy="114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リリース後の結果を記録・計測する仕組みを整備中。出して終わりではなく、次の判断に使えるようにする。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挑戦KR② ＞ ネクストアクション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6月末にベースライン数値とQ2目標を持って再報告する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71600"/>
            <a:ext cx="4069080" cy="3108960"/>
          </a:xfrm>
          <a:prstGeom prst="roundRect">
            <a:avLst>
              <a:gd name="adj" fmla="val 882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今回の報告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3794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KR②の目標とKPI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3アプローチの設計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Q1の計画と着手状況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09160" y="1371600"/>
            <a:ext cx="4069080" cy="3108960"/>
          </a:xfrm>
          <a:prstGeom prst="roundRect">
            <a:avLst>
              <a:gd name="adj" fmla="val 882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4630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次回（6月末）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3794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リードタイムのベースライン数値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チームごとの改善目標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Q2以降の具体計画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今日は方針と取り組みの報告。次回はデータで語る。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挑戦KR②のKPIについて</dc:title>
  <dc:subject>PptxGenJS Presentation</dc:subject>
  <dc:creator>PptxGenJS</dc:creator>
  <cp:lastModifiedBy>PptxGenJS</cp:lastModifiedBy>
  <cp:revision>1</cp:revision>
  <dcterms:created xsi:type="dcterms:W3CDTF">2026-04-15T10:04:17Z</dcterms:created>
  <dcterms:modified xsi:type="dcterms:W3CDTF">2026-04-15T10:04:17Z</dcterms:modified>
</cp:coreProperties>
</file>