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118F"/>
          </a:solidFill>
          <a:ln/>
        </p:spPr>
      </p:sp>
      <p:sp>
        <p:nvSpPr>
          <p:cNvPr id="3" name="Shape 1"/>
          <p:cNvSpPr/>
          <p:nvPr/>
        </p:nvSpPr>
        <p:spPr>
          <a:xfrm>
            <a:off x="548640" y="731520"/>
            <a:ext cx="1097280" cy="36576"/>
          </a:xfrm>
          <a:prstGeom prst="rect">
            <a:avLst/>
          </a:prstGeom>
          <a:solidFill>
            <a:srgbClr val="FB5B01"/>
          </a:solidFill>
          <a:ln/>
        </p:spPr>
      </p:sp>
      <p:sp>
        <p:nvSpPr>
          <p:cNvPr id="4" name="Text 2"/>
          <p:cNvSpPr/>
          <p:nvPr/>
        </p:nvSpPr>
        <p:spPr>
          <a:xfrm>
            <a:off x="548640" y="1097280"/>
            <a:ext cx="8046720" cy="1463040"/>
          </a:xfrm>
          <a:prstGeom prst="rect">
            <a:avLst/>
          </a:prstGeom>
          <a:noFill/>
          <a:ln/>
        </p:spPr>
        <p:txBody>
          <a:bodyPr wrap="square" lIns="0" tIns="0" rIns="0" bIns="0" rtlCol="0" anchor="ctr"/>
          <a:lstStyle/>
          <a:p>
            <a:pPr algn="l" indent="0" marL="0">
              <a:lnSpc>
                <a:spcPct val="120000"/>
              </a:lnSpc>
              <a:buNone/>
            </a:pPr>
            <a:r>
              <a:rPr lang="en-US" sz="3600" b="1" dirty="0">
                <a:solidFill>
                  <a:srgbClr val="00118F"/>
                </a:solidFill>
                <a:latin typeface="Noto Sans JP" pitchFamily="34" charset="0"/>
                <a:ea typeface="Noto Sans JP" pitchFamily="34" charset="-122"/>
                <a:cs typeface="Noto Sans JP" pitchFamily="34" charset="-120"/>
              </a:rPr>
              <a:t>挑戦KR②</a:t>
            </a:r>
            <a:endParaRPr lang="en-US" sz="3600" dirty="0"/>
          </a:p>
          <a:p>
            <a:pPr algn="l" indent="0" marL="0">
              <a:lnSpc>
                <a:spcPct val="120000"/>
              </a:lnSpc>
              <a:buNone/>
            </a:pPr>
            <a:r>
              <a:rPr lang="en-US" sz="3600" b="1" dirty="0">
                <a:solidFill>
                  <a:srgbClr val="00118F"/>
                </a:solidFill>
                <a:latin typeface="Noto Sans JP" pitchFamily="34" charset="0"/>
                <a:ea typeface="Noto Sans JP" pitchFamily="34" charset="-122"/>
                <a:cs typeface="Noto Sans JP" pitchFamily="34" charset="-120"/>
              </a:rPr>
              <a:t>「高速プロダクト開発の型」</a:t>
            </a:r>
            <a:endParaRPr lang="en-US" sz="3600" dirty="0"/>
          </a:p>
          <a:p>
            <a:pPr algn="l" indent="0" marL="0">
              <a:lnSpc>
                <a:spcPct val="120000"/>
              </a:lnSpc>
              <a:buNone/>
            </a:pPr>
            <a:r>
              <a:rPr lang="en-US" sz="3600" b="1" dirty="0">
                <a:solidFill>
                  <a:srgbClr val="00118F"/>
                </a:solidFill>
                <a:latin typeface="Noto Sans JP" pitchFamily="34" charset="0"/>
                <a:ea typeface="Noto Sans JP" pitchFamily="34" charset="-122"/>
                <a:cs typeface="Noto Sans JP" pitchFamily="34" charset="-120"/>
              </a:rPr>
              <a:t>初回報告</a:t>
            </a:r>
            <a:endParaRPr lang="en-US" sz="3600" dirty="0"/>
          </a:p>
        </p:txBody>
      </p:sp>
      <p:sp>
        <p:nvSpPr>
          <p:cNvPr id="5" name="Text 3"/>
          <p:cNvSpPr/>
          <p:nvPr/>
        </p:nvSpPr>
        <p:spPr>
          <a:xfrm>
            <a:off x="548640" y="2651760"/>
            <a:ext cx="8046720" cy="457200"/>
          </a:xfrm>
          <a:prstGeom prst="rect">
            <a:avLst/>
          </a:prstGeom>
          <a:noFill/>
          <a:ln/>
        </p:spPr>
        <p:txBody>
          <a:bodyPr wrap="square" lIns="0" tIns="0" rIns="0" bIns="0" rtlCol="0" anchor="t"/>
          <a:lstStyle/>
          <a:p>
            <a:pPr algn="l" indent="0" marL="0">
              <a:buNone/>
            </a:pPr>
            <a:r>
              <a:rPr lang="en-US" sz="1600" dirty="0">
                <a:solidFill>
                  <a:srgbClr val="666666"/>
                </a:solidFill>
                <a:latin typeface="Noto Sans JP" pitchFamily="34" charset="0"/>
                <a:ea typeface="Noto Sans JP" pitchFamily="34" charset="-122"/>
                <a:cs typeface="Noto Sans JP" pitchFamily="34" charset="-120"/>
              </a:rPr>
              <a:t>デリバリーマネジメントチーム</a:t>
            </a:r>
            <a:endParaRPr lang="en-US" sz="1600" dirty="0"/>
          </a:p>
        </p:txBody>
      </p:sp>
      <p:sp>
        <p:nvSpPr>
          <p:cNvPr id="6" name="Text 4"/>
          <p:cNvSpPr/>
          <p:nvPr/>
        </p:nvSpPr>
        <p:spPr>
          <a:xfrm>
            <a:off x="548640" y="3383280"/>
            <a:ext cx="3657600" cy="274320"/>
          </a:xfrm>
          <a:prstGeom prst="rect">
            <a:avLst/>
          </a:prstGeom>
          <a:noFill/>
          <a:ln/>
        </p:spPr>
        <p:txBody>
          <a:bodyPr wrap="square" rtlCol="0" anchor="ctr"/>
          <a:lstStyle/>
          <a:p>
            <a:pPr algn="l" indent="0" marL="0">
              <a:buNone/>
            </a:pPr>
            <a:r>
              <a:rPr lang="en-US" sz="1200" dirty="0">
                <a:solidFill>
                  <a:srgbClr val="666666"/>
                </a:solidFill>
                <a:latin typeface="Noto Sans JP" pitchFamily="34" charset="0"/>
                <a:ea typeface="Noto Sans JP" pitchFamily="34" charset="-122"/>
                <a:cs typeface="Noto Sans JP" pitchFamily="34" charset="-120"/>
              </a:rPr>
              <a:t>2026年4月</a:t>
            </a:r>
            <a:endParaRPr lang="en-US" sz="1200" dirty="0"/>
          </a:p>
        </p:txBody>
      </p:sp>
      <p:sp>
        <p:nvSpPr>
          <p:cNvPr id="7" name="Text 5"/>
          <p:cNvSpPr/>
          <p:nvPr/>
        </p:nvSpPr>
        <p:spPr>
          <a:xfrm>
            <a:off x="548640" y="3657600"/>
            <a:ext cx="3657600" cy="274320"/>
          </a:xfrm>
          <a:prstGeom prst="rect">
            <a:avLst/>
          </a:prstGeom>
          <a:noFill/>
          <a:ln/>
        </p:spPr>
        <p:txBody>
          <a:bodyPr wrap="square" rtlCol="0" anchor="ctr"/>
          <a:lstStyle/>
          <a:p>
            <a:pPr algn="l" indent="0" marL="0">
              <a:buNone/>
            </a:pPr>
            <a:r>
              <a:rPr lang="en-US" sz="1200" dirty="0">
                <a:solidFill>
                  <a:srgbClr val="666666"/>
                </a:solidFill>
                <a:latin typeface="Noto Sans JP" pitchFamily="34" charset="0"/>
                <a:ea typeface="Noto Sans JP" pitchFamily="34" charset="-122"/>
                <a:cs typeface="Noto Sans JP" pitchFamily="34" charset="-120"/>
              </a:rPr>
              <a:t>杉崎</a:t>
            </a:r>
            <a:endParaRPr lang="en-US" sz="1200" dirty="0"/>
          </a:p>
        </p:txBody>
      </p:sp>
      <p:sp>
        <p:nvSpPr>
          <p:cNvPr id="8" name="Shape 6"/>
          <p:cNvSpPr/>
          <p:nvPr/>
        </p:nvSpPr>
        <p:spPr>
          <a:xfrm>
            <a:off x="0" y="5084064"/>
            <a:ext cx="7315200" cy="64008"/>
          </a:xfrm>
          <a:prstGeom prst="rect">
            <a:avLst/>
          </a:prstGeom>
          <a:solidFill>
            <a:srgbClr val="00118F"/>
          </a:solidFill>
          <a:ln w="12700">
            <a:solidFill>
              <a:srgbClr val="00118F"/>
            </a:solidFill>
            <a:prstDash val="solid"/>
          </a:ln>
        </p:spPr>
      </p:sp>
      <p:sp>
        <p:nvSpPr>
          <p:cNvPr id="9" name="Shape 7"/>
          <p:cNvSpPr/>
          <p:nvPr/>
        </p:nvSpPr>
        <p:spPr>
          <a:xfrm>
            <a:off x="7315200" y="5084064"/>
            <a:ext cx="1828800" cy="64008"/>
          </a:xfrm>
          <a:prstGeom prst="rect">
            <a:avLst/>
          </a:prstGeom>
          <a:solidFill>
            <a:srgbClr val="FB5B01"/>
          </a:solidFill>
          <a:ln w="12700">
            <a:solidFill>
              <a:srgbClr val="FB5B0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DPG OKR FY26  &gt;  挑戦KR②  &gt;  初回報告</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Text 2"/>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1A"/>
                </a:solidFill>
                <a:latin typeface="Noto Sans JP" pitchFamily="34" charset="0"/>
                <a:ea typeface="Noto Sans JP" pitchFamily="34" charset="-122"/>
                <a:cs typeface="Noto Sans JP" pitchFamily="34" charset="-120"/>
              </a:rPr>
              <a:t>仮説・検証・学習が高速に回るプロダクト開発の型を定常運用する</a:t>
            </a:r>
            <a:endParaRPr lang="en-US" sz="2200" dirty="0"/>
          </a:p>
        </p:txBody>
      </p:sp>
      <p:sp>
        <p:nvSpPr>
          <p:cNvPr id="5" name="Shape 3"/>
          <p:cNvSpPr/>
          <p:nvPr/>
        </p:nvSpPr>
        <p:spPr>
          <a:xfrm>
            <a:off x="0" y="1051560"/>
            <a:ext cx="9144000" cy="9144"/>
          </a:xfrm>
          <a:prstGeom prst="rect">
            <a:avLst/>
          </a:prstGeom>
          <a:solidFill>
            <a:srgbClr val="CCCCCC"/>
          </a:solidFill>
          <a:ln w="12700">
            <a:solidFill>
              <a:srgbClr val="CCCCCC"/>
            </a:solidFill>
            <a:prstDash val="solid"/>
          </a:ln>
        </p:spPr>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
        <p:nvSpPr>
          <p:cNvPr id="8" name="Text 6"/>
          <p:cNvSpPr/>
          <p:nvPr/>
        </p:nvSpPr>
        <p:spPr>
          <a:xfrm>
            <a:off x="365760" y="1188720"/>
            <a:ext cx="548640" cy="256032"/>
          </a:xfrm>
          <a:prstGeom prst="rect">
            <a:avLst/>
          </a:prstGeom>
          <a:noFill/>
          <a:ln/>
        </p:spPr>
        <p:txBody>
          <a:bodyPr wrap="square"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KPI</a:t>
            </a:r>
            <a:endParaRPr lang="en-US" sz="1100" dirty="0"/>
          </a:p>
        </p:txBody>
      </p:sp>
      <p:sp>
        <p:nvSpPr>
          <p:cNvPr id="9" name="Shape 7"/>
          <p:cNvSpPr/>
          <p:nvPr/>
        </p:nvSpPr>
        <p:spPr>
          <a:xfrm>
            <a:off x="365760" y="1188720"/>
            <a:ext cx="548640" cy="256032"/>
          </a:xfrm>
          <a:prstGeom prst="roundRect">
            <a:avLst>
              <a:gd name="adj" fmla="val 7143"/>
            </a:avLst>
          </a:prstGeom>
          <a:solidFill>
            <a:srgbClr val="264AF4"/>
          </a:solidFill>
          <a:ln/>
        </p:spPr>
      </p:sp>
      <p:sp>
        <p:nvSpPr>
          <p:cNvPr id="10" name="Text 8"/>
          <p:cNvSpPr/>
          <p:nvPr/>
        </p:nvSpPr>
        <p:spPr>
          <a:xfrm>
            <a:off x="365760" y="1188720"/>
            <a:ext cx="54864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KPI</a:t>
            </a:r>
            <a:endParaRPr lang="en-US" sz="1000" dirty="0"/>
          </a:p>
        </p:txBody>
      </p:sp>
      <p:sp>
        <p:nvSpPr>
          <p:cNvPr id="11" name="Text 9"/>
          <p:cNvSpPr/>
          <p:nvPr/>
        </p:nvSpPr>
        <p:spPr>
          <a:xfrm>
            <a:off x="1005840" y="1161288"/>
            <a:ext cx="7498080" cy="29260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1. </a:t>
            </a:r>
            <a:pPr indent="0" marL="0">
              <a:buNone/>
            </a:pPr>
            <a:r>
              <a:rPr lang="en-US" sz="1300" dirty="0">
                <a:solidFill>
                  <a:srgbClr val="1A1A1A"/>
                </a:solidFill>
                <a:latin typeface="Noto Sans JP" pitchFamily="34" charset="0"/>
                <a:ea typeface="Noto Sans JP" pitchFamily="34" charset="-122"/>
                <a:cs typeface="Noto Sans JP" pitchFamily="34" charset="-120"/>
              </a:rPr>
              <a:t>メンバーが協働し1週間以内で機能を完成し、安定して継続的に本番リリースできている</a:t>
            </a:r>
            <a:endParaRPr lang="en-US" sz="1300" dirty="0"/>
          </a:p>
        </p:txBody>
      </p:sp>
      <p:sp>
        <p:nvSpPr>
          <p:cNvPr id="12" name="Text 10"/>
          <p:cNvSpPr/>
          <p:nvPr/>
        </p:nvSpPr>
        <p:spPr>
          <a:xfrm>
            <a:off x="1005840" y="1444752"/>
            <a:ext cx="7498080" cy="29260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2. </a:t>
            </a:r>
            <a:pPr indent="0" marL="0">
              <a:buNone/>
            </a:pPr>
            <a:r>
              <a:rPr lang="en-US" sz="1300" dirty="0">
                <a:solidFill>
                  <a:srgbClr val="1A1A1A"/>
                </a:solidFill>
                <a:latin typeface="Noto Sans JP" pitchFamily="34" charset="0"/>
                <a:ea typeface="Noto Sans JP" pitchFamily="34" charset="-122"/>
                <a:cs typeface="Noto Sans JP" pitchFamily="34" charset="-120"/>
              </a:rPr>
              <a:t>検証結果が次の施策に反映され続けている</a:t>
            </a:r>
            <a:endParaRPr lang="en-US" sz="1300" dirty="0"/>
          </a:p>
        </p:txBody>
      </p:sp>
      <p:sp>
        <p:nvSpPr>
          <p:cNvPr id="13" name="Text 11"/>
          <p:cNvSpPr/>
          <p:nvPr/>
        </p:nvSpPr>
        <p:spPr>
          <a:xfrm>
            <a:off x="365760" y="1783080"/>
            <a:ext cx="8412480" cy="320040"/>
          </a:xfrm>
          <a:prstGeom prst="rect">
            <a:avLst/>
          </a:prstGeom>
          <a:noFill/>
          <a:ln/>
        </p:spPr>
        <p:txBody>
          <a:bodyPr wrap="square" lIns="0" tIns="0" rIns="0" bIns="0" rtlCol="0" anchor="ctr"/>
          <a:lstStyle/>
          <a:p>
            <a:pPr algn="l" indent="0" marL="0">
              <a:buNone/>
            </a:pPr>
            <a:r>
              <a:rPr lang="en-US" sz="1100" dirty="0">
                <a:solidFill>
                  <a:srgbClr val="666666"/>
                </a:solidFill>
                <a:latin typeface="Noto Sans JP" pitchFamily="34" charset="0"/>
                <a:ea typeface="Noto Sans JP" pitchFamily="34" charset="-122"/>
                <a:cs typeface="Noto Sans JP" pitchFamily="34" charset="-120"/>
              </a:rPr>
              <a:t>小さく早く検証する考え方がメンバーに浸透し、不確実性に対してムダの少ない意思決定と実行ができている状態を目指す</a:t>
            </a:r>
            <a:endParaRPr lang="en-US" sz="1100" dirty="0"/>
          </a:p>
        </p:txBody>
      </p:sp>
      <p:sp>
        <p:nvSpPr>
          <p:cNvPr id="14" name="Shape 12"/>
          <p:cNvSpPr/>
          <p:nvPr/>
        </p:nvSpPr>
        <p:spPr>
          <a:xfrm>
            <a:off x="365760" y="2240280"/>
            <a:ext cx="8412480" cy="9144"/>
          </a:xfrm>
          <a:prstGeom prst="rect">
            <a:avLst/>
          </a:prstGeom>
          <a:solidFill>
            <a:srgbClr val="CCCCCC"/>
          </a:solidFill>
          <a:ln/>
        </p:spPr>
      </p:sp>
      <p:sp>
        <p:nvSpPr>
          <p:cNvPr id="15" name="Text 13"/>
          <p:cNvSpPr/>
          <p:nvPr/>
        </p:nvSpPr>
        <p:spPr>
          <a:xfrm>
            <a:off x="365760" y="2313432"/>
            <a:ext cx="8412480" cy="274320"/>
          </a:xfrm>
          <a:prstGeom prst="rect">
            <a:avLst/>
          </a:prstGeom>
          <a:noFill/>
          <a:ln/>
        </p:spPr>
        <p:txBody>
          <a:bodyPr wrap="square" lIns="0" tIns="0" rIns="0" bIns="0" rtlCol="0" anchor="ctr"/>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達成のための3つのアプローチ</a:t>
            </a:r>
            <a:endParaRPr lang="en-US" sz="1400" dirty="0"/>
          </a:p>
        </p:txBody>
      </p:sp>
      <p:sp>
        <p:nvSpPr>
          <p:cNvPr id="16" name="Shape 14"/>
          <p:cNvSpPr/>
          <p:nvPr/>
        </p:nvSpPr>
        <p:spPr>
          <a:xfrm>
            <a:off x="365760" y="2651760"/>
            <a:ext cx="2682240" cy="2295144"/>
          </a:xfrm>
          <a:prstGeom prst="roundRect">
            <a:avLst>
              <a:gd name="adj" fmla="val 1195"/>
            </a:avLst>
          </a:prstGeom>
          <a:solidFill>
            <a:srgbClr val="F2F2F2"/>
          </a:solidFill>
          <a:ln/>
        </p:spPr>
      </p:sp>
      <p:sp>
        <p:nvSpPr>
          <p:cNvPr id="17" name="Shape 15"/>
          <p:cNvSpPr/>
          <p:nvPr/>
        </p:nvSpPr>
        <p:spPr>
          <a:xfrm>
            <a:off x="384048" y="2651760"/>
            <a:ext cx="2645664" cy="54864"/>
          </a:xfrm>
          <a:prstGeom prst="rect">
            <a:avLst/>
          </a:prstGeom>
          <a:solidFill>
            <a:srgbClr val="264AF4"/>
          </a:solidFill>
          <a:ln/>
        </p:spPr>
      </p:sp>
      <p:sp>
        <p:nvSpPr>
          <p:cNvPr id="18" name="Shape 16"/>
          <p:cNvSpPr/>
          <p:nvPr/>
        </p:nvSpPr>
        <p:spPr>
          <a:xfrm>
            <a:off x="457200" y="2788920"/>
            <a:ext cx="1097280" cy="237744"/>
          </a:xfrm>
          <a:prstGeom prst="roundRect">
            <a:avLst>
              <a:gd name="adj" fmla="val 7692"/>
            </a:avLst>
          </a:prstGeom>
          <a:solidFill>
            <a:srgbClr val="264AF4"/>
          </a:solidFill>
          <a:ln/>
        </p:spPr>
      </p:sp>
      <p:sp>
        <p:nvSpPr>
          <p:cNvPr id="19" name="Text 17"/>
          <p:cNvSpPr/>
          <p:nvPr/>
        </p:nvSpPr>
        <p:spPr>
          <a:xfrm>
            <a:off x="457200" y="2788920"/>
            <a:ext cx="10972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入口品質</a:t>
            </a:r>
            <a:endParaRPr lang="en-US" sz="1000" dirty="0"/>
          </a:p>
        </p:txBody>
      </p:sp>
      <p:sp>
        <p:nvSpPr>
          <p:cNvPr id="20" name="Text 18"/>
          <p:cNvSpPr/>
          <p:nvPr/>
        </p:nvSpPr>
        <p:spPr>
          <a:xfrm>
            <a:off x="457200" y="3108960"/>
            <a:ext cx="2499360" cy="365760"/>
          </a:xfrm>
          <a:prstGeom prst="rect">
            <a:avLst/>
          </a:prstGeom>
          <a:noFill/>
          <a:ln/>
        </p:spPr>
        <p:txBody>
          <a:bodyPr wrap="square" lIns="0" tIns="0" rIns="0" bIns="0" rtlCol="0" anchor="t"/>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入口品質をあげる</a:t>
            </a:r>
            <a:endParaRPr lang="en-US" sz="1400" dirty="0"/>
          </a:p>
        </p:txBody>
      </p:sp>
      <p:sp>
        <p:nvSpPr>
          <p:cNvPr id="21" name="Text 19"/>
          <p:cNvSpPr/>
          <p:nvPr/>
        </p:nvSpPr>
        <p:spPr>
          <a:xfrm>
            <a:off x="457200" y="3474720"/>
            <a:ext cx="2499360" cy="1335024"/>
          </a:xfrm>
          <a:prstGeom prst="rect">
            <a:avLst/>
          </a:prstGeom>
          <a:noFill/>
          <a:ln/>
        </p:spPr>
        <p:txBody>
          <a:bodyPr wrap="square" lIns="0" tIns="0" rIns="0" bIns="0" rtlCol="0" anchor="t"/>
          <a:lstStyle/>
          <a:p>
            <a:pPr algn="l" indent="0" marL="0">
              <a:lnSpc>
                <a:spcPct val="150000"/>
              </a:lnSpc>
              <a:buNone/>
            </a:pPr>
            <a:r>
              <a:rPr lang="en-US" sz="1200" dirty="0">
                <a:solidFill>
                  <a:srgbClr val="666666"/>
                </a:solidFill>
                <a:latin typeface="Noto Sans JP" pitchFamily="34" charset="0"/>
                <a:ea typeface="Noto Sans JP" pitchFamily="34" charset="-122"/>
                <a:cs typeface="Noto Sans JP" pitchFamily="34" charset="-120"/>
              </a:rPr>
              <a:t>実装に入る前の前提整理・要求定義の曖昧さをなくす</a:t>
            </a:r>
            <a:endParaRPr lang="en-US" sz="1200" dirty="0"/>
          </a:p>
        </p:txBody>
      </p:sp>
      <p:sp>
        <p:nvSpPr>
          <p:cNvPr id="22" name="Shape 20"/>
          <p:cNvSpPr/>
          <p:nvPr/>
        </p:nvSpPr>
        <p:spPr>
          <a:xfrm>
            <a:off x="3230880" y="2651760"/>
            <a:ext cx="2682240" cy="2295144"/>
          </a:xfrm>
          <a:prstGeom prst="roundRect">
            <a:avLst>
              <a:gd name="adj" fmla="val 1195"/>
            </a:avLst>
          </a:prstGeom>
          <a:solidFill>
            <a:srgbClr val="F2F2F2"/>
          </a:solidFill>
          <a:ln/>
        </p:spPr>
      </p:sp>
      <p:sp>
        <p:nvSpPr>
          <p:cNvPr id="23" name="Shape 21"/>
          <p:cNvSpPr/>
          <p:nvPr/>
        </p:nvSpPr>
        <p:spPr>
          <a:xfrm>
            <a:off x="3249168" y="2651760"/>
            <a:ext cx="2645664" cy="54864"/>
          </a:xfrm>
          <a:prstGeom prst="rect">
            <a:avLst/>
          </a:prstGeom>
          <a:solidFill>
            <a:srgbClr val="6F23D0"/>
          </a:solidFill>
          <a:ln/>
        </p:spPr>
      </p:sp>
      <p:sp>
        <p:nvSpPr>
          <p:cNvPr id="24" name="Shape 22"/>
          <p:cNvSpPr/>
          <p:nvPr/>
        </p:nvSpPr>
        <p:spPr>
          <a:xfrm>
            <a:off x="3322320" y="2788920"/>
            <a:ext cx="1097280" cy="237744"/>
          </a:xfrm>
          <a:prstGeom prst="roundRect">
            <a:avLst>
              <a:gd name="adj" fmla="val 7692"/>
            </a:avLst>
          </a:prstGeom>
          <a:solidFill>
            <a:srgbClr val="6F23D0"/>
          </a:solidFill>
          <a:ln/>
        </p:spPr>
      </p:sp>
      <p:sp>
        <p:nvSpPr>
          <p:cNvPr id="25" name="Text 23"/>
          <p:cNvSpPr/>
          <p:nvPr/>
        </p:nvSpPr>
        <p:spPr>
          <a:xfrm>
            <a:off x="3322320" y="2788920"/>
            <a:ext cx="10972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フロー効率</a:t>
            </a:r>
            <a:endParaRPr lang="en-US" sz="1000" dirty="0"/>
          </a:p>
        </p:txBody>
      </p:sp>
      <p:sp>
        <p:nvSpPr>
          <p:cNvPr id="26" name="Text 24"/>
          <p:cNvSpPr/>
          <p:nvPr/>
        </p:nvSpPr>
        <p:spPr>
          <a:xfrm>
            <a:off x="3322320" y="3108960"/>
            <a:ext cx="2499360" cy="365760"/>
          </a:xfrm>
          <a:prstGeom prst="rect">
            <a:avLst/>
          </a:prstGeom>
          <a:noFill/>
          <a:ln/>
        </p:spPr>
        <p:txBody>
          <a:bodyPr wrap="square" lIns="0" tIns="0" rIns="0" bIns="0" rtlCol="0" anchor="t"/>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開発のフロー効率をあげる</a:t>
            </a:r>
            <a:endParaRPr lang="en-US" sz="1400" dirty="0"/>
          </a:p>
        </p:txBody>
      </p:sp>
      <p:sp>
        <p:nvSpPr>
          <p:cNvPr id="27" name="Text 25"/>
          <p:cNvSpPr/>
          <p:nvPr/>
        </p:nvSpPr>
        <p:spPr>
          <a:xfrm>
            <a:off x="3322320" y="3474720"/>
            <a:ext cx="2499360" cy="1335024"/>
          </a:xfrm>
          <a:prstGeom prst="rect">
            <a:avLst/>
          </a:prstGeom>
          <a:noFill/>
          <a:ln/>
        </p:spPr>
        <p:txBody>
          <a:bodyPr wrap="square" lIns="0" tIns="0" rIns="0" bIns="0" rtlCol="0" anchor="t"/>
          <a:lstStyle/>
          <a:p>
            <a:pPr algn="l" indent="0" marL="0">
              <a:lnSpc>
                <a:spcPct val="150000"/>
              </a:lnSpc>
              <a:buNone/>
            </a:pPr>
            <a:r>
              <a:rPr lang="en-US" sz="1200" dirty="0">
                <a:solidFill>
                  <a:srgbClr val="666666"/>
                </a:solidFill>
                <a:latin typeface="Noto Sans JP" pitchFamily="34" charset="0"/>
                <a:ea typeface="Noto Sans JP" pitchFamily="34" charset="-122"/>
                <a:cs typeface="Noto Sans JP" pitchFamily="34" charset="-120"/>
              </a:rPr>
              <a:t>開発工程のムリ・ムダ・ムラをなくし、案件を停滞させずスムーズに整える</a:t>
            </a:r>
            <a:endParaRPr lang="en-US" sz="1200" dirty="0"/>
          </a:p>
        </p:txBody>
      </p:sp>
      <p:sp>
        <p:nvSpPr>
          <p:cNvPr id="28" name="Shape 26"/>
          <p:cNvSpPr/>
          <p:nvPr/>
        </p:nvSpPr>
        <p:spPr>
          <a:xfrm>
            <a:off x="6096000" y="2651760"/>
            <a:ext cx="2682240" cy="2295144"/>
          </a:xfrm>
          <a:prstGeom prst="roundRect">
            <a:avLst>
              <a:gd name="adj" fmla="val 1195"/>
            </a:avLst>
          </a:prstGeom>
          <a:solidFill>
            <a:srgbClr val="F2F2F2"/>
          </a:solidFill>
          <a:ln/>
        </p:spPr>
      </p:sp>
      <p:sp>
        <p:nvSpPr>
          <p:cNvPr id="29" name="Shape 27"/>
          <p:cNvSpPr/>
          <p:nvPr/>
        </p:nvSpPr>
        <p:spPr>
          <a:xfrm>
            <a:off x="6114288" y="2651760"/>
            <a:ext cx="2645664" cy="54864"/>
          </a:xfrm>
          <a:prstGeom prst="rect">
            <a:avLst/>
          </a:prstGeom>
          <a:solidFill>
            <a:srgbClr val="1D8B56"/>
          </a:solidFill>
          <a:ln/>
        </p:spPr>
      </p:sp>
      <p:sp>
        <p:nvSpPr>
          <p:cNvPr id="30" name="Shape 28"/>
          <p:cNvSpPr/>
          <p:nvPr/>
        </p:nvSpPr>
        <p:spPr>
          <a:xfrm>
            <a:off x="6187440" y="2788920"/>
            <a:ext cx="1097280" cy="237744"/>
          </a:xfrm>
          <a:prstGeom prst="roundRect">
            <a:avLst>
              <a:gd name="adj" fmla="val 7692"/>
            </a:avLst>
          </a:prstGeom>
          <a:solidFill>
            <a:srgbClr val="1D8B56"/>
          </a:solidFill>
          <a:ln/>
        </p:spPr>
      </p:sp>
      <p:sp>
        <p:nvSpPr>
          <p:cNvPr id="31" name="Text 29"/>
          <p:cNvSpPr/>
          <p:nvPr/>
        </p:nvSpPr>
        <p:spPr>
          <a:xfrm>
            <a:off x="6187440" y="2788920"/>
            <a:ext cx="10972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学習ループ</a:t>
            </a:r>
            <a:endParaRPr lang="en-US" sz="1000" dirty="0"/>
          </a:p>
        </p:txBody>
      </p:sp>
      <p:sp>
        <p:nvSpPr>
          <p:cNvPr id="32" name="Text 30"/>
          <p:cNvSpPr/>
          <p:nvPr/>
        </p:nvSpPr>
        <p:spPr>
          <a:xfrm>
            <a:off x="6187440" y="3108960"/>
            <a:ext cx="2499360" cy="365760"/>
          </a:xfrm>
          <a:prstGeom prst="rect">
            <a:avLst/>
          </a:prstGeom>
          <a:noFill/>
          <a:ln/>
        </p:spPr>
        <p:txBody>
          <a:bodyPr wrap="square" lIns="0" tIns="0" rIns="0" bIns="0" rtlCol="0" anchor="t"/>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学習ループを回す</a:t>
            </a:r>
            <a:endParaRPr lang="en-US" sz="1400" dirty="0"/>
          </a:p>
        </p:txBody>
      </p:sp>
      <p:sp>
        <p:nvSpPr>
          <p:cNvPr id="33" name="Text 31"/>
          <p:cNvSpPr/>
          <p:nvPr/>
        </p:nvSpPr>
        <p:spPr>
          <a:xfrm>
            <a:off x="6187440" y="3474720"/>
            <a:ext cx="2499360" cy="1335024"/>
          </a:xfrm>
          <a:prstGeom prst="rect">
            <a:avLst/>
          </a:prstGeom>
          <a:noFill/>
          <a:ln/>
        </p:spPr>
        <p:txBody>
          <a:bodyPr wrap="square" lIns="0" tIns="0" rIns="0" bIns="0" rtlCol="0" anchor="t"/>
          <a:lstStyle/>
          <a:p>
            <a:pPr algn="l" indent="0" marL="0">
              <a:lnSpc>
                <a:spcPct val="150000"/>
              </a:lnSpc>
              <a:buNone/>
            </a:pPr>
            <a:r>
              <a:rPr lang="en-US" sz="1200" dirty="0">
                <a:solidFill>
                  <a:srgbClr val="666666"/>
                </a:solidFill>
                <a:latin typeface="Noto Sans JP" pitchFamily="34" charset="0"/>
                <a:ea typeface="Noto Sans JP" pitchFamily="34" charset="-122"/>
                <a:cs typeface="Noto Sans JP" pitchFamily="34" charset="-120"/>
              </a:rPr>
              <a:t>リリースして終わりにせず、お客様の反応を見て「次に何をやるか／やめるか」を決める</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DPG OKR FY26  &gt;  挑戦KR②  &gt;  初回報告</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Text 2"/>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1A"/>
                </a:solidFill>
                <a:latin typeface="Noto Sans JP" pitchFamily="34" charset="0"/>
                <a:ea typeface="Noto Sans JP" pitchFamily="34" charset="-122"/>
                <a:cs typeface="Noto Sans JP" pitchFamily="34" charset="-120"/>
              </a:rPr>
              <a:t>Q1で計測基盤・体制を整え課題分析し、Q2以降で改善サイクルを回す</a:t>
            </a:r>
            <a:endParaRPr lang="en-US" sz="2200" dirty="0"/>
          </a:p>
        </p:txBody>
      </p:sp>
      <p:sp>
        <p:nvSpPr>
          <p:cNvPr id="5" name="Shape 3"/>
          <p:cNvSpPr/>
          <p:nvPr/>
        </p:nvSpPr>
        <p:spPr>
          <a:xfrm>
            <a:off x="0" y="1051560"/>
            <a:ext cx="9144000" cy="9144"/>
          </a:xfrm>
          <a:prstGeom prst="rect">
            <a:avLst/>
          </a:prstGeom>
          <a:solidFill>
            <a:srgbClr val="CCCCCC"/>
          </a:solidFill>
          <a:ln w="12700">
            <a:solidFill>
              <a:srgbClr val="CCCCCC"/>
            </a:solidFill>
            <a:prstDash val="solid"/>
          </a:ln>
        </p:spPr>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
        <p:nvSpPr>
          <p:cNvPr id="8" name="Text 6"/>
          <p:cNvSpPr/>
          <p:nvPr/>
        </p:nvSpPr>
        <p:spPr>
          <a:xfrm>
            <a:off x="365760" y="1188720"/>
            <a:ext cx="8412480" cy="320040"/>
          </a:xfrm>
          <a:prstGeom prst="rect">
            <a:avLst/>
          </a:prstGeom>
          <a:noFill/>
          <a:ln/>
        </p:spPr>
        <p:txBody>
          <a:bodyPr wrap="square" lIns="0" tIns="0" rIns="0" bIns="0" rtlCol="0" anchor="ctr"/>
          <a:lstStyle/>
          <a:p>
            <a:pPr algn="l" indent="0" marL="0">
              <a:buNone/>
            </a:pPr>
            <a:r>
              <a:rPr lang="en-US" sz="1300" dirty="0">
                <a:solidFill>
                  <a:srgbClr val="666666"/>
                </a:solidFill>
                <a:latin typeface="Noto Sans JP" pitchFamily="34" charset="0"/>
                <a:ea typeface="Noto Sans JP" pitchFamily="34" charset="-122"/>
                <a:cs typeface="Noto Sans JP" pitchFamily="34" charset="-120"/>
              </a:rPr>
              <a:t>FY26は「計測と構造整備」の年。感覚ではなくデータに基づいて改善を回す土台を作る。</a:t>
            </a:r>
            <a:endParaRPr lang="en-US" sz="1300" dirty="0"/>
          </a:p>
        </p:txBody>
      </p:sp>
      <p:sp>
        <p:nvSpPr>
          <p:cNvPr id="9" name="Shape 7"/>
          <p:cNvSpPr/>
          <p:nvPr/>
        </p:nvSpPr>
        <p:spPr>
          <a:xfrm>
            <a:off x="365760" y="1645920"/>
            <a:ext cx="1794510" cy="3300984"/>
          </a:xfrm>
          <a:prstGeom prst="roundRect">
            <a:avLst>
              <a:gd name="adj" fmla="val 1529"/>
            </a:avLst>
          </a:prstGeom>
          <a:solidFill>
            <a:srgbClr val="F2F2F2"/>
          </a:solidFill>
          <a:ln w="19050">
            <a:solidFill>
              <a:srgbClr val="264AF4"/>
            </a:solidFill>
            <a:prstDash val="solid"/>
          </a:ln>
        </p:spPr>
      </p:sp>
      <p:sp>
        <p:nvSpPr>
          <p:cNvPr id="10" name="Text 8"/>
          <p:cNvSpPr/>
          <p:nvPr/>
        </p:nvSpPr>
        <p:spPr>
          <a:xfrm>
            <a:off x="438912" y="1719072"/>
            <a:ext cx="1648206" cy="1155344"/>
          </a:xfrm>
          <a:prstGeom prst="rect">
            <a:avLst/>
          </a:prstGeom>
          <a:noFill/>
          <a:ln/>
        </p:spPr>
        <p:txBody>
          <a:bodyPr wrap="square" lIns="0" tIns="0" rIns="0" bIns="0" rtlCol="0" anchor="ctr"/>
          <a:lstStyle/>
          <a:p>
            <a:pPr algn="ctr" indent="0" marL="0">
              <a:buNone/>
            </a:pPr>
            <a:r>
              <a:rPr lang="en-US" sz="1300" b="1" dirty="0">
                <a:solidFill>
                  <a:srgbClr val="264AF4"/>
                </a:solidFill>
                <a:latin typeface="Noto Sans JP" pitchFamily="34" charset="0"/>
                <a:ea typeface="Noto Sans JP" pitchFamily="34" charset="-122"/>
                <a:cs typeface="Noto Sans JP" pitchFamily="34" charset="-120"/>
              </a:rPr>
              <a:t>Q1（4-6月）</a:t>
            </a:r>
            <a:endParaRPr lang="en-US" sz="1300" dirty="0"/>
          </a:p>
        </p:txBody>
      </p:sp>
      <p:sp>
        <p:nvSpPr>
          <p:cNvPr id="11" name="Text 9"/>
          <p:cNvSpPr/>
          <p:nvPr/>
        </p:nvSpPr>
        <p:spPr>
          <a:xfrm>
            <a:off x="438912" y="2966314"/>
            <a:ext cx="1648206" cy="1815541"/>
          </a:xfrm>
          <a:prstGeom prst="rect">
            <a:avLst/>
          </a:prstGeom>
          <a:noFill/>
          <a:ln/>
        </p:spPr>
        <p:txBody>
          <a:bodyPr wrap="square" lIns="0" tIns="0" rIns="0" bIns="0" rtlCol="0" anchor="t"/>
          <a:lstStyle/>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計測基盤の構築</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体制・前提の整備</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課題分析</a:t>
            </a:r>
            <a:endParaRPr lang="en-US" sz="1100" dirty="0"/>
          </a:p>
        </p:txBody>
      </p:sp>
      <p:sp>
        <p:nvSpPr>
          <p:cNvPr id="12" name="Text 10"/>
          <p:cNvSpPr/>
          <p:nvPr/>
        </p:nvSpPr>
        <p:spPr>
          <a:xfrm>
            <a:off x="2251710" y="2636215"/>
            <a:ext cx="228600" cy="1320394"/>
          </a:xfrm>
          <a:prstGeom prst="rect">
            <a:avLst/>
          </a:prstGeom>
          <a:noFill/>
          <a:ln/>
        </p:spPr>
        <p:txBody>
          <a:bodyPr wrap="square" lIns="0" tIns="0" rIns="0" bIns="0" rtlCol="0" anchor="ctr"/>
          <a:lstStyle/>
          <a:p>
            <a:pPr algn="ctr" indent="0" marL="0">
              <a:buNone/>
            </a:pPr>
            <a:r>
              <a:rPr lang="en-US" sz="1600" dirty="0">
                <a:solidFill>
                  <a:srgbClr val="666666"/>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2571750" y="1645920"/>
            <a:ext cx="1794510" cy="3300984"/>
          </a:xfrm>
          <a:prstGeom prst="roundRect">
            <a:avLst>
              <a:gd name="adj" fmla="val 1529"/>
            </a:avLst>
          </a:prstGeom>
          <a:solidFill>
            <a:srgbClr val="F2F2F2"/>
          </a:solidFill>
          <a:ln w="19050">
            <a:solidFill>
              <a:srgbClr val="6F23D0"/>
            </a:solidFill>
            <a:prstDash val="solid"/>
          </a:ln>
        </p:spPr>
      </p:sp>
      <p:sp>
        <p:nvSpPr>
          <p:cNvPr id="14" name="Text 12"/>
          <p:cNvSpPr/>
          <p:nvPr/>
        </p:nvSpPr>
        <p:spPr>
          <a:xfrm>
            <a:off x="2644902" y="1719072"/>
            <a:ext cx="1648206" cy="1155344"/>
          </a:xfrm>
          <a:prstGeom prst="rect">
            <a:avLst/>
          </a:prstGeom>
          <a:noFill/>
          <a:ln/>
        </p:spPr>
        <p:txBody>
          <a:bodyPr wrap="square" lIns="0" tIns="0" rIns="0" bIns="0" rtlCol="0" anchor="ctr"/>
          <a:lstStyle/>
          <a:p>
            <a:pPr algn="ctr" indent="0" marL="0">
              <a:buNone/>
            </a:pPr>
            <a:r>
              <a:rPr lang="en-US" sz="1300" b="1" dirty="0">
                <a:solidFill>
                  <a:srgbClr val="6F23D0"/>
                </a:solidFill>
                <a:latin typeface="Noto Sans JP" pitchFamily="34" charset="0"/>
                <a:ea typeface="Noto Sans JP" pitchFamily="34" charset="-122"/>
                <a:cs typeface="Noto Sans JP" pitchFamily="34" charset="-120"/>
              </a:rPr>
              <a:t>Q2（7-9月）</a:t>
            </a:r>
            <a:endParaRPr lang="en-US" sz="1300" dirty="0"/>
          </a:p>
        </p:txBody>
      </p:sp>
      <p:sp>
        <p:nvSpPr>
          <p:cNvPr id="15" name="Text 13"/>
          <p:cNvSpPr/>
          <p:nvPr/>
        </p:nvSpPr>
        <p:spPr>
          <a:xfrm>
            <a:off x="2644902" y="2966314"/>
            <a:ext cx="1648206" cy="1815541"/>
          </a:xfrm>
          <a:prstGeom prst="rect">
            <a:avLst/>
          </a:prstGeom>
          <a:noFill/>
          <a:ln/>
        </p:spPr>
        <p:txBody>
          <a:bodyPr wrap="square" lIns="0" tIns="0" rIns="0" bIns="0" rtlCol="0" anchor="t"/>
          <a:lstStyle/>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チームごとの</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指標設定</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改善サイクル始動</a:t>
            </a:r>
            <a:endParaRPr lang="en-US" sz="1100" dirty="0"/>
          </a:p>
        </p:txBody>
      </p:sp>
      <p:sp>
        <p:nvSpPr>
          <p:cNvPr id="16" name="Text 14"/>
          <p:cNvSpPr/>
          <p:nvPr/>
        </p:nvSpPr>
        <p:spPr>
          <a:xfrm>
            <a:off x="4457700" y="2636215"/>
            <a:ext cx="228600" cy="1320394"/>
          </a:xfrm>
          <a:prstGeom prst="rect">
            <a:avLst/>
          </a:prstGeom>
          <a:noFill/>
          <a:ln/>
        </p:spPr>
        <p:txBody>
          <a:bodyPr wrap="square" lIns="0" tIns="0" rIns="0" bIns="0" rtlCol="0" anchor="ctr"/>
          <a:lstStyle/>
          <a:p>
            <a:pPr algn="ctr" indent="0" marL="0">
              <a:buNone/>
            </a:pPr>
            <a:r>
              <a:rPr lang="en-US" sz="1600" dirty="0">
                <a:solidFill>
                  <a:srgbClr val="666666"/>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4777740" y="1645920"/>
            <a:ext cx="1794510" cy="3300984"/>
          </a:xfrm>
          <a:prstGeom prst="roundRect">
            <a:avLst>
              <a:gd name="adj" fmla="val 1529"/>
            </a:avLst>
          </a:prstGeom>
          <a:solidFill>
            <a:srgbClr val="F2F2F2"/>
          </a:solidFill>
          <a:ln w="19050">
            <a:solidFill>
              <a:srgbClr val="1D8B56"/>
            </a:solidFill>
            <a:prstDash val="solid"/>
          </a:ln>
        </p:spPr>
      </p:sp>
      <p:sp>
        <p:nvSpPr>
          <p:cNvPr id="18" name="Text 16"/>
          <p:cNvSpPr/>
          <p:nvPr/>
        </p:nvSpPr>
        <p:spPr>
          <a:xfrm>
            <a:off x="4850892" y="1719072"/>
            <a:ext cx="1648206" cy="1155344"/>
          </a:xfrm>
          <a:prstGeom prst="rect">
            <a:avLst/>
          </a:prstGeom>
          <a:noFill/>
          <a:ln/>
        </p:spPr>
        <p:txBody>
          <a:bodyPr wrap="square" lIns="0" tIns="0" rIns="0" bIns="0" rtlCol="0" anchor="ctr"/>
          <a:lstStyle/>
          <a:p>
            <a:pPr algn="ctr" indent="0" marL="0">
              <a:buNone/>
            </a:pPr>
            <a:r>
              <a:rPr lang="en-US" sz="1300" b="1" dirty="0">
                <a:solidFill>
                  <a:srgbClr val="1D8B56"/>
                </a:solidFill>
                <a:latin typeface="Noto Sans JP" pitchFamily="34" charset="0"/>
                <a:ea typeface="Noto Sans JP" pitchFamily="34" charset="-122"/>
                <a:cs typeface="Noto Sans JP" pitchFamily="34" charset="-120"/>
              </a:rPr>
              <a:t>Q3（10-12月）</a:t>
            </a:r>
            <a:endParaRPr lang="en-US" sz="1300" dirty="0"/>
          </a:p>
        </p:txBody>
      </p:sp>
      <p:sp>
        <p:nvSpPr>
          <p:cNvPr id="19" name="Text 17"/>
          <p:cNvSpPr/>
          <p:nvPr/>
        </p:nvSpPr>
        <p:spPr>
          <a:xfrm>
            <a:off x="4850892" y="2966314"/>
            <a:ext cx="1648206" cy="1815541"/>
          </a:xfrm>
          <a:prstGeom prst="rect">
            <a:avLst/>
          </a:prstGeom>
          <a:noFill/>
          <a:ln/>
        </p:spPr>
        <p:txBody>
          <a:bodyPr wrap="square" lIns="0" tIns="0" rIns="0" bIns="0" rtlCol="0" anchor="t"/>
          <a:lstStyle/>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改善施策の</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効果検証</a:t>
            </a:r>
            <a:endParaRPr lang="en-US" sz="1100" dirty="0"/>
          </a:p>
        </p:txBody>
      </p:sp>
      <p:sp>
        <p:nvSpPr>
          <p:cNvPr id="20" name="Text 18"/>
          <p:cNvSpPr/>
          <p:nvPr/>
        </p:nvSpPr>
        <p:spPr>
          <a:xfrm>
            <a:off x="6663690" y="2636215"/>
            <a:ext cx="228600" cy="1320394"/>
          </a:xfrm>
          <a:prstGeom prst="rect">
            <a:avLst/>
          </a:prstGeom>
          <a:noFill/>
          <a:ln/>
        </p:spPr>
        <p:txBody>
          <a:bodyPr wrap="square" lIns="0" tIns="0" rIns="0" bIns="0" rtlCol="0" anchor="ctr"/>
          <a:lstStyle/>
          <a:p>
            <a:pPr algn="ctr" indent="0" marL="0">
              <a:buNone/>
            </a:pPr>
            <a:r>
              <a:rPr lang="en-US" sz="1600" dirty="0">
                <a:solidFill>
                  <a:srgbClr val="666666"/>
                </a:solidFill>
                <a:latin typeface="Arial" pitchFamily="34" charset="0"/>
                <a:ea typeface="Arial" pitchFamily="34" charset="-122"/>
                <a:cs typeface="Arial" pitchFamily="34" charset="-120"/>
              </a:rPr>
              <a:t>▶</a:t>
            </a:r>
            <a:endParaRPr lang="en-US" sz="1600" dirty="0"/>
          </a:p>
        </p:txBody>
      </p:sp>
      <p:sp>
        <p:nvSpPr>
          <p:cNvPr id="21" name="Shape 19"/>
          <p:cNvSpPr/>
          <p:nvPr/>
        </p:nvSpPr>
        <p:spPr>
          <a:xfrm>
            <a:off x="6983730" y="1645920"/>
            <a:ext cx="1794510" cy="3300984"/>
          </a:xfrm>
          <a:prstGeom prst="roundRect">
            <a:avLst>
              <a:gd name="adj" fmla="val 1529"/>
            </a:avLst>
          </a:prstGeom>
          <a:solidFill>
            <a:srgbClr val="F2F2F2"/>
          </a:solidFill>
          <a:ln w="19050">
            <a:solidFill>
              <a:srgbClr val="E25100"/>
            </a:solidFill>
            <a:prstDash val="solid"/>
          </a:ln>
        </p:spPr>
      </p:sp>
      <p:sp>
        <p:nvSpPr>
          <p:cNvPr id="22" name="Text 20"/>
          <p:cNvSpPr/>
          <p:nvPr/>
        </p:nvSpPr>
        <p:spPr>
          <a:xfrm>
            <a:off x="7056882" y="1719072"/>
            <a:ext cx="1648206" cy="1155344"/>
          </a:xfrm>
          <a:prstGeom prst="rect">
            <a:avLst/>
          </a:prstGeom>
          <a:noFill/>
          <a:ln/>
        </p:spPr>
        <p:txBody>
          <a:bodyPr wrap="square" lIns="0" tIns="0" rIns="0" bIns="0" rtlCol="0" anchor="ctr"/>
          <a:lstStyle/>
          <a:p>
            <a:pPr algn="ctr" indent="0" marL="0">
              <a:buNone/>
            </a:pPr>
            <a:r>
              <a:rPr lang="en-US" sz="1300" b="1" dirty="0">
                <a:solidFill>
                  <a:srgbClr val="E25100"/>
                </a:solidFill>
                <a:latin typeface="Noto Sans JP" pitchFamily="34" charset="0"/>
                <a:ea typeface="Noto Sans JP" pitchFamily="34" charset="-122"/>
                <a:cs typeface="Noto Sans JP" pitchFamily="34" charset="-120"/>
              </a:rPr>
              <a:t>Q4（1-3月）</a:t>
            </a:r>
            <a:endParaRPr lang="en-US" sz="1300" dirty="0"/>
          </a:p>
        </p:txBody>
      </p:sp>
      <p:sp>
        <p:nvSpPr>
          <p:cNvPr id="23" name="Text 21"/>
          <p:cNvSpPr/>
          <p:nvPr/>
        </p:nvSpPr>
        <p:spPr>
          <a:xfrm>
            <a:off x="7056882" y="2966314"/>
            <a:ext cx="1648206" cy="1815541"/>
          </a:xfrm>
          <a:prstGeom prst="rect">
            <a:avLst/>
          </a:prstGeom>
          <a:noFill/>
          <a:ln/>
        </p:spPr>
        <p:txBody>
          <a:bodyPr wrap="square" lIns="0" tIns="0" rIns="0" bIns="0" rtlCol="0" anchor="t"/>
          <a:lstStyle/>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定着</a:t>
            </a:r>
            <a:endParaRPr lang="en-US" sz="1100" dirty="0"/>
          </a:p>
          <a:p>
            <a:pPr algn="l" indent="0" marL="0">
              <a:lnSpc>
                <a:spcPct val="140000"/>
              </a:lnSpc>
              <a:buNone/>
            </a:pPr>
            <a:r>
              <a:rPr lang="en-US" sz="1100" dirty="0">
                <a:solidFill>
                  <a:srgbClr val="1A1A1A"/>
                </a:solidFill>
                <a:latin typeface="Noto Sans JP" pitchFamily="34" charset="0"/>
                <a:ea typeface="Noto Sans JP" pitchFamily="34" charset="-122"/>
                <a:cs typeface="Noto Sans JP" pitchFamily="34" charset="-120"/>
              </a:rPr>
              <a:t>FY27への橋渡し</a:t>
            </a:r>
            <a:endParaRPr lang="en-US" sz="1100" dirty="0"/>
          </a:p>
        </p:txBody>
      </p:sp>
      <p:sp>
        <p:nvSpPr>
          <p:cNvPr id="24" name="Shape 22"/>
          <p:cNvSpPr/>
          <p:nvPr/>
        </p:nvSpPr>
        <p:spPr>
          <a:xfrm>
            <a:off x="365760" y="1325880"/>
            <a:ext cx="822960" cy="237744"/>
          </a:xfrm>
          <a:prstGeom prst="roundRect">
            <a:avLst>
              <a:gd name="adj" fmla="val 7692"/>
            </a:avLst>
          </a:prstGeom>
          <a:solidFill>
            <a:srgbClr val="264AF4"/>
          </a:solidFill>
          <a:ln/>
        </p:spPr>
      </p:sp>
      <p:sp>
        <p:nvSpPr>
          <p:cNvPr id="25" name="Text 23"/>
          <p:cNvSpPr/>
          <p:nvPr/>
        </p:nvSpPr>
        <p:spPr>
          <a:xfrm>
            <a:off x="365760" y="1325880"/>
            <a:ext cx="82296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現在地</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DPG OKR FY26  &gt;  挑戦KR②  &gt;  初回報告</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Text 2"/>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1A"/>
                </a:solidFill>
                <a:latin typeface="Noto Sans JP" pitchFamily="34" charset="0"/>
                <a:ea typeface="Noto Sans JP" pitchFamily="34" charset="-122"/>
                <a:cs typeface="Noto Sans JP" pitchFamily="34" charset="-120"/>
              </a:rPr>
              <a:t>Q1末にリードタイムのベースラインと2Q目標をセットする</a:t>
            </a:r>
            <a:endParaRPr lang="en-US" sz="2200" dirty="0"/>
          </a:p>
        </p:txBody>
      </p:sp>
      <p:sp>
        <p:nvSpPr>
          <p:cNvPr id="5" name="Shape 3"/>
          <p:cNvSpPr/>
          <p:nvPr/>
        </p:nvSpPr>
        <p:spPr>
          <a:xfrm>
            <a:off x="0" y="1051560"/>
            <a:ext cx="9144000" cy="9144"/>
          </a:xfrm>
          <a:prstGeom prst="rect">
            <a:avLst/>
          </a:prstGeom>
          <a:solidFill>
            <a:srgbClr val="CCCCCC"/>
          </a:solidFill>
          <a:ln w="12700">
            <a:solidFill>
              <a:srgbClr val="CCCCCC"/>
            </a:solidFill>
            <a:prstDash val="solid"/>
          </a:ln>
        </p:spPr>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
        <p:nvSpPr>
          <p:cNvPr id="8" name="Shape 6"/>
          <p:cNvSpPr/>
          <p:nvPr/>
        </p:nvSpPr>
        <p:spPr>
          <a:xfrm>
            <a:off x="365760" y="1188720"/>
            <a:ext cx="8412480" cy="457200"/>
          </a:xfrm>
          <a:prstGeom prst="roundRect">
            <a:avLst>
              <a:gd name="adj" fmla="val 6000"/>
            </a:avLst>
          </a:prstGeom>
          <a:solidFill>
            <a:srgbClr val="E8F1FE"/>
          </a:solidFill>
          <a:ln w="12700">
            <a:solidFill>
              <a:srgbClr val="00118F"/>
            </a:solidFill>
            <a:prstDash val="solid"/>
          </a:ln>
        </p:spPr>
      </p:sp>
      <p:sp>
        <p:nvSpPr>
          <p:cNvPr id="9" name="Text 7"/>
          <p:cNvSpPr/>
          <p:nvPr/>
        </p:nvSpPr>
        <p:spPr>
          <a:xfrm>
            <a:off x="502920" y="1188720"/>
            <a:ext cx="8138160" cy="457200"/>
          </a:xfrm>
          <a:prstGeom prst="rect">
            <a:avLst/>
          </a:prstGeom>
          <a:noFill/>
          <a:ln/>
        </p:spPr>
        <p:txBody>
          <a:bodyPr wrap="square" lIns="0" tIns="0" rIns="0" bIns="0" rtlCol="0" anchor="ctr"/>
          <a:lstStyle/>
          <a:p>
            <a:pPr algn="l" indent="0" marL="0">
              <a:lnSpc>
                <a:spcPct val="140000"/>
              </a:lnSpc>
              <a:buNone/>
            </a:pPr>
            <a:r>
              <a:rPr lang="en-US" sz="1200" dirty="0">
                <a:solidFill>
                  <a:srgbClr val="00118F"/>
                </a:solidFill>
                <a:latin typeface="Noto Sans JP" pitchFamily="34" charset="0"/>
                <a:ea typeface="Noto Sans JP" pitchFamily="34" charset="-122"/>
                <a:cs typeface="Noto Sans JP" pitchFamily="34" charset="-120"/>
              </a:rPr>
              <a:t>Q1 KPI:  リードタイムを計測できており、2Qの目標が設定できている</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828800"/>
          <a:ext cx="8412480" cy="914400"/>
        </p:xfrm>
        <a:graphic>
          <a:graphicData uri="http://schemas.openxmlformats.org/drawingml/2006/table">
            <a:tbl>
              <a:tblPr/>
              <a:tblGrid>
                <a:gridCol w="2011680"/>
                <a:gridCol w="6400800"/>
              </a:tblGrid>
              <a:tr h="457200">
                <a:tc>
                  <a:txBody>
                    <a:bodyP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軸</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118F"/>
                    </a:solidFill>
                  </a:tcPr>
                </a:tc>
                <a:tc>
                  <a:txBody>
                    <a:bodyP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Q1でやること</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00118F"/>
                    </a:solidFill>
                  </a:tcPr>
                </a:tc>
              </a:tr>
              <a:tr h="457200">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共通基盤（可視化）</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バリューチェーン全体の工程別リードタイムを可視化する</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r>
              <a:tr h="457200">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入口品質</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PdM・ビジネスメンバー含め「小さく作る」考え方を外部講師と浸透させる</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r>
              <a:tr h="457200">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フロー効率</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技術領域別チームからフィーチャーチームへシフトする</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E6E6E6"/>
                      </a:solidFill>
                      <a:prstDash val="solid"/>
                      <a:round/>
                      <a:headEnd type="none" w="med" len="med"/>
                      <a:tailEnd type="none" w="med" len="med"/>
                    </a:lnB>
                  </a:tcPr>
                </a:tc>
              </a:tr>
              <a:tr h="457200">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学習ループ</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A1A1A"/>
                          </a:solidFill>
                          <a:latin typeface="Noto Sans JP" pitchFamily="34" charset="0"/>
                          <a:ea typeface="Noto Sans JP" pitchFamily="34" charset="-122"/>
                          <a:cs typeface="Noto Sans JP" pitchFamily="34" charset="-120"/>
                        </a:rPr>
                        <a:t>リリース後の結果を記録・計測する仕組みを整備する</a:t>
                      </a:r>
                      <a:endParaRPr lang="en-US" sz="1200" dirty="0">
                        <a:latin typeface="Noto Sans JP" charset="0"/>
                        <a:ea typeface="Noto Sans JP" charset="0"/>
                        <a:cs typeface="Noto Sans JP"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r>
            </a:tbl>
          </a:graphicData>
        </a:graphic>
      </p:graphicFrame>
      <p:sp>
        <p:nvSpPr>
          <p:cNvPr id="11" name="Text 8"/>
          <p:cNvSpPr/>
          <p:nvPr/>
        </p:nvSpPr>
        <p:spPr>
          <a:xfrm>
            <a:off x="365760" y="4297680"/>
            <a:ext cx="8412480" cy="365760"/>
          </a:xfrm>
          <a:prstGeom prst="rect">
            <a:avLst/>
          </a:prstGeom>
          <a:noFill/>
          <a:ln/>
        </p:spPr>
        <p:txBody>
          <a:bodyPr wrap="square" lIns="0" tIns="0" rIns="0" bIns="0" rtlCol="0" anchor="ctr"/>
          <a:lstStyle/>
          <a:p>
            <a:pPr algn="l" indent="0" marL="0">
              <a:buNone/>
            </a:pPr>
            <a:r>
              <a:rPr lang="en-US" sz="1100" dirty="0">
                <a:solidFill>
                  <a:srgbClr val="666666"/>
                </a:solidFill>
                <a:latin typeface="Noto Sans JP" pitchFamily="34" charset="0"/>
                <a:ea typeface="Noto Sans JP" pitchFamily="34" charset="-122"/>
                <a:cs typeface="Noto Sans JP" pitchFamily="34" charset="-120"/>
              </a:rPr>
              <a:t>計測と認識合わせを同時に進める。数字だけ取っても改善につながらないため、共通言語を揃えることもQ1の成果物。</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DPG OKR FY26  &gt;  挑戦KR②  &gt;  初回報告</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Text 2"/>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1A"/>
                </a:solidFill>
                <a:latin typeface="Noto Sans JP" pitchFamily="34" charset="0"/>
                <a:ea typeface="Noto Sans JP" pitchFamily="34" charset="-122"/>
                <a:cs typeface="Noto Sans JP" pitchFamily="34" charset="-120"/>
              </a:rPr>
              <a:t>4つの軸すべてで取り組みを開始している</a:t>
            </a:r>
            <a:endParaRPr lang="en-US" sz="2200" dirty="0"/>
          </a:p>
        </p:txBody>
      </p:sp>
      <p:sp>
        <p:nvSpPr>
          <p:cNvPr id="5" name="Shape 3"/>
          <p:cNvSpPr/>
          <p:nvPr/>
        </p:nvSpPr>
        <p:spPr>
          <a:xfrm>
            <a:off x="0" y="1051560"/>
            <a:ext cx="9144000" cy="9144"/>
          </a:xfrm>
          <a:prstGeom prst="rect">
            <a:avLst/>
          </a:prstGeom>
          <a:solidFill>
            <a:srgbClr val="CCCCCC"/>
          </a:solidFill>
          <a:ln w="12700">
            <a:solidFill>
              <a:srgbClr val="CCCCCC"/>
            </a:solidFill>
            <a:prstDash val="solid"/>
          </a:ln>
        </p:spPr>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
        <p:nvSpPr>
          <p:cNvPr id="8" name="Shape 6"/>
          <p:cNvSpPr/>
          <p:nvPr/>
        </p:nvSpPr>
        <p:spPr>
          <a:xfrm>
            <a:off x="365760" y="1188720"/>
            <a:ext cx="4114800" cy="1787652"/>
          </a:xfrm>
          <a:prstGeom prst="roundRect">
            <a:avLst>
              <a:gd name="adj" fmla="val 1535"/>
            </a:avLst>
          </a:prstGeom>
          <a:solidFill>
            <a:srgbClr val="F2F2F2"/>
          </a:solidFill>
          <a:ln/>
        </p:spPr>
      </p:sp>
      <p:sp>
        <p:nvSpPr>
          <p:cNvPr id="9" name="Shape 7"/>
          <p:cNvSpPr/>
          <p:nvPr/>
        </p:nvSpPr>
        <p:spPr>
          <a:xfrm>
            <a:off x="384048" y="1188720"/>
            <a:ext cx="4078224" cy="54864"/>
          </a:xfrm>
          <a:prstGeom prst="rect">
            <a:avLst/>
          </a:prstGeom>
          <a:solidFill>
            <a:srgbClr val="00118F"/>
          </a:solidFill>
          <a:ln/>
        </p:spPr>
      </p:sp>
      <p:sp>
        <p:nvSpPr>
          <p:cNvPr id="10" name="Shape 8"/>
          <p:cNvSpPr/>
          <p:nvPr/>
        </p:nvSpPr>
        <p:spPr>
          <a:xfrm>
            <a:off x="457200" y="1325880"/>
            <a:ext cx="1005840" cy="237744"/>
          </a:xfrm>
          <a:prstGeom prst="roundRect">
            <a:avLst>
              <a:gd name="adj" fmla="val 7692"/>
            </a:avLst>
          </a:prstGeom>
          <a:solidFill>
            <a:srgbClr val="00118F"/>
          </a:solidFill>
          <a:ln/>
        </p:spPr>
      </p:sp>
      <p:sp>
        <p:nvSpPr>
          <p:cNvPr id="11" name="Text 9"/>
          <p:cNvSpPr/>
          <p:nvPr/>
        </p:nvSpPr>
        <p:spPr>
          <a:xfrm>
            <a:off x="457200" y="1325880"/>
            <a:ext cx="100584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共通基盤</a:t>
            </a:r>
            <a:endParaRPr lang="en-US" sz="1000" dirty="0"/>
          </a:p>
        </p:txBody>
      </p:sp>
      <p:sp>
        <p:nvSpPr>
          <p:cNvPr id="12" name="Text 10"/>
          <p:cNvSpPr/>
          <p:nvPr/>
        </p:nvSpPr>
        <p:spPr>
          <a:xfrm>
            <a:off x="457200" y="1627632"/>
            <a:ext cx="3931920" cy="320040"/>
          </a:xfrm>
          <a:prstGeom prst="rect">
            <a:avLst/>
          </a:prstGeom>
          <a:noFill/>
          <a:ln/>
        </p:spPr>
        <p:txBody>
          <a:bodyPr wrap="square" lIns="0" tIns="0" rIns="0" bIns="0" rtlCol="0" anchor="t"/>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リードタイムの可視化</a:t>
            </a:r>
            <a:endParaRPr lang="en-US" sz="1400" dirty="0"/>
          </a:p>
        </p:txBody>
      </p:sp>
      <p:sp>
        <p:nvSpPr>
          <p:cNvPr id="13" name="Text 11"/>
          <p:cNvSpPr/>
          <p:nvPr/>
        </p:nvSpPr>
        <p:spPr>
          <a:xfrm>
            <a:off x="457200" y="1938528"/>
            <a:ext cx="3931920" cy="918972"/>
          </a:xfrm>
          <a:prstGeom prst="rect">
            <a:avLst/>
          </a:prstGeom>
          <a:noFill/>
          <a:ln/>
        </p:spPr>
        <p:txBody>
          <a:bodyPr wrap="square" lIns="0" tIns="0" rIns="0" bIns="0" rtlCol="0" anchor="t"/>
          <a:lstStyle/>
          <a:p>
            <a:pPr algn="l" indent="0" marL="0">
              <a:lnSpc>
                <a:spcPct val="150000"/>
              </a:lnSpc>
              <a:buNone/>
            </a:pPr>
            <a:r>
              <a:rPr lang="en-US" sz="1100" dirty="0">
                <a:solidFill>
                  <a:srgbClr val="666666"/>
                </a:solidFill>
                <a:latin typeface="Noto Sans JP" pitchFamily="34" charset="0"/>
                <a:ea typeface="Noto Sans JP" pitchFamily="34" charset="-122"/>
                <a:cs typeface="Noto Sans JP" pitchFamily="34" charset="-120"/>
              </a:rPr>
              <a:t>アイデアからリリースまで、工程別のリードタイムを可視化する仕組みに取り組んでいる。どこで時間がかかっているかを把握する起点。</a:t>
            </a:r>
            <a:endParaRPr lang="en-US" sz="1100" dirty="0"/>
          </a:p>
        </p:txBody>
      </p:sp>
      <p:sp>
        <p:nvSpPr>
          <p:cNvPr id="14" name="Shape 12"/>
          <p:cNvSpPr/>
          <p:nvPr/>
        </p:nvSpPr>
        <p:spPr>
          <a:xfrm>
            <a:off x="4663440" y="1188720"/>
            <a:ext cx="4114800" cy="1787652"/>
          </a:xfrm>
          <a:prstGeom prst="roundRect">
            <a:avLst>
              <a:gd name="adj" fmla="val 1535"/>
            </a:avLst>
          </a:prstGeom>
          <a:solidFill>
            <a:srgbClr val="F2F2F2"/>
          </a:solidFill>
          <a:ln/>
        </p:spPr>
      </p:sp>
      <p:sp>
        <p:nvSpPr>
          <p:cNvPr id="15" name="Shape 13"/>
          <p:cNvSpPr/>
          <p:nvPr/>
        </p:nvSpPr>
        <p:spPr>
          <a:xfrm>
            <a:off x="4681728" y="1188720"/>
            <a:ext cx="4078224" cy="54864"/>
          </a:xfrm>
          <a:prstGeom prst="rect">
            <a:avLst/>
          </a:prstGeom>
          <a:solidFill>
            <a:srgbClr val="264AF4"/>
          </a:solidFill>
          <a:ln/>
        </p:spPr>
      </p:sp>
      <p:sp>
        <p:nvSpPr>
          <p:cNvPr id="16" name="Shape 14"/>
          <p:cNvSpPr/>
          <p:nvPr/>
        </p:nvSpPr>
        <p:spPr>
          <a:xfrm>
            <a:off x="4754880" y="1325880"/>
            <a:ext cx="1005840" cy="237744"/>
          </a:xfrm>
          <a:prstGeom prst="roundRect">
            <a:avLst>
              <a:gd name="adj" fmla="val 7692"/>
            </a:avLst>
          </a:prstGeom>
          <a:solidFill>
            <a:srgbClr val="264AF4"/>
          </a:solidFill>
          <a:ln/>
        </p:spPr>
      </p:sp>
      <p:sp>
        <p:nvSpPr>
          <p:cNvPr id="17" name="Text 15"/>
          <p:cNvSpPr/>
          <p:nvPr/>
        </p:nvSpPr>
        <p:spPr>
          <a:xfrm>
            <a:off x="4754880" y="1325880"/>
            <a:ext cx="100584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入口品質</a:t>
            </a:r>
            <a:endParaRPr lang="en-US" sz="1000" dirty="0"/>
          </a:p>
        </p:txBody>
      </p:sp>
      <p:sp>
        <p:nvSpPr>
          <p:cNvPr id="18" name="Text 16"/>
          <p:cNvSpPr/>
          <p:nvPr/>
        </p:nvSpPr>
        <p:spPr>
          <a:xfrm>
            <a:off x="4754880" y="1627632"/>
            <a:ext cx="3931920" cy="320040"/>
          </a:xfrm>
          <a:prstGeom prst="rect">
            <a:avLst/>
          </a:prstGeom>
          <a:noFill/>
          <a:ln/>
        </p:spPr>
        <p:txBody>
          <a:bodyPr wrap="square" lIns="0" tIns="0" rIns="0" bIns="0" rtlCol="0" anchor="t"/>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「小さく作る」考え方の浸透</a:t>
            </a:r>
            <a:endParaRPr lang="en-US" sz="1400" dirty="0"/>
          </a:p>
        </p:txBody>
      </p:sp>
      <p:sp>
        <p:nvSpPr>
          <p:cNvPr id="19" name="Text 17"/>
          <p:cNvSpPr/>
          <p:nvPr/>
        </p:nvSpPr>
        <p:spPr>
          <a:xfrm>
            <a:off x="4754880" y="1938528"/>
            <a:ext cx="3931920" cy="918972"/>
          </a:xfrm>
          <a:prstGeom prst="rect">
            <a:avLst/>
          </a:prstGeom>
          <a:noFill/>
          <a:ln/>
        </p:spPr>
        <p:txBody>
          <a:bodyPr wrap="square" lIns="0" tIns="0" rIns="0" bIns="0" rtlCol="0" anchor="t"/>
          <a:lstStyle/>
          <a:p>
            <a:pPr algn="l" indent="0" marL="0">
              <a:lnSpc>
                <a:spcPct val="150000"/>
              </a:lnSpc>
              <a:buNone/>
            </a:pPr>
            <a:r>
              <a:rPr lang="en-US" sz="1100" dirty="0">
                <a:solidFill>
                  <a:srgbClr val="666666"/>
                </a:solidFill>
                <a:latin typeface="Noto Sans JP" pitchFamily="34" charset="0"/>
                <a:ea typeface="Noto Sans JP" pitchFamily="34" charset="-122"/>
                <a:cs typeface="Noto Sans JP" pitchFamily="34" charset="-120"/>
              </a:rPr>
              <a:t>外部講師を交えて、PdM・ビジネス推進のメンバーも含めたレクチャーを実施。継続支援も受けている。仕様を決める側も含めて前提を揃える。</a:t>
            </a:r>
            <a:endParaRPr lang="en-US" sz="1100" dirty="0"/>
          </a:p>
        </p:txBody>
      </p:sp>
      <p:sp>
        <p:nvSpPr>
          <p:cNvPr id="20" name="Shape 18"/>
          <p:cNvSpPr/>
          <p:nvPr/>
        </p:nvSpPr>
        <p:spPr>
          <a:xfrm>
            <a:off x="365760" y="3159252"/>
            <a:ext cx="4114800" cy="1787652"/>
          </a:xfrm>
          <a:prstGeom prst="roundRect">
            <a:avLst>
              <a:gd name="adj" fmla="val 1535"/>
            </a:avLst>
          </a:prstGeom>
          <a:solidFill>
            <a:srgbClr val="F2F2F2"/>
          </a:solidFill>
          <a:ln/>
        </p:spPr>
      </p:sp>
      <p:sp>
        <p:nvSpPr>
          <p:cNvPr id="21" name="Shape 19"/>
          <p:cNvSpPr/>
          <p:nvPr/>
        </p:nvSpPr>
        <p:spPr>
          <a:xfrm>
            <a:off x="384048" y="3159252"/>
            <a:ext cx="4078224" cy="54864"/>
          </a:xfrm>
          <a:prstGeom prst="rect">
            <a:avLst/>
          </a:prstGeom>
          <a:solidFill>
            <a:srgbClr val="6F23D0"/>
          </a:solidFill>
          <a:ln/>
        </p:spPr>
      </p:sp>
      <p:sp>
        <p:nvSpPr>
          <p:cNvPr id="22" name="Shape 20"/>
          <p:cNvSpPr/>
          <p:nvPr/>
        </p:nvSpPr>
        <p:spPr>
          <a:xfrm>
            <a:off x="457200" y="3296412"/>
            <a:ext cx="1005840" cy="237744"/>
          </a:xfrm>
          <a:prstGeom prst="roundRect">
            <a:avLst>
              <a:gd name="adj" fmla="val 7692"/>
            </a:avLst>
          </a:prstGeom>
          <a:solidFill>
            <a:srgbClr val="6F23D0"/>
          </a:solidFill>
          <a:ln/>
        </p:spPr>
      </p:sp>
      <p:sp>
        <p:nvSpPr>
          <p:cNvPr id="23" name="Text 21"/>
          <p:cNvSpPr/>
          <p:nvPr/>
        </p:nvSpPr>
        <p:spPr>
          <a:xfrm>
            <a:off x="457200" y="3296412"/>
            <a:ext cx="100584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フロー効率</a:t>
            </a:r>
            <a:endParaRPr lang="en-US" sz="1000" dirty="0"/>
          </a:p>
        </p:txBody>
      </p:sp>
      <p:sp>
        <p:nvSpPr>
          <p:cNvPr id="24" name="Text 22"/>
          <p:cNvSpPr/>
          <p:nvPr/>
        </p:nvSpPr>
        <p:spPr>
          <a:xfrm>
            <a:off x="457200" y="3598164"/>
            <a:ext cx="3931920" cy="320040"/>
          </a:xfrm>
          <a:prstGeom prst="rect">
            <a:avLst/>
          </a:prstGeom>
          <a:noFill/>
          <a:ln/>
        </p:spPr>
        <p:txBody>
          <a:bodyPr wrap="square" lIns="0" tIns="0" rIns="0" bIns="0" rtlCol="0" anchor="t"/>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フィーチャーチームへのシフト</a:t>
            </a:r>
            <a:endParaRPr lang="en-US" sz="1400" dirty="0"/>
          </a:p>
        </p:txBody>
      </p:sp>
      <p:sp>
        <p:nvSpPr>
          <p:cNvPr id="25" name="Text 23"/>
          <p:cNvSpPr/>
          <p:nvPr/>
        </p:nvSpPr>
        <p:spPr>
          <a:xfrm>
            <a:off x="457200" y="3909060"/>
            <a:ext cx="3931920" cy="918972"/>
          </a:xfrm>
          <a:prstGeom prst="rect">
            <a:avLst/>
          </a:prstGeom>
          <a:noFill/>
          <a:ln/>
        </p:spPr>
        <p:txBody>
          <a:bodyPr wrap="square" lIns="0" tIns="0" rIns="0" bIns="0" rtlCol="0" anchor="t"/>
          <a:lstStyle/>
          <a:p>
            <a:pPr algn="l" indent="0" marL="0">
              <a:lnSpc>
                <a:spcPct val="150000"/>
              </a:lnSpc>
              <a:buNone/>
            </a:pPr>
            <a:r>
              <a:rPr lang="en-US" sz="1100" dirty="0">
                <a:solidFill>
                  <a:srgbClr val="666666"/>
                </a:solidFill>
                <a:latin typeface="Noto Sans JP" pitchFamily="34" charset="0"/>
                <a:ea typeface="Noto Sans JP" pitchFamily="34" charset="-122"/>
                <a:cs typeface="Noto Sans JP" pitchFamily="34" charset="-120"/>
              </a:rPr>
              <a:t>技術領域別のチーム構成から、1チームで機能を完成できるフィーチャーチームへのシフトを進めている。チーム間の調整待ちをなくす。</a:t>
            </a:r>
            <a:endParaRPr lang="en-US" sz="1100" dirty="0"/>
          </a:p>
        </p:txBody>
      </p:sp>
      <p:sp>
        <p:nvSpPr>
          <p:cNvPr id="26" name="Shape 24"/>
          <p:cNvSpPr/>
          <p:nvPr/>
        </p:nvSpPr>
        <p:spPr>
          <a:xfrm>
            <a:off x="4663440" y="3159252"/>
            <a:ext cx="4114800" cy="1787652"/>
          </a:xfrm>
          <a:prstGeom prst="roundRect">
            <a:avLst>
              <a:gd name="adj" fmla="val 1535"/>
            </a:avLst>
          </a:prstGeom>
          <a:solidFill>
            <a:srgbClr val="F2F2F2"/>
          </a:solidFill>
          <a:ln/>
        </p:spPr>
      </p:sp>
      <p:sp>
        <p:nvSpPr>
          <p:cNvPr id="27" name="Shape 25"/>
          <p:cNvSpPr/>
          <p:nvPr/>
        </p:nvSpPr>
        <p:spPr>
          <a:xfrm>
            <a:off x="4681728" y="3159252"/>
            <a:ext cx="4078224" cy="54864"/>
          </a:xfrm>
          <a:prstGeom prst="rect">
            <a:avLst/>
          </a:prstGeom>
          <a:solidFill>
            <a:srgbClr val="1D8B56"/>
          </a:solidFill>
          <a:ln/>
        </p:spPr>
      </p:sp>
      <p:sp>
        <p:nvSpPr>
          <p:cNvPr id="28" name="Shape 26"/>
          <p:cNvSpPr/>
          <p:nvPr/>
        </p:nvSpPr>
        <p:spPr>
          <a:xfrm>
            <a:off x="4754880" y="3296412"/>
            <a:ext cx="1005840" cy="237744"/>
          </a:xfrm>
          <a:prstGeom prst="roundRect">
            <a:avLst>
              <a:gd name="adj" fmla="val 7692"/>
            </a:avLst>
          </a:prstGeom>
          <a:solidFill>
            <a:srgbClr val="1D8B56"/>
          </a:solidFill>
          <a:ln/>
        </p:spPr>
      </p:sp>
      <p:sp>
        <p:nvSpPr>
          <p:cNvPr id="29" name="Text 27"/>
          <p:cNvSpPr/>
          <p:nvPr/>
        </p:nvSpPr>
        <p:spPr>
          <a:xfrm>
            <a:off x="4754880" y="3296412"/>
            <a:ext cx="100584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JP" pitchFamily="34" charset="0"/>
                <a:ea typeface="Noto Sans JP" pitchFamily="34" charset="-122"/>
                <a:cs typeface="Noto Sans JP" pitchFamily="34" charset="-120"/>
              </a:rPr>
              <a:t>学習ループ</a:t>
            </a:r>
            <a:endParaRPr lang="en-US" sz="1000" dirty="0"/>
          </a:p>
        </p:txBody>
      </p:sp>
      <p:sp>
        <p:nvSpPr>
          <p:cNvPr id="30" name="Text 28"/>
          <p:cNvSpPr/>
          <p:nvPr/>
        </p:nvSpPr>
        <p:spPr>
          <a:xfrm>
            <a:off x="4754880" y="3598164"/>
            <a:ext cx="3931920" cy="320040"/>
          </a:xfrm>
          <a:prstGeom prst="rect">
            <a:avLst/>
          </a:prstGeom>
          <a:noFill/>
          <a:ln/>
        </p:spPr>
        <p:txBody>
          <a:bodyPr wrap="square" lIns="0" tIns="0" rIns="0" bIns="0" rtlCol="0" anchor="t"/>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検証ログの仕組みづくり</a:t>
            </a:r>
            <a:endParaRPr lang="en-US" sz="1400" dirty="0"/>
          </a:p>
        </p:txBody>
      </p:sp>
      <p:sp>
        <p:nvSpPr>
          <p:cNvPr id="31" name="Text 29"/>
          <p:cNvSpPr/>
          <p:nvPr/>
        </p:nvSpPr>
        <p:spPr>
          <a:xfrm>
            <a:off x="4754880" y="3909060"/>
            <a:ext cx="3931920" cy="918972"/>
          </a:xfrm>
          <a:prstGeom prst="rect">
            <a:avLst/>
          </a:prstGeom>
          <a:noFill/>
          <a:ln/>
        </p:spPr>
        <p:txBody>
          <a:bodyPr wrap="square" lIns="0" tIns="0" rIns="0" bIns="0" rtlCol="0" anchor="t"/>
          <a:lstStyle/>
          <a:p>
            <a:pPr algn="l" indent="0" marL="0">
              <a:lnSpc>
                <a:spcPct val="150000"/>
              </a:lnSpc>
              <a:buNone/>
            </a:pPr>
            <a:r>
              <a:rPr lang="en-US" sz="1100" dirty="0">
                <a:solidFill>
                  <a:srgbClr val="666666"/>
                </a:solidFill>
                <a:latin typeface="Noto Sans JP" pitchFamily="34" charset="0"/>
                <a:ea typeface="Noto Sans JP" pitchFamily="34" charset="-122"/>
                <a:cs typeface="Noto Sans JP" pitchFamily="34" charset="-120"/>
              </a:rPr>
              <a:t>リリース後の結果を記録・計測する仕組みを整備中。出して終わりではなく、次の判断に使えるようにする。</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73152"/>
            <a:ext cx="8412480" cy="201168"/>
          </a:xfrm>
          <a:prstGeom prst="rect">
            <a:avLst/>
          </a:prstGeom>
          <a:noFill/>
          <a:ln/>
        </p:spPr>
        <p:txBody>
          <a:bodyPr wrap="square" lIns="0" tIns="0" rIns="0" bIns="0" rtlCol="0" anchor="ctr"/>
          <a:lstStyle/>
          <a:p>
            <a:pPr algn="l" indent="0" marL="0">
              <a:buNone/>
            </a:pPr>
            <a:r>
              <a:rPr lang="en-US" sz="900" dirty="0">
                <a:solidFill>
                  <a:srgbClr val="666666"/>
                </a:solidFill>
                <a:latin typeface="Noto Sans JP" pitchFamily="34" charset="0"/>
                <a:ea typeface="Noto Sans JP" pitchFamily="34" charset="-122"/>
                <a:cs typeface="Noto Sans JP" pitchFamily="34" charset="-120"/>
              </a:rPr>
              <a:t>DPG OKR FY26  &gt;  挑戦KR②  &gt;  初回報告</a:t>
            </a:r>
            <a:endParaRPr lang="en-US" sz="900" dirty="0"/>
          </a:p>
        </p:txBody>
      </p:sp>
      <p:sp>
        <p:nvSpPr>
          <p:cNvPr id="3" name="Shape 1"/>
          <p:cNvSpPr/>
          <p:nvPr/>
        </p:nvSpPr>
        <p:spPr>
          <a:xfrm>
            <a:off x="0" y="310896"/>
            <a:ext cx="9144000" cy="9144"/>
          </a:xfrm>
          <a:prstGeom prst="rect">
            <a:avLst/>
          </a:prstGeom>
          <a:solidFill>
            <a:srgbClr val="CCCCCC"/>
          </a:solidFill>
          <a:ln w="12700">
            <a:solidFill>
              <a:srgbClr val="CCCCCC"/>
            </a:solidFill>
            <a:prstDash val="solid"/>
          </a:ln>
        </p:spPr>
      </p:sp>
      <p:sp>
        <p:nvSpPr>
          <p:cNvPr id="4" name="Text 2"/>
          <p:cNvSpPr/>
          <p:nvPr/>
        </p:nvSpPr>
        <p:spPr>
          <a:xfrm>
            <a:off x="365760" y="384048"/>
            <a:ext cx="8412480" cy="594360"/>
          </a:xfrm>
          <a:prstGeom prst="rect">
            <a:avLst/>
          </a:prstGeom>
          <a:noFill/>
          <a:ln/>
        </p:spPr>
        <p:txBody>
          <a:bodyPr wrap="square" lIns="0" tIns="0" rIns="0" bIns="0" rtlCol="0" anchor="ctr"/>
          <a:lstStyle/>
          <a:p>
            <a:pPr algn="l" indent="0" marL="0">
              <a:buNone/>
            </a:pPr>
            <a:r>
              <a:rPr lang="en-US" sz="2200" b="1" dirty="0">
                <a:solidFill>
                  <a:srgbClr val="1A1A1A"/>
                </a:solidFill>
                <a:latin typeface="Noto Sans JP" pitchFamily="34" charset="0"/>
                <a:ea typeface="Noto Sans JP" pitchFamily="34" charset="-122"/>
                <a:cs typeface="Noto Sans JP" pitchFamily="34" charset="-120"/>
              </a:rPr>
              <a:t>6月末にベースライン数値と2Q目標を持って再報告する</a:t>
            </a:r>
            <a:endParaRPr lang="en-US" sz="2200" dirty="0"/>
          </a:p>
        </p:txBody>
      </p:sp>
      <p:sp>
        <p:nvSpPr>
          <p:cNvPr id="5" name="Shape 3"/>
          <p:cNvSpPr/>
          <p:nvPr/>
        </p:nvSpPr>
        <p:spPr>
          <a:xfrm>
            <a:off x="0" y="1051560"/>
            <a:ext cx="9144000" cy="9144"/>
          </a:xfrm>
          <a:prstGeom prst="rect">
            <a:avLst/>
          </a:prstGeom>
          <a:solidFill>
            <a:srgbClr val="CCCCCC"/>
          </a:solidFill>
          <a:ln w="12700">
            <a:solidFill>
              <a:srgbClr val="CCCCCC"/>
            </a:solidFill>
            <a:prstDash val="solid"/>
          </a:ln>
        </p:spPr>
      </p:sp>
      <p:sp>
        <p:nvSpPr>
          <p:cNvPr id="6" name="Shape 4"/>
          <p:cNvSpPr/>
          <p:nvPr/>
        </p:nvSpPr>
        <p:spPr>
          <a:xfrm>
            <a:off x="0" y="5084064"/>
            <a:ext cx="7315200" cy="64008"/>
          </a:xfrm>
          <a:prstGeom prst="rect">
            <a:avLst/>
          </a:prstGeom>
          <a:solidFill>
            <a:srgbClr val="00118F"/>
          </a:solidFill>
          <a:ln w="12700">
            <a:solidFill>
              <a:srgbClr val="00118F"/>
            </a:solidFill>
            <a:prstDash val="solid"/>
          </a:ln>
        </p:spPr>
      </p:sp>
      <p:sp>
        <p:nvSpPr>
          <p:cNvPr id="7" name="Shape 5"/>
          <p:cNvSpPr/>
          <p:nvPr/>
        </p:nvSpPr>
        <p:spPr>
          <a:xfrm>
            <a:off x="7315200" y="5084064"/>
            <a:ext cx="1828800" cy="64008"/>
          </a:xfrm>
          <a:prstGeom prst="rect">
            <a:avLst/>
          </a:prstGeom>
          <a:solidFill>
            <a:srgbClr val="FB5B01"/>
          </a:solidFill>
          <a:ln w="12700">
            <a:solidFill>
              <a:srgbClr val="FB5B01"/>
            </a:solidFill>
            <a:prstDash val="solid"/>
          </a:ln>
        </p:spPr>
      </p:sp>
      <p:sp>
        <p:nvSpPr>
          <p:cNvPr id="8" name="Text 6"/>
          <p:cNvSpPr/>
          <p:nvPr/>
        </p:nvSpPr>
        <p:spPr>
          <a:xfrm>
            <a:off x="365760" y="1188720"/>
            <a:ext cx="8412480" cy="548640"/>
          </a:xfrm>
          <a:prstGeom prst="rect">
            <a:avLst/>
          </a:prstGeom>
          <a:noFill/>
          <a:ln/>
        </p:spPr>
        <p:txBody>
          <a:bodyPr wrap="square" lIns="0" tIns="0" rIns="0" bIns="0" rtlCol="0" anchor="ctr"/>
          <a:lstStyle/>
          <a:p>
            <a:pPr algn="l" indent="0" marL="0">
              <a:lnSpc>
                <a:spcPct val="160000"/>
              </a:lnSpc>
              <a:buNone/>
            </a:pPr>
            <a:r>
              <a:rPr lang="en-US" sz="1400" dirty="0">
                <a:solidFill>
                  <a:srgbClr val="1A1A1A"/>
                </a:solidFill>
                <a:latin typeface="Noto Sans JP" pitchFamily="34" charset="0"/>
                <a:ea typeface="Noto Sans JP" pitchFamily="34" charset="-122"/>
                <a:cs typeface="Noto Sans JP" pitchFamily="34" charset="-120"/>
              </a:rPr>
              <a:t>今回は「方針とやっていること」の報告。</a:t>
            </a:r>
            <a:endParaRPr lang="en-US" sz="1400" dirty="0"/>
          </a:p>
          <a:p>
            <a:pPr algn="l" indent="0" marL="0">
              <a:lnSpc>
                <a:spcPct val="160000"/>
              </a:lnSpc>
              <a:buNone/>
            </a:pPr>
            <a:r>
              <a:rPr lang="en-US" sz="1400" dirty="0">
                <a:solidFill>
                  <a:srgbClr val="1A1A1A"/>
                </a:solidFill>
                <a:latin typeface="Noto Sans JP" pitchFamily="34" charset="0"/>
                <a:ea typeface="Noto Sans JP" pitchFamily="34" charset="-122"/>
                <a:cs typeface="Noto Sans JP" pitchFamily="34" charset="-120"/>
              </a:rPr>
              <a:t>次回は「データでこう見えたので、こうします」という報告。</a:t>
            </a:r>
            <a:endParaRPr lang="en-US" sz="1400" dirty="0"/>
          </a:p>
        </p:txBody>
      </p:sp>
      <p:sp>
        <p:nvSpPr>
          <p:cNvPr id="9" name="Shape 7"/>
          <p:cNvSpPr/>
          <p:nvPr/>
        </p:nvSpPr>
        <p:spPr>
          <a:xfrm>
            <a:off x="365760" y="1920240"/>
            <a:ext cx="8412480" cy="685800"/>
          </a:xfrm>
          <a:prstGeom prst="roundRect">
            <a:avLst>
              <a:gd name="adj" fmla="val 4000"/>
            </a:avLst>
          </a:prstGeom>
          <a:solidFill>
            <a:srgbClr val="F2F2F2"/>
          </a:solidFill>
          <a:ln/>
        </p:spPr>
      </p:sp>
      <p:sp>
        <p:nvSpPr>
          <p:cNvPr id="10" name="Shape 8"/>
          <p:cNvSpPr/>
          <p:nvPr/>
        </p:nvSpPr>
        <p:spPr>
          <a:xfrm>
            <a:off x="548640" y="2116836"/>
            <a:ext cx="292608" cy="292608"/>
          </a:xfrm>
          <a:prstGeom prst="ellipse">
            <a:avLst/>
          </a:prstGeom>
          <a:solidFill>
            <a:srgbClr val="264AF4"/>
          </a:solidFill>
          <a:ln/>
        </p:spPr>
      </p:sp>
      <p:sp>
        <p:nvSpPr>
          <p:cNvPr id="11" name="Text 9"/>
          <p:cNvSpPr/>
          <p:nvPr/>
        </p:nvSpPr>
        <p:spPr>
          <a:xfrm>
            <a:off x="548640" y="211683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10"/>
          <p:cNvSpPr/>
          <p:nvPr/>
        </p:nvSpPr>
        <p:spPr>
          <a:xfrm>
            <a:off x="1005840" y="1993392"/>
            <a:ext cx="7589520" cy="292608"/>
          </a:xfrm>
          <a:prstGeom prst="rect">
            <a:avLst/>
          </a:prstGeom>
          <a:noFill/>
          <a:ln/>
        </p:spPr>
        <p:txBody>
          <a:bodyPr wrap="square" lIns="0" tIns="0" rIns="0" bIns="0" rtlCol="0" anchor="ctr"/>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各チームのリードタイムのベースライン（現状値）</a:t>
            </a:r>
            <a:endParaRPr lang="en-US" sz="1400" dirty="0"/>
          </a:p>
        </p:txBody>
      </p:sp>
      <p:sp>
        <p:nvSpPr>
          <p:cNvPr id="13" name="Text 11"/>
          <p:cNvSpPr/>
          <p:nvPr/>
        </p:nvSpPr>
        <p:spPr>
          <a:xfrm>
            <a:off x="1005840" y="2286000"/>
            <a:ext cx="7589520" cy="256032"/>
          </a:xfrm>
          <a:prstGeom prst="rect">
            <a:avLst/>
          </a:prstGeom>
          <a:noFill/>
          <a:ln/>
        </p:spPr>
        <p:txBody>
          <a:bodyPr wrap="square" lIns="0" tIns="0" rIns="0" bIns="0" rtlCol="0" anchor="ctr"/>
          <a:lstStyle/>
          <a:p>
            <a:pPr algn="l" indent="0" marL="0">
              <a:buNone/>
            </a:pPr>
            <a:r>
              <a:rPr lang="en-US" sz="1200" dirty="0">
                <a:solidFill>
                  <a:srgbClr val="666666"/>
                </a:solidFill>
                <a:latin typeface="Noto Sans JP" pitchFamily="34" charset="0"/>
                <a:ea typeface="Noto Sans JP" pitchFamily="34" charset="-122"/>
                <a:cs typeface="Noto Sans JP" pitchFamily="34" charset="-120"/>
              </a:rPr>
              <a:t>どの工程にどれだけ時間がかかっているかを数値で示す</a:t>
            </a:r>
            <a:endParaRPr lang="en-US" sz="1200" dirty="0"/>
          </a:p>
        </p:txBody>
      </p:sp>
      <p:sp>
        <p:nvSpPr>
          <p:cNvPr id="14" name="Shape 12"/>
          <p:cNvSpPr/>
          <p:nvPr/>
        </p:nvSpPr>
        <p:spPr>
          <a:xfrm>
            <a:off x="365760" y="2715768"/>
            <a:ext cx="8412480" cy="685800"/>
          </a:xfrm>
          <a:prstGeom prst="roundRect">
            <a:avLst>
              <a:gd name="adj" fmla="val 4000"/>
            </a:avLst>
          </a:prstGeom>
          <a:solidFill>
            <a:srgbClr val="F2F2F2"/>
          </a:solidFill>
          <a:ln/>
        </p:spPr>
      </p:sp>
      <p:sp>
        <p:nvSpPr>
          <p:cNvPr id="15" name="Shape 13"/>
          <p:cNvSpPr/>
          <p:nvPr/>
        </p:nvSpPr>
        <p:spPr>
          <a:xfrm>
            <a:off x="548640" y="2912364"/>
            <a:ext cx="292608" cy="292608"/>
          </a:xfrm>
          <a:prstGeom prst="ellipse">
            <a:avLst/>
          </a:prstGeom>
          <a:solidFill>
            <a:srgbClr val="264AF4"/>
          </a:solidFill>
          <a:ln/>
        </p:spPr>
      </p:sp>
      <p:sp>
        <p:nvSpPr>
          <p:cNvPr id="16" name="Text 14"/>
          <p:cNvSpPr/>
          <p:nvPr/>
        </p:nvSpPr>
        <p:spPr>
          <a:xfrm>
            <a:off x="548640" y="291236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1005840" y="2788920"/>
            <a:ext cx="7589520" cy="292608"/>
          </a:xfrm>
          <a:prstGeom prst="rect">
            <a:avLst/>
          </a:prstGeom>
          <a:noFill/>
          <a:ln/>
        </p:spPr>
        <p:txBody>
          <a:bodyPr wrap="square" lIns="0" tIns="0" rIns="0" bIns="0" rtlCol="0" anchor="ctr"/>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2Q以降の具体的な改善目標</a:t>
            </a:r>
            <a:endParaRPr lang="en-US" sz="1400" dirty="0"/>
          </a:p>
        </p:txBody>
      </p:sp>
      <p:sp>
        <p:nvSpPr>
          <p:cNvPr id="18" name="Text 16"/>
          <p:cNvSpPr/>
          <p:nvPr/>
        </p:nvSpPr>
        <p:spPr>
          <a:xfrm>
            <a:off x="1005840" y="3081528"/>
            <a:ext cx="7589520" cy="256032"/>
          </a:xfrm>
          <a:prstGeom prst="rect">
            <a:avLst/>
          </a:prstGeom>
          <a:noFill/>
          <a:ln/>
        </p:spPr>
        <p:txBody>
          <a:bodyPr wrap="square" lIns="0" tIns="0" rIns="0" bIns="0" rtlCol="0" anchor="ctr"/>
          <a:lstStyle/>
          <a:p>
            <a:pPr algn="l" indent="0" marL="0">
              <a:buNone/>
            </a:pPr>
            <a:r>
              <a:rPr lang="en-US" sz="1200" dirty="0">
                <a:solidFill>
                  <a:srgbClr val="666666"/>
                </a:solidFill>
                <a:latin typeface="Noto Sans JP" pitchFamily="34" charset="0"/>
                <a:ea typeface="Noto Sans JP" pitchFamily="34" charset="-122"/>
                <a:cs typeface="Noto Sans JP" pitchFamily="34" charset="-120"/>
              </a:rPr>
              <a:t>ベースラインに対して、どの指標をどこまで改善するかを設定する</a:t>
            </a:r>
            <a:endParaRPr lang="en-US" sz="1200" dirty="0"/>
          </a:p>
        </p:txBody>
      </p:sp>
      <p:sp>
        <p:nvSpPr>
          <p:cNvPr id="19" name="Shape 17"/>
          <p:cNvSpPr/>
          <p:nvPr/>
        </p:nvSpPr>
        <p:spPr>
          <a:xfrm>
            <a:off x="365760" y="3511296"/>
            <a:ext cx="8412480" cy="685800"/>
          </a:xfrm>
          <a:prstGeom prst="roundRect">
            <a:avLst>
              <a:gd name="adj" fmla="val 4000"/>
            </a:avLst>
          </a:prstGeom>
          <a:solidFill>
            <a:srgbClr val="F2F2F2"/>
          </a:solidFill>
          <a:ln/>
        </p:spPr>
      </p:sp>
      <p:sp>
        <p:nvSpPr>
          <p:cNvPr id="20" name="Shape 18"/>
          <p:cNvSpPr/>
          <p:nvPr/>
        </p:nvSpPr>
        <p:spPr>
          <a:xfrm>
            <a:off x="548640" y="3707892"/>
            <a:ext cx="292608" cy="292608"/>
          </a:xfrm>
          <a:prstGeom prst="ellipse">
            <a:avLst/>
          </a:prstGeom>
          <a:solidFill>
            <a:srgbClr val="264AF4"/>
          </a:solidFill>
          <a:ln/>
        </p:spPr>
      </p:sp>
      <p:sp>
        <p:nvSpPr>
          <p:cNvPr id="21" name="Text 19"/>
          <p:cNvSpPr/>
          <p:nvPr/>
        </p:nvSpPr>
        <p:spPr>
          <a:xfrm>
            <a:off x="548640" y="37078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1005840" y="3584448"/>
            <a:ext cx="7589520" cy="292608"/>
          </a:xfrm>
          <a:prstGeom prst="rect">
            <a:avLst/>
          </a:prstGeom>
          <a:noFill/>
          <a:ln/>
        </p:spPr>
        <p:txBody>
          <a:bodyPr wrap="square" lIns="0" tIns="0" rIns="0" bIns="0" rtlCol="0" anchor="ctr"/>
          <a:lstStyle/>
          <a:p>
            <a:pPr algn="l" indent="0" marL="0">
              <a:buNone/>
            </a:pPr>
            <a:r>
              <a:rPr lang="en-US" sz="1400" b="1" dirty="0">
                <a:solidFill>
                  <a:srgbClr val="1A1A1A"/>
                </a:solidFill>
                <a:latin typeface="Noto Sans JP" pitchFamily="34" charset="0"/>
                <a:ea typeface="Noto Sans JP" pitchFamily="34" charset="-122"/>
                <a:cs typeface="Noto Sans JP" pitchFamily="34" charset="-120"/>
              </a:rPr>
              <a:t>チームごとの4Q末到達イメージ</a:t>
            </a:r>
            <a:endParaRPr lang="en-US" sz="1400" dirty="0"/>
          </a:p>
        </p:txBody>
      </p:sp>
      <p:sp>
        <p:nvSpPr>
          <p:cNvPr id="23" name="Text 21"/>
          <p:cNvSpPr/>
          <p:nvPr/>
        </p:nvSpPr>
        <p:spPr>
          <a:xfrm>
            <a:off x="1005840" y="3877056"/>
            <a:ext cx="7589520" cy="256032"/>
          </a:xfrm>
          <a:prstGeom prst="rect">
            <a:avLst/>
          </a:prstGeom>
          <a:noFill/>
          <a:ln/>
        </p:spPr>
        <p:txBody>
          <a:bodyPr wrap="square" lIns="0" tIns="0" rIns="0" bIns="0" rtlCol="0" anchor="ctr"/>
          <a:lstStyle/>
          <a:p>
            <a:pPr algn="l" indent="0" marL="0">
              <a:buNone/>
            </a:pPr>
            <a:r>
              <a:rPr lang="en-US" sz="1200" dirty="0">
                <a:solidFill>
                  <a:srgbClr val="666666"/>
                </a:solidFill>
                <a:latin typeface="Noto Sans JP" pitchFamily="34" charset="0"/>
                <a:ea typeface="Noto Sans JP" pitchFamily="34" charset="-122"/>
                <a:cs typeface="Noto Sans JP" pitchFamily="34" charset="-120"/>
              </a:rPr>
              <a:t>年度末にどういう状態になっているかの見通しを示す</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2026-04-15T07:37:05Z</dcterms:created>
  <dcterms:modified xsi:type="dcterms:W3CDTF">2026-04-15T07:37:05Z</dcterms:modified>
</cp:coreProperties>
</file>