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0118F"/>
          </a:solidFill>
          <a:ln/>
        </p:spPr>
      </p:sp>
      <p:sp>
        <p:nvSpPr>
          <p:cNvPr id="3" name="Shape 1"/>
          <p:cNvSpPr/>
          <p:nvPr/>
        </p:nvSpPr>
        <p:spPr>
          <a:xfrm>
            <a:off x="548640" y="731520"/>
            <a:ext cx="1097280" cy="36576"/>
          </a:xfrm>
          <a:prstGeom prst="rect">
            <a:avLst/>
          </a:prstGeom>
          <a:solidFill>
            <a:srgbClr val="FB5B01"/>
          </a:solidFill>
          <a:ln/>
        </p:spPr>
      </p:sp>
      <p:sp>
        <p:nvSpPr>
          <p:cNvPr id="4" name="Text 2"/>
          <p:cNvSpPr/>
          <p:nvPr/>
        </p:nvSpPr>
        <p:spPr>
          <a:xfrm>
            <a:off x="548640" y="1097280"/>
            <a:ext cx="8046720" cy="1463040"/>
          </a:xfrm>
          <a:prstGeom prst="rect">
            <a:avLst/>
          </a:prstGeom>
          <a:noFill/>
          <a:ln/>
        </p:spPr>
        <p:txBody>
          <a:bodyPr wrap="square" lIns="0" tIns="0" rIns="0" bIns="0" rtlCol="0" anchor="ctr"/>
          <a:lstStyle/>
          <a:p>
            <a:pPr algn="l" indent="0" marL="0">
              <a:lnSpc>
                <a:spcPct val="120000"/>
              </a:lnSpc>
              <a:buNone/>
            </a:pPr>
            <a:r>
              <a:rPr lang="en-US" sz="3600" b="1" dirty="0">
                <a:solidFill>
                  <a:srgbClr val="00118F"/>
                </a:solidFill>
                <a:latin typeface="Noto Sans JP" pitchFamily="34" charset="0"/>
                <a:ea typeface="Noto Sans JP" pitchFamily="34" charset="-122"/>
                <a:cs typeface="Noto Sans JP" pitchFamily="34" charset="-120"/>
              </a:rPr>
              <a:t>挑戦KR２報告</a:t>
            </a:r>
            <a:endParaRPr lang="en-US" sz="3600" dirty="0"/>
          </a:p>
        </p:txBody>
      </p:sp>
      <p:sp>
        <p:nvSpPr>
          <p:cNvPr id="5" name="Text 3"/>
          <p:cNvSpPr/>
          <p:nvPr/>
        </p:nvSpPr>
        <p:spPr>
          <a:xfrm>
            <a:off x="548640" y="3383280"/>
            <a:ext cx="3657600" cy="274320"/>
          </a:xfrm>
          <a:prstGeom prst="rect">
            <a:avLst/>
          </a:prstGeom>
          <a:noFill/>
          <a:ln/>
        </p:spPr>
        <p:txBody>
          <a:bodyPr wrap="square" rtlCol="0" anchor="ctr"/>
          <a:lstStyle/>
          <a:p>
            <a:pPr algn="l" indent="0" marL="0">
              <a:buNone/>
            </a:pPr>
            <a:r>
              <a:rPr lang="en-US" sz="1200" dirty="0">
                <a:solidFill>
                  <a:srgbClr val="666666"/>
                </a:solidFill>
                <a:latin typeface="Noto Sans JP" pitchFamily="34" charset="0"/>
                <a:ea typeface="Noto Sans JP" pitchFamily="34" charset="-122"/>
                <a:cs typeface="Noto Sans JP" pitchFamily="34" charset="-120"/>
              </a:rPr>
              <a:t>2026-04-21</a:t>
            </a:r>
            <a:endParaRPr lang="en-US" sz="1200" dirty="0"/>
          </a:p>
        </p:txBody>
      </p:sp>
      <p:sp>
        <p:nvSpPr>
          <p:cNvPr id="6" name="Shape 4"/>
          <p:cNvSpPr/>
          <p:nvPr/>
        </p:nvSpPr>
        <p:spPr>
          <a:xfrm>
            <a:off x="0" y="5084064"/>
            <a:ext cx="7315200" cy="64008"/>
          </a:xfrm>
          <a:prstGeom prst="rect">
            <a:avLst/>
          </a:prstGeom>
          <a:solidFill>
            <a:srgbClr val="00118F"/>
          </a:solidFill>
          <a:ln w="12700">
            <a:solidFill>
              <a:srgbClr val="00118F"/>
            </a:solidFill>
            <a:prstDash val="solid"/>
          </a:ln>
        </p:spPr>
      </p:sp>
      <p:sp>
        <p:nvSpPr>
          <p:cNvPr id="7" name="Shape 5"/>
          <p:cNvSpPr/>
          <p:nvPr/>
        </p:nvSpPr>
        <p:spPr>
          <a:xfrm>
            <a:off x="7315200" y="5084064"/>
            <a:ext cx="1828800" cy="64008"/>
          </a:xfrm>
          <a:prstGeom prst="rect">
            <a:avLst/>
          </a:prstGeom>
          <a:solidFill>
            <a:srgbClr val="FB5B01"/>
          </a:solidFill>
          <a:ln w="12700">
            <a:solidFill>
              <a:srgbClr val="FB5B01"/>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73152"/>
            <a:ext cx="8412480" cy="201168"/>
          </a:xfrm>
          <a:prstGeom prst="rect">
            <a:avLst/>
          </a:prstGeom>
          <a:noFill/>
          <a:ln/>
        </p:spPr>
        <p:txBody>
          <a:bodyPr wrap="square" lIns="0" tIns="0" rIns="0" bIns="0" rtlCol="0" anchor="ctr"/>
          <a:lstStyle/>
          <a:p>
            <a:pPr algn="l" indent="0" marL="0">
              <a:buNone/>
            </a:pPr>
            <a:r>
              <a:rPr lang="en-US" sz="900" dirty="0">
                <a:solidFill>
                  <a:srgbClr val="666666"/>
                </a:solidFill>
                <a:latin typeface="Noto Sans JP" pitchFamily="34" charset="0"/>
                <a:ea typeface="Noto Sans JP" pitchFamily="34" charset="-122"/>
                <a:cs typeface="Noto Sans JP" pitchFamily="34" charset="-120"/>
              </a:rPr>
              <a:t>OKR 挑戦KR2</a:t>
            </a:r>
            <a:endParaRPr lang="en-US" sz="900" dirty="0"/>
          </a:p>
        </p:txBody>
      </p:sp>
      <p:sp>
        <p:nvSpPr>
          <p:cNvPr id="3" name="Shape 1"/>
          <p:cNvSpPr/>
          <p:nvPr/>
        </p:nvSpPr>
        <p:spPr>
          <a:xfrm>
            <a:off x="0" y="310896"/>
            <a:ext cx="9144000" cy="9144"/>
          </a:xfrm>
          <a:prstGeom prst="rect">
            <a:avLst/>
          </a:prstGeom>
          <a:solidFill>
            <a:srgbClr val="CCCCCC"/>
          </a:solidFill>
          <a:ln w="12700">
            <a:solidFill>
              <a:srgbClr val="CCCCCC"/>
            </a:solidFill>
            <a:prstDash val="solid"/>
          </a:ln>
        </p:spPr>
      </p:sp>
      <p:sp>
        <p:nvSpPr>
          <p:cNvPr id="4" name="Shape 2"/>
          <p:cNvSpPr/>
          <p:nvPr/>
        </p:nvSpPr>
        <p:spPr>
          <a:xfrm>
            <a:off x="0" y="5084064"/>
            <a:ext cx="7315200" cy="64008"/>
          </a:xfrm>
          <a:prstGeom prst="rect">
            <a:avLst/>
          </a:prstGeom>
          <a:solidFill>
            <a:srgbClr val="00118F"/>
          </a:solidFill>
          <a:ln w="12700">
            <a:solidFill>
              <a:srgbClr val="00118F"/>
            </a:solidFill>
            <a:prstDash val="solid"/>
          </a:ln>
        </p:spPr>
      </p:sp>
      <p:sp>
        <p:nvSpPr>
          <p:cNvPr id="5" name="Shape 3"/>
          <p:cNvSpPr/>
          <p:nvPr/>
        </p:nvSpPr>
        <p:spPr>
          <a:xfrm>
            <a:off x="7315200" y="5084064"/>
            <a:ext cx="1828800" cy="64008"/>
          </a:xfrm>
          <a:prstGeom prst="rect">
            <a:avLst/>
          </a:prstGeom>
          <a:solidFill>
            <a:srgbClr val="FB5B01"/>
          </a:solidFill>
          <a:ln w="12700">
            <a:solidFill>
              <a:srgbClr val="FB5B01"/>
            </a:solidFill>
            <a:prstDash val="solid"/>
          </a:ln>
        </p:spPr>
      </p:sp>
      <p:sp>
        <p:nvSpPr>
          <p:cNvPr id="6" name="Shape 4"/>
          <p:cNvSpPr/>
          <p:nvPr/>
        </p:nvSpPr>
        <p:spPr>
          <a:xfrm>
            <a:off x="365760" y="457200"/>
            <a:ext cx="1280160" cy="292608"/>
          </a:xfrm>
          <a:prstGeom prst="roundRect">
            <a:avLst>
              <a:gd name="adj" fmla="val 6250"/>
            </a:avLst>
          </a:prstGeom>
          <a:solidFill>
            <a:srgbClr val="00118F"/>
          </a:solidFill>
          <a:ln/>
        </p:spPr>
      </p:sp>
      <p:sp>
        <p:nvSpPr>
          <p:cNvPr id="7" name="Text 5"/>
          <p:cNvSpPr/>
          <p:nvPr/>
        </p:nvSpPr>
        <p:spPr>
          <a:xfrm>
            <a:off x="365760" y="457200"/>
            <a:ext cx="128016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Noto Sans JP" pitchFamily="34" charset="0"/>
                <a:ea typeface="Noto Sans JP" pitchFamily="34" charset="-122"/>
                <a:cs typeface="Noto Sans JP" pitchFamily="34" charset="-120"/>
              </a:rPr>
              <a:t>挑戦 KR2</a:t>
            </a:r>
            <a:endParaRPr lang="en-US" sz="1000" dirty="0"/>
          </a:p>
        </p:txBody>
      </p:sp>
      <p:sp>
        <p:nvSpPr>
          <p:cNvPr id="8" name="Text 6"/>
          <p:cNvSpPr/>
          <p:nvPr/>
        </p:nvSpPr>
        <p:spPr>
          <a:xfrm>
            <a:off x="365760" y="868680"/>
            <a:ext cx="8412480" cy="777240"/>
          </a:xfrm>
          <a:prstGeom prst="rect">
            <a:avLst/>
          </a:prstGeom>
          <a:noFill/>
          <a:ln/>
        </p:spPr>
        <p:txBody>
          <a:bodyPr wrap="square" lIns="0" tIns="0" rIns="0" bIns="0" rtlCol="0" anchor="t"/>
          <a:lstStyle/>
          <a:p>
            <a:pPr algn="l" indent="0" marL="0">
              <a:lnSpc>
                <a:spcPct val="160000"/>
              </a:lnSpc>
              <a:buNone/>
            </a:pPr>
            <a:r>
              <a:rPr lang="en-US" sz="1500" b="1" dirty="0">
                <a:solidFill>
                  <a:srgbClr val="1A1A1A"/>
                </a:solidFill>
                <a:latin typeface="Noto Sans JP" pitchFamily="34" charset="0"/>
                <a:ea typeface="Noto Sans JP" pitchFamily="34" charset="-122"/>
                <a:cs typeface="Noto Sans JP" pitchFamily="34" charset="-120"/>
              </a:rPr>
              <a:t>仮説・検証・学習が止まらず高速に巡るプロダクト開発の型を定常運用できている。</a:t>
            </a:r>
            <a:endParaRPr lang="en-US" sz="1500" dirty="0"/>
          </a:p>
          <a:p>
            <a:pPr algn="l" indent="0" marL="0">
              <a:lnSpc>
                <a:spcPct val="160000"/>
              </a:lnSpc>
              <a:buNone/>
            </a:pPr>
            <a:r>
              <a:rPr lang="en-US" sz="1500" b="1" dirty="0">
                <a:solidFill>
                  <a:srgbClr val="1A1A1A"/>
                </a:solidFill>
                <a:latin typeface="Noto Sans JP" pitchFamily="34" charset="0"/>
                <a:ea typeface="Noto Sans JP" pitchFamily="34" charset="-122"/>
                <a:cs typeface="Noto Sans JP" pitchFamily="34" charset="-120"/>
              </a:rPr>
              <a:t>小さく早く検証する考え方がメンバーに浸透し、不確実性に対してムダの少ない意思決定と実行ができている。</a:t>
            </a:r>
            <a:endParaRPr lang="en-US" sz="1500" dirty="0"/>
          </a:p>
        </p:txBody>
      </p:sp>
      <p:sp>
        <p:nvSpPr>
          <p:cNvPr id="9" name="Shape 7"/>
          <p:cNvSpPr/>
          <p:nvPr/>
        </p:nvSpPr>
        <p:spPr>
          <a:xfrm>
            <a:off x="365760" y="1737360"/>
            <a:ext cx="8412480" cy="13716"/>
          </a:xfrm>
          <a:prstGeom prst="rect">
            <a:avLst/>
          </a:prstGeom>
          <a:solidFill>
            <a:srgbClr val="264AF4"/>
          </a:solidFill>
          <a:ln/>
        </p:spPr>
      </p:sp>
      <p:sp>
        <p:nvSpPr>
          <p:cNvPr id="10" name="Text 8"/>
          <p:cNvSpPr/>
          <p:nvPr/>
        </p:nvSpPr>
        <p:spPr>
          <a:xfrm>
            <a:off x="365760" y="1828800"/>
            <a:ext cx="8412480" cy="411480"/>
          </a:xfrm>
          <a:prstGeom prst="rect">
            <a:avLst/>
          </a:prstGeom>
          <a:noFill/>
          <a:ln/>
        </p:spPr>
        <p:txBody>
          <a:bodyPr wrap="square" lIns="0" tIns="0" rIns="0" bIns="0" rtlCol="0" anchor="ctr"/>
          <a:lstStyle/>
          <a:p>
            <a:pPr algn="l" indent="0" marL="0">
              <a:buNone/>
            </a:pPr>
            <a:r>
              <a:rPr lang="en-US" sz="1800" b="1" dirty="0">
                <a:solidFill>
                  <a:srgbClr val="00118F"/>
                </a:solidFill>
                <a:latin typeface="Noto Sans JP" pitchFamily="34" charset="0"/>
                <a:ea typeface="Noto Sans JP" pitchFamily="34" charset="-122"/>
                <a:cs typeface="Noto Sans JP" pitchFamily="34" charset="-120"/>
              </a:rPr>
              <a:t>KRを達成するためになにをやるのか？</a:t>
            </a:r>
            <a:endParaRPr lang="en-US" sz="1800" dirty="0"/>
          </a:p>
        </p:txBody>
      </p:sp>
      <p:sp>
        <p:nvSpPr>
          <p:cNvPr id="11" name="Text 9"/>
          <p:cNvSpPr/>
          <p:nvPr/>
        </p:nvSpPr>
        <p:spPr>
          <a:xfrm>
            <a:off x="365760" y="2240280"/>
            <a:ext cx="8412480" cy="274320"/>
          </a:xfrm>
          <a:prstGeom prst="rect">
            <a:avLst/>
          </a:prstGeom>
          <a:noFill/>
          <a:ln/>
        </p:spPr>
        <p:txBody>
          <a:bodyPr wrap="square" lIns="0" tIns="0" rIns="0" bIns="0" rtlCol="0" anchor="ctr"/>
          <a:lstStyle/>
          <a:p>
            <a:pPr algn="l" indent="0" marL="0">
              <a:buNone/>
            </a:pPr>
            <a:r>
              <a:rPr lang="en-US" sz="1200" dirty="0">
                <a:solidFill>
                  <a:srgbClr val="666666"/>
                </a:solidFill>
                <a:latin typeface="Noto Sans JP" pitchFamily="34" charset="0"/>
                <a:ea typeface="Noto Sans JP" pitchFamily="34" charset="-122"/>
                <a:cs typeface="Noto Sans JP" pitchFamily="34" charset="-120"/>
              </a:rPr>
              <a:t>「プロダクト開発の型を回す」を3つの構造的課題に分解して取り組む。</a:t>
            </a:r>
            <a:endParaRPr lang="en-US" sz="1200" dirty="0"/>
          </a:p>
        </p:txBody>
      </p:sp>
      <p:sp>
        <p:nvSpPr>
          <p:cNvPr id="12" name="Shape 10"/>
          <p:cNvSpPr/>
          <p:nvPr/>
        </p:nvSpPr>
        <p:spPr>
          <a:xfrm>
            <a:off x="365760" y="2651760"/>
            <a:ext cx="2682240" cy="2103120"/>
          </a:xfrm>
          <a:prstGeom prst="roundRect">
            <a:avLst>
              <a:gd name="adj" fmla="val 1304"/>
            </a:avLst>
          </a:prstGeom>
          <a:solidFill>
            <a:srgbClr val="F2F2F2"/>
          </a:solidFill>
          <a:ln/>
        </p:spPr>
      </p:sp>
      <p:sp>
        <p:nvSpPr>
          <p:cNvPr id="13" name="Text 11"/>
          <p:cNvSpPr/>
          <p:nvPr/>
        </p:nvSpPr>
        <p:spPr>
          <a:xfrm>
            <a:off x="502920" y="2788920"/>
            <a:ext cx="2407920" cy="256032"/>
          </a:xfrm>
          <a:prstGeom prst="rect">
            <a:avLst/>
          </a:prstGeom>
          <a:noFill/>
          <a:ln/>
        </p:spPr>
        <p:txBody>
          <a:bodyPr wrap="square" lIns="0" tIns="0" rIns="0" bIns="0" rtlCol="0" anchor="ctr"/>
          <a:lstStyle/>
          <a:p>
            <a:pPr algn="l" indent="0" marL="0">
              <a:buNone/>
            </a:pPr>
            <a:r>
              <a:rPr lang="en-US" sz="1100" b="1" i="1" dirty="0">
                <a:solidFill>
                  <a:srgbClr val="666666"/>
                </a:solidFill>
                <a:latin typeface="Noto Sans JP" pitchFamily="34" charset="0"/>
                <a:ea typeface="Noto Sans JP" pitchFamily="34" charset="-122"/>
                <a:cs typeface="Noto Sans JP" pitchFamily="34" charset="-120"/>
              </a:rPr>
              <a:t>アプローチ ①</a:t>
            </a:r>
            <a:endParaRPr lang="en-US" sz="1100" dirty="0"/>
          </a:p>
        </p:txBody>
      </p:sp>
      <p:sp>
        <p:nvSpPr>
          <p:cNvPr id="14" name="Text 12"/>
          <p:cNvSpPr/>
          <p:nvPr/>
        </p:nvSpPr>
        <p:spPr>
          <a:xfrm>
            <a:off x="502920" y="3063240"/>
            <a:ext cx="2407920" cy="594360"/>
          </a:xfrm>
          <a:prstGeom prst="rect">
            <a:avLst/>
          </a:prstGeom>
          <a:noFill/>
          <a:ln/>
        </p:spPr>
        <p:txBody>
          <a:bodyPr wrap="square" lIns="0" tIns="0" rIns="0" bIns="0" rtlCol="0" anchor="t"/>
          <a:lstStyle/>
          <a:p>
            <a:pPr algn="l" indent="0" marL="0">
              <a:lnSpc>
                <a:spcPct val="130000"/>
              </a:lnSpc>
              <a:buNone/>
            </a:pPr>
            <a:r>
              <a:rPr lang="en-US" sz="1600" b="1" dirty="0">
                <a:solidFill>
                  <a:srgbClr val="1A1A1A"/>
                </a:solidFill>
                <a:latin typeface="Noto Sans JP" pitchFamily="34" charset="0"/>
                <a:ea typeface="Noto Sans JP" pitchFamily="34" charset="-122"/>
                <a:cs typeface="Noto Sans JP" pitchFamily="34" charset="-120"/>
              </a:rPr>
              <a:t>開発に入る前の入口品質を</a:t>
            </a:r>
            <a:endParaRPr lang="en-US" sz="1600" dirty="0"/>
          </a:p>
          <a:p>
            <a:pPr algn="l" indent="0" marL="0">
              <a:lnSpc>
                <a:spcPct val="130000"/>
              </a:lnSpc>
              <a:buNone/>
            </a:pPr>
            <a:r>
              <a:rPr lang="en-US" sz="1600" b="1" dirty="0">
                <a:solidFill>
                  <a:srgbClr val="1A1A1A"/>
                </a:solidFill>
                <a:latin typeface="Noto Sans JP" pitchFamily="34" charset="0"/>
                <a:ea typeface="Noto Sans JP" pitchFamily="34" charset="-122"/>
                <a:cs typeface="Noto Sans JP" pitchFamily="34" charset="-120"/>
              </a:rPr>
              <a:t>あげる</a:t>
            </a:r>
            <a:endParaRPr lang="en-US" sz="1600" dirty="0"/>
          </a:p>
        </p:txBody>
      </p:sp>
      <p:sp>
        <p:nvSpPr>
          <p:cNvPr id="15" name="Shape 13"/>
          <p:cNvSpPr/>
          <p:nvPr/>
        </p:nvSpPr>
        <p:spPr>
          <a:xfrm>
            <a:off x="502920" y="3703320"/>
            <a:ext cx="2407920" cy="7315"/>
          </a:xfrm>
          <a:prstGeom prst="rect">
            <a:avLst/>
          </a:prstGeom>
          <a:solidFill>
            <a:srgbClr val="CCCCCC"/>
          </a:solidFill>
          <a:ln/>
        </p:spPr>
      </p:sp>
      <p:sp>
        <p:nvSpPr>
          <p:cNvPr id="16" name="Text 14"/>
          <p:cNvSpPr/>
          <p:nvPr/>
        </p:nvSpPr>
        <p:spPr>
          <a:xfrm>
            <a:off x="502920" y="3794760"/>
            <a:ext cx="2407920" cy="822960"/>
          </a:xfrm>
          <a:prstGeom prst="rect">
            <a:avLst/>
          </a:prstGeom>
          <a:noFill/>
          <a:ln/>
        </p:spPr>
        <p:txBody>
          <a:bodyPr wrap="square" lIns="0" tIns="0" rIns="0" bIns="0" rtlCol="0" anchor="t"/>
          <a:lstStyle/>
          <a:p>
            <a:pPr algn="l" indent="0" marL="0">
              <a:lnSpc>
                <a:spcPct val="160000"/>
              </a:lnSpc>
              <a:buNone/>
            </a:pPr>
            <a:r>
              <a:rPr lang="en-US" sz="1200" dirty="0">
                <a:solidFill>
                  <a:srgbClr val="666666"/>
                </a:solidFill>
                <a:latin typeface="Noto Sans JP" pitchFamily="34" charset="0"/>
                <a:ea typeface="Noto Sans JP" pitchFamily="34" charset="-122"/>
                <a:cs typeface="Noto Sans JP" pitchFamily="34" charset="-120"/>
              </a:rPr>
              <a:t>実装に入る前の前提整理・</a:t>
            </a:r>
            <a:endParaRPr lang="en-US" sz="1200" dirty="0"/>
          </a:p>
          <a:p>
            <a:pPr algn="l" indent="0" marL="0">
              <a:lnSpc>
                <a:spcPct val="160000"/>
              </a:lnSpc>
              <a:buNone/>
            </a:pPr>
            <a:r>
              <a:rPr lang="en-US" sz="1200" dirty="0">
                <a:solidFill>
                  <a:srgbClr val="666666"/>
                </a:solidFill>
                <a:latin typeface="Noto Sans JP" pitchFamily="34" charset="0"/>
                <a:ea typeface="Noto Sans JP" pitchFamily="34" charset="-122"/>
                <a:cs typeface="Noto Sans JP" pitchFamily="34" charset="-120"/>
              </a:rPr>
              <a:t>要求定義の曖昧さをなくす</a:t>
            </a:r>
            <a:endParaRPr lang="en-US" sz="1200" dirty="0"/>
          </a:p>
        </p:txBody>
      </p:sp>
      <p:sp>
        <p:nvSpPr>
          <p:cNvPr id="17" name="Shape 15"/>
          <p:cNvSpPr/>
          <p:nvPr/>
        </p:nvSpPr>
        <p:spPr>
          <a:xfrm>
            <a:off x="3230880" y="2651760"/>
            <a:ext cx="2682240" cy="2103120"/>
          </a:xfrm>
          <a:prstGeom prst="roundRect">
            <a:avLst>
              <a:gd name="adj" fmla="val 1304"/>
            </a:avLst>
          </a:prstGeom>
          <a:solidFill>
            <a:srgbClr val="F2F2F2"/>
          </a:solidFill>
          <a:ln/>
        </p:spPr>
      </p:sp>
      <p:sp>
        <p:nvSpPr>
          <p:cNvPr id="18" name="Text 16"/>
          <p:cNvSpPr/>
          <p:nvPr/>
        </p:nvSpPr>
        <p:spPr>
          <a:xfrm>
            <a:off x="3368040" y="2788920"/>
            <a:ext cx="2407920" cy="256032"/>
          </a:xfrm>
          <a:prstGeom prst="rect">
            <a:avLst/>
          </a:prstGeom>
          <a:noFill/>
          <a:ln/>
        </p:spPr>
        <p:txBody>
          <a:bodyPr wrap="square" lIns="0" tIns="0" rIns="0" bIns="0" rtlCol="0" anchor="ctr"/>
          <a:lstStyle/>
          <a:p>
            <a:pPr algn="l" indent="0" marL="0">
              <a:buNone/>
            </a:pPr>
            <a:r>
              <a:rPr lang="en-US" sz="1100" b="1" i="1" dirty="0">
                <a:solidFill>
                  <a:srgbClr val="666666"/>
                </a:solidFill>
                <a:latin typeface="Noto Sans JP" pitchFamily="34" charset="0"/>
                <a:ea typeface="Noto Sans JP" pitchFamily="34" charset="-122"/>
                <a:cs typeface="Noto Sans JP" pitchFamily="34" charset="-120"/>
              </a:rPr>
              <a:t>アプローチ ②</a:t>
            </a:r>
            <a:endParaRPr lang="en-US" sz="1100" dirty="0"/>
          </a:p>
        </p:txBody>
      </p:sp>
      <p:sp>
        <p:nvSpPr>
          <p:cNvPr id="19" name="Text 17"/>
          <p:cNvSpPr/>
          <p:nvPr/>
        </p:nvSpPr>
        <p:spPr>
          <a:xfrm>
            <a:off x="3368040" y="3063240"/>
            <a:ext cx="2407920" cy="594360"/>
          </a:xfrm>
          <a:prstGeom prst="rect">
            <a:avLst/>
          </a:prstGeom>
          <a:noFill/>
          <a:ln/>
        </p:spPr>
        <p:txBody>
          <a:bodyPr wrap="square" lIns="0" tIns="0" rIns="0" bIns="0" rtlCol="0" anchor="t"/>
          <a:lstStyle/>
          <a:p>
            <a:pPr algn="l" indent="0" marL="0">
              <a:lnSpc>
                <a:spcPct val="130000"/>
              </a:lnSpc>
              <a:buNone/>
            </a:pPr>
            <a:r>
              <a:rPr lang="en-US" sz="1600" b="1" dirty="0">
                <a:solidFill>
                  <a:srgbClr val="1A1A1A"/>
                </a:solidFill>
                <a:latin typeface="Noto Sans JP" pitchFamily="34" charset="0"/>
                <a:ea typeface="Noto Sans JP" pitchFamily="34" charset="-122"/>
                <a:cs typeface="Noto Sans JP" pitchFamily="34" charset="-120"/>
              </a:rPr>
              <a:t>開発のフロー効率をあげる</a:t>
            </a:r>
            <a:endParaRPr lang="en-US" sz="1600" dirty="0"/>
          </a:p>
        </p:txBody>
      </p:sp>
      <p:sp>
        <p:nvSpPr>
          <p:cNvPr id="20" name="Shape 18"/>
          <p:cNvSpPr/>
          <p:nvPr/>
        </p:nvSpPr>
        <p:spPr>
          <a:xfrm>
            <a:off x="3368040" y="3703320"/>
            <a:ext cx="2407920" cy="7315"/>
          </a:xfrm>
          <a:prstGeom prst="rect">
            <a:avLst/>
          </a:prstGeom>
          <a:solidFill>
            <a:srgbClr val="CCCCCC"/>
          </a:solidFill>
          <a:ln/>
        </p:spPr>
      </p:sp>
      <p:sp>
        <p:nvSpPr>
          <p:cNvPr id="21" name="Text 19"/>
          <p:cNvSpPr/>
          <p:nvPr/>
        </p:nvSpPr>
        <p:spPr>
          <a:xfrm>
            <a:off x="3368040" y="3794760"/>
            <a:ext cx="2407920" cy="822960"/>
          </a:xfrm>
          <a:prstGeom prst="rect">
            <a:avLst/>
          </a:prstGeom>
          <a:noFill/>
          <a:ln/>
        </p:spPr>
        <p:txBody>
          <a:bodyPr wrap="square" lIns="0" tIns="0" rIns="0" bIns="0" rtlCol="0" anchor="t"/>
          <a:lstStyle/>
          <a:p>
            <a:pPr algn="l" indent="0" marL="0">
              <a:lnSpc>
                <a:spcPct val="160000"/>
              </a:lnSpc>
              <a:buNone/>
            </a:pPr>
            <a:r>
              <a:rPr lang="en-US" sz="1200" dirty="0">
                <a:solidFill>
                  <a:srgbClr val="666666"/>
                </a:solidFill>
                <a:latin typeface="Noto Sans JP" pitchFamily="34" charset="0"/>
                <a:ea typeface="Noto Sans JP" pitchFamily="34" charset="-122"/>
                <a:cs typeface="Noto Sans JP" pitchFamily="34" charset="-120"/>
              </a:rPr>
              <a:t>開発工程のムリ・ムダ・ムラをなくし、案件を停滞させずにスムーズに整える。</a:t>
            </a:r>
            <a:endParaRPr lang="en-US" sz="1200" dirty="0"/>
          </a:p>
        </p:txBody>
      </p:sp>
      <p:sp>
        <p:nvSpPr>
          <p:cNvPr id="22" name="Shape 20"/>
          <p:cNvSpPr/>
          <p:nvPr/>
        </p:nvSpPr>
        <p:spPr>
          <a:xfrm>
            <a:off x="6096000" y="2651760"/>
            <a:ext cx="2682240" cy="2103120"/>
          </a:xfrm>
          <a:prstGeom prst="roundRect">
            <a:avLst>
              <a:gd name="adj" fmla="val 1304"/>
            </a:avLst>
          </a:prstGeom>
          <a:solidFill>
            <a:srgbClr val="F2F2F2"/>
          </a:solidFill>
          <a:ln/>
        </p:spPr>
      </p:sp>
      <p:sp>
        <p:nvSpPr>
          <p:cNvPr id="23" name="Text 21"/>
          <p:cNvSpPr/>
          <p:nvPr/>
        </p:nvSpPr>
        <p:spPr>
          <a:xfrm>
            <a:off x="6233160" y="2788920"/>
            <a:ext cx="2407920" cy="256032"/>
          </a:xfrm>
          <a:prstGeom prst="rect">
            <a:avLst/>
          </a:prstGeom>
          <a:noFill/>
          <a:ln/>
        </p:spPr>
        <p:txBody>
          <a:bodyPr wrap="square" lIns="0" tIns="0" rIns="0" bIns="0" rtlCol="0" anchor="ctr"/>
          <a:lstStyle/>
          <a:p>
            <a:pPr algn="l" indent="0" marL="0">
              <a:buNone/>
            </a:pPr>
            <a:r>
              <a:rPr lang="en-US" sz="1100" b="1" i="1" dirty="0">
                <a:solidFill>
                  <a:srgbClr val="666666"/>
                </a:solidFill>
                <a:latin typeface="Noto Sans JP" pitchFamily="34" charset="0"/>
                <a:ea typeface="Noto Sans JP" pitchFamily="34" charset="-122"/>
                <a:cs typeface="Noto Sans JP" pitchFamily="34" charset="-120"/>
              </a:rPr>
              <a:t>アプローチ ③</a:t>
            </a:r>
            <a:endParaRPr lang="en-US" sz="1100" dirty="0"/>
          </a:p>
        </p:txBody>
      </p:sp>
      <p:sp>
        <p:nvSpPr>
          <p:cNvPr id="24" name="Text 22"/>
          <p:cNvSpPr/>
          <p:nvPr/>
        </p:nvSpPr>
        <p:spPr>
          <a:xfrm>
            <a:off x="6233160" y="3063240"/>
            <a:ext cx="2407920" cy="594360"/>
          </a:xfrm>
          <a:prstGeom prst="rect">
            <a:avLst/>
          </a:prstGeom>
          <a:noFill/>
          <a:ln/>
        </p:spPr>
        <p:txBody>
          <a:bodyPr wrap="square" lIns="0" tIns="0" rIns="0" bIns="0" rtlCol="0" anchor="t"/>
          <a:lstStyle/>
          <a:p>
            <a:pPr algn="l" indent="0" marL="0">
              <a:lnSpc>
                <a:spcPct val="130000"/>
              </a:lnSpc>
              <a:buNone/>
            </a:pPr>
            <a:r>
              <a:rPr lang="en-US" sz="1600" b="1" dirty="0">
                <a:solidFill>
                  <a:srgbClr val="1A1A1A"/>
                </a:solidFill>
                <a:latin typeface="Noto Sans JP" pitchFamily="34" charset="0"/>
                <a:ea typeface="Noto Sans JP" pitchFamily="34" charset="-122"/>
                <a:cs typeface="Noto Sans JP" pitchFamily="34" charset="-120"/>
              </a:rPr>
              <a:t>学習ループを回す</a:t>
            </a:r>
            <a:endParaRPr lang="en-US" sz="1600" dirty="0"/>
          </a:p>
        </p:txBody>
      </p:sp>
      <p:sp>
        <p:nvSpPr>
          <p:cNvPr id="25" name="Text 23"/>
          <p:cNvSpPr/>
          <p:nvPr/>
        </p:nvSpPr>
        <p:spPr>
          <a:xfrm>
            <a:off x="6233160" y="3611880"/>
            <a:ext cx="2407920" cy="228600"/>
          </a:xfrm>
          <a:prstGeom prst="rect">
            <a:avLst/>
          </a:prstGeom>
          <a:noFill/>
          <a:ln/>
        </p:spPr>
        <p:txBody>
          <a:bodyPr wrap="square" lIns="0" tIns="0" rIns="0" bIns="0" rtlCol="0" anchor="ctr"/>
          <a:lstStyle/>
          <a:p>
            <a:pPr algn="l" indent="0" marL="0">
              <a:buNone/>
            </a:pPr>
            <a:r>
              <a:rPr lang="en-US" sz="1200" dirty="0">
                <a:solidFill>
                  <a:srgbClr val="666666"/>
                </a:solidFill>
                <a:latin typeface="Noto Sans JP" pitchFamily="34" charset="0"/>
                <a:ea typeface="Noto Sans JP" pitchFamily="34" charset="-122"/>
                <a:cs typeface="Noto Sans JP" pitchFamily="34" charset="-120"/>
              </a:rPr>
              <a:t>結果を次の判断に繋ぐ</a:t>
            </a:r>
            <a:endParaRPr lang="en-US" sz="1200" dirty="0"/>
          </a:p>
        </p:txBody>
      </p:sp>
      <p:sp>
        <p:nvSpPr>
          <p:cNvPr id="26" name="Shape 24"/>
          <p:cNvSpPr/>
          <p:nvPr/>
        </p:nvSpPr>
        <p:spPr>
          <a:xfrm>
            <a:off x="6233160" y="3886200"/>
            <a:ext cx="2407920" cy="7315"/>
          </a:xfrm>
          <a:prstGeom prst="rect">
            <a:avLst/>
          </a:prstGeom>
          <a:solidFill>
            <a:srgbClr val="CCCCCC"/>
          </a:solidFill>
          <a:ln/>
        </p:spPr>
      </p:sp>
      <p:sp>
        <p:nvSpPr>
          <p:cNvPr id="27" name="Text 25"/>
          <p:cNvSpPr/>
          <p:nvPr/>
        </p:nvSpPr>
        <p:spPr>
          <a:xfrm>
            <a:off x="6233160" y="3977640"/>
            <a:ext cx="2407920" cy="640080"/>
          </a:xfrm>
          <a:prstGeom prst="rect">
            <a:avLst/>
          </a:prstGeom>
          <a:noFill/>
          <a:ln/>
        </p:spPr>
        <p:txBody>
          <a:bodyPr wrap="square" lIns="0" tIns="0" rIns="0" bIns="0" rtlCol="0" anchor="t"/>
          <a:lstStyle/>
          <a:p>
            <a:pPr algn="l" indent="0" marL="0">
              <a:lnSpc>
                <a:spcPct val="160000"/>
              </a:lnSpc>
              <a:buNone/>
            </a:pPr>
            <a:r>
              <a:rPr lang="en-US" sz="1200" dirty="0">
                <a:solidFill>
                  <a:srgbClr val="666666"/>
                </a:solidFill>
                <a:latin typeface="Noto Sans JP" pitchFamily="34" charset="0"/>
                <a:ea typeface="Noto Sans JP" pitchFamily="34" charset="-122"/>
                <a:cs typeface="Noto Sans JP" pitchFamily="34" charset="-120"/>
              </a:rPr>
              <a:t>リリースして終わりにせず、お客様の反応を見て「次に何をやるか／やめるか」を決める。</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73152"/>
            <a:ext cx="8412480" cy="201168"/>
          </a:xfrm>
          <a:prstGeom prst="rect">
            <a:avLst/>
          </a:prstGeom>
          <a:noFill/>
          <a:ln/>
        </p:spPr>
        <p:txBody>
          <a:bodyPr wrap="square" lIns="0" tIns="0" rIns="0" bIns="0" rtlCol="0" anchor="ctr"/>
          <a:lstStyle/>
          <a:p>
            <a:pPr algn="l" indent="0" marL="0">
              <a:buNone/>
            </a:pPr>
            <a:r>
              <a:rPr lang="en-US" sz="900" dirty="0">
                <a:solidFill>
                  <a:srgbClr val="666666"/>
                </a:solidFill>
                <a:latin typeface="Noto Sans JP" pitchFamily="34" charset="0"/>
                <a:ea typeface="Noto Sans JP" pitchFamily="34" charset="-122"/>
                <a:cs typeface="Noto Sans JP" pitchFamily="34" charset="-120"/>
              </a:rPr>
              <a:t>成果の方程式</a:t>
            </a:r>
            <a:endParaRPr lang="en-US" sz="900" dirty="0"/>
          </a:p>
        </p:txBody>
      </p:sp>
      <p:sp>
        <p:nvSpPr>
          <p:cNvPr id="3" name="Shape 1"/>
          <p:cNvSpPr/>
          <p:nvPr/>
        </p:nvSpPr>
        <p:spPr>
          <a:xfrm>
            <a:off x="0" y="310896"/>
            <a:ext cx="9144000" cy="9144"/>
          </a:xfrm>
          <a:prstGeom prst="rect">
            <a:avLst/>
          </a:prstGeom>
          <a:solidFill>
            <a:srgbClr val="CCCCCC"/>
          </a:solidFill>
          <a:ln w="12700">
            <a:solidFill>
              <a:srgbClr val="CCCCCC"/>
            </a:solidFill>
            <a:prstDash val="solid"/>
          </a:ln>
        </p:spPr>
      </p:sp>
      <p:sp>
        <p:nvSpPr>
          <p:cNvPr id="4" name="Text 2"/>
          <p:cNvSpPr/>
          <p:nvPr/>
        </p:nvSpPr>
        <p:spPr>
          <a:xfrm>
            <a:off x="365760" y="384048"/>
            <a:ext cx="8412480" cy="594360"/>
          </a:xfrm>
          <a:prstGeom prst="rect">
            <a:avLst/>
          </a:prstGeom>
          <a:noFill/>
          <a:ln/>
        </p:spPr>
        <p:txBody>
          <a:bodyPr wrap="square" lIns="0" tIns="0" rIns="0" bIns="0" rtlCol="0" anchor="ctr"/>
          <a:lstStyle/>
          <a:p>
            <a:pPr algn="l" indent="0" marL="0">
              <a:buNone/>
            </a:pPr>
            <a:r>
              <a:rPr lang="en-US" sz="2200" b="1" dirty="0">
                <a:solidFill>
                  <a:srgbClr val="1A1A1A"/>
                </a:solidFill>
                <a:latin typeface="Noto Sans JP" pitchFamily="34" charset="0"/>
                <a:ea typeface="Noto Sans JP" pitchFamily="34" charset="-122"/>
                <a:cs typeface="Noto Sans JP" pitchFamily="34" charset="-120"/>
              </a:rPr>
              <a:t>KRを達成するための指標はなにか？</a:t>
            </a:r>
            <a:endParaRPr lang="en-US" sz="2200" dirty="0"/>
          </a:p>
        </p:txBody>
      </p:sp>
      <p:sp>
        <p:nvSpPr>
          <p:cNvPr id="5" name="Shape 3"/>
          <p:cNvSpPr/>
          <p:nvPr/>
        </p:nvSpPr>
        <p:spPr>
          <a:xfrm>
            <a:off x="0" y="1051560"/>
            <a:ext cx="9144000" cy="9144"/>
          </a:xfrm>
          <a:prstGeom prst="rect">
            <a:avLst/>
          </a:prstGeom>
          <a:solidFill>
            <a:srgbClr val="CCCCCC"/>
          </a:solidFill>
          <a:ln w="12700">
            <a:solidFill>
              <a:srgbClr val="CCCCCC"/>
            </a:solidFill>
            <a:prstDash val="solid"/>
          </a:ln>
        </p:spPr>
      </p:sp>
      <p:sp>
        <p:nvSpPr>
          <p:cNvPr id="6" name="Shape 4"/>
          <p:cNvSpPr/>
          <p:nvPr/>
        </p:nvSpPr>
        <p:spPr>
          <a:xfrm>
            <a:off x="0" y="5084064"/>
            <a:ext cx="7315200" cy="64008"/>
          </a:xfrm>
          <a:prstGeom prst="rect">
            <a:avLst/>
          </a:prstGeom>
          <a:solidFill>
            <a:srgbClr val="00118F"/>
          </a:solidFill>
          <a:ln w="12700">
            <a:solidFill>
              <a:srgbClr val="00118F"/>
            </a:solidFill>
            <a:prstDash val="solid"/>
          </a:ln>
        </p:spPr>
      </p:sp>
      <p:sp>
        <p:nvSpPr>
          <p:cNvPr id="7" name="Shape 5"/>
          <p:cNvSpPr/>
          <p:nvPr/>
        </p:nvSpPr>
        <p:spPr>
          <a:xfrm>
            <a:off x="7315200" y="5084064"/>
            <a:ext cx="1828800" cy="64008"/>
          </a:xfrm>
          <a:prstGeom prst="rect">
            <a:avLst/>
          </a:prstGeom>
          <a:solidFill>
            <a:srgbClr val="FB5B01"/>
          </a:solidFill>
          <a:ln w="12700">
            <a:solidFill>
              <a:srgbClr val="FB5B01"/>
            </a:solidFill>
            <a:prstDash val="solid"/>
          </a:ln>
        </p:spPr>
      </p:sp>
      <p:sp>
        <p:nvSpPr>
          <p:cNvPr id="8" name="Text 6"/>
          <p:cNvSpPr/>
          <p:nvPr/>
        </p:nvSpPr>
        <p:spPr>
          <a:xfrm>
            <a:off x="731520" y="1234440"/>
            <a:ext cx="2286000" cy="502920"/>
          </a:xfrm>
          <a:prstGeom prst="rect">
            <a:avLst/>
          </a:prstGeom>
          <a:noFill/>
          <a:ln/>
        </p:spPr>
        <p:txBody>
          <a:bodyPr wrap="square" lIns="0" tIns="0" rIns="0" bIns="0" rtlCol="0" anchor="ctr"/>
          <a:lstStyle/>
          <a:p>
            <a:pPr algn="ctr" indent="0" marL="0">
              <a:buNone/>
            </a:pPr>
            <a:r>
              <a:rPr lang="en-US" sz="3200" b="1" dirty="0">
                <a:solidFill>
                  <a:srgbClr val="1A1A1A"/>
                </a:solidFill>
                <a:latin typeface="Noto Sans JP" pitchFamily="34" charset="0"/>
                <a:ea typeface="Noto Sans JP" pitchFamily="34" charset="-122"/>
                <a:cs typeface="Noto Sans JP" pitchFamily="34" charset="-120"/>
              </a:rPr>
              <a:t>試行回数</a:t>
            </a:r>
            <a:endParaRPr lang="en-US" sz="3200" dirty="0"/>
          </a:p>
        </p:txBody>
      </p:sp>
      <p:sp>
        <p:nvSpPr>
          <p:cNvPr id="9" name="Text 7"/>
          <p:cNvSpPr/>
          <p:nvPr/>
        </p:nvSpPr>
        <p:spPr>
          <a:xfrm>
            <a:off x="3017520" y="1234440"/>
            <a:ext cx="457200" cy="502920"/>
          </a:xfrm>
          <a:prstGeom prst="rect">
            <a:avLst/>
          </a:prstGeom>
          <a:noFill/>
          <a:ln/>
        </p:spPr>
        <p:txBody>
          <a:bodyPr wrap="square" lIns="0" tIns="0" rIns="0" bIns="0" rtlCol="0" anchor="ctr"/>
          <a:lstStyle/>
          <a:p>
            <a:pPr algn="ctr" indent="0" marL="0">
              <a:buNone/>
            </a:pPr>
            <a:r>
              <a:rPr lang="en-US" sz="2800" b="1" dirty="0">
                <a:solidFill>
                  <a:srgbClr val="666666"/>
                </a:solidFill>
                <a:latin typeface="Noto Sans JP" pitchFamily="34" charset="0"/>
                <a:ea typeface="Noto Sans JP" pitchFamily="34" charset="-122"/>
                <a:cs typeface="Noto Sans JP" pitchFamily="34" charset="-120"/>
              </a:rPr>
              <a:t>×</a:t>
            </a:r>
            <a:endParaRPr lang="en-US" sz="2800" dirty="0"/>
          </a:p>
        </p:txBody>
      </p:sp>
      <p:sp>
        <p:nvSpPr>
          <p:cNvPr id="10" name="Text 8"/>
          <p:cNvSpPr/>
          <p:nvPr/>
        </p:nvSpPr>
        <p:spPr>
          <a:xfrm>
            <a:off x="3474720" y="1234440"/>
            <a:ext cx="2560320" cy="502920"/>
          </a:xfrm>
          <a:prstGeom prst="rect">
            <a:avLst/>
          </a:prstGeom>
          <a:noFill/>
          <a:ln/>
        </p:spPr>
        <p:txBody>
          <a:bodyPr wrap="square" lIns="0" tIns="0" rIns="0" bIns="0" rtlCol="0" anchor="ctr"/>
          <a:lstStyle/>
          <a:p>
            <a:pPr algn="ctr" indent="0" marL="0">
              <a:buNone/>
            </a:pPr>
            <a:r>
              <a:rPr lang="en-US" sz="3200" b="1" dirty="0">
                <a:solidFill>
                  <a:srgbClr val="1A1A1A"/>
                </a:solidFill>
                <a:latin typeface="Noto Sans JP" pitchFamily="34" charset="0"/>
                <a:ea typeface="Noto Sans JP" pitchFamily="34" charset="-122"/>
                <a:cs typeface="Noto Sans JP" pitchFamily="34" charset="-120"/>
              </a:rPr>
              <a:t>施策の精度</a:t>
            </a:r>
            <a:endParaRPr lang="en-US" sz="3200" dirty="0"/>
          </a:p>
        </p:txBody>
      </p:sp>
      <p:sp>
        <p:nvSpPr>
          <p:cNvPr id="11" name="Text 9"/>
          <p:cNvSpPr/>
          <p:nvPr/>
        </p:nvSpPr>
        <p:spPr>
          <a:xfrm>
            <a:off x="6035040" y="1234440"/>
            <a:ext cx="457200" cy="502920"/>
          </a:xfrm>
          <a:prstGeom prst="rect">
            <a:avLst/>
          </a:prstGeom>
          <a:noFill/>
          <a:ln/>
        </p:spPr>
        <p:txBody>
          <a:bodyPr wrap="square" lIns="0" tIns="0" rIns="0" bIns="0" rtlCol="0" anchor="ctr"/>
          <a:lstStyle/>
          <a:p>
            <a:pPr algn="ctr" indent="0" marL="0">
              <a:buNone/>
            </a:pPr>
            <a:r>
              <a:rPr lang="en-US" sz="2800" b="1" dirty="0">
                <a:solidFill>
                  <a:srgbClr val="666666"/>
                </a:solidFill>
                <a:latin typeface="Noto Sans JP" pitchFamily="34" charset="0"/>
                <a:ea typeface="Noto Sans JP" pitchFamily="34" charset="-122"/>
                <a:cs typeface="Noto Sans JP" pitchFamily="34" charset="-120"/>
              </a:rPr>
              <a:t>＝</a:t>
            </a:r>
            <a:endParaRPr lang="en-US" sz="2800" dirty="0"/>
          </a:p>
        </p:txBody>
      </p:sp>
      <p:sp>
        <p:nvSpPr>
          <p:cNvPr id="12" name="Text 10"/>
          <p:cNvSpPr/>
          <p:nvPr/>
        </p:nvSpPr>
        <p:spPr>
          <a:xfrm>
            <a:off x="6492240" y="1234440"/>
            <a:ext cx="2286000" cy="502920"/>
          </a:xfrm>
          <a:prstGeom prst="rect">
            <a:avLst/>
          </a:prstGeom>
          <a:noFill/>
          <a:ln/>
        </p:spPr>
        <p:txBody>
          <a:bodyPr wrap="square" lIns="0" tIns="0" rIns="0" bIns="0" rtlCol="0" anchor="ctr"/>
          <a:lstStyle/>
          <a:p>
            <a:pPr algn="ctr" indent="0" marL="0">
              <a:buNone/>
            </a:pPr>
            <a:r>
              <a:rPr lang="en-US" sz="3200" b="1" dirty="0">
                <a:solidFill>
                  <a:srgbClr val="1A1A1A"/>
                </a:solidFill>
                <a:latin typeface="Noto Sans JP" pitchFamily="34" charset="0"/>
                <a:ea typeface="Noto Sans JP" pitchFamily="34" charset="-122"/>
                <a:cs typeface="Noto Sans JP" pitchFamily="34" charset="-120"/>
              </a:rPr>
              <a:t>事業成果</a:t>
            </a:r>
            <a:endParaRPr lang="en-US" sz="3200" dirty="0"/>
          </a:p>
        </p:txBody>
      </p:sp>
      <p:sp>
        <p:nvSpPr>
          <p:cNvPr id="13" name="Text 11"/>
          <p:cNvSpPr/>
          <p:nvPr/>
        </p:nvSpPr>
        <p:spPr>
          <a:xfrm>
            <a:off x="365760" y="1783080"/>
            <a:ext cx="8412480" cy="274320"/>
          </a:xfrm>
          <a:prstGeom prst="rect">
            <a:avLst/>
          </a:prstGeom>
          <a:noFill/>
          <a:ln/>
        </p:spPr>
        <p:txBody>
          <a:bodyPr wrap="square" lIns="0" tIns="0" rIns="0" bIns="0" rtlCol="0" anchor="ctr"/>
          <a:lstStyle/>
          <a:p>
            <a:pPr algn="ctr" indent="0" marL="0">
              <a:buNone/>
            </a:pPr>
            <a:r>
              <a:rPr lang="en-US" sz="1200" dirty="0">
                <a:solidFill>
                  <a:srgbClr val="666666"/>
                </a:solidFill>
                <a:latin typeface="Noto Sans JP" pitchFamily="34" charset="0"/>
                <a:ea typeface="Noto Sans JP" pitchFamily="34" charset="-122"/>
                <a:cs typeface="Noto Sans JP" pitchFamily="34" charset="-120"/>
              </a:rPr>
              <a:t>事業成果をスピーディーに出し続けるために試行回数と施策精度向上をねらう</a:t>
            </a:r>
            <a:endParaRPr lang="en-US" sz="1200" dirty="0"/>
          </a:p>
        </p:txBody>
      </p:sp>
      <p:sp>
        <p:nvSpPr>
          <p:cNvPr id="14" name="Shape 12"/>
          <p:cNvSpPr/>
          <p:nvPr/>
        </p:nvSpPr>
        <p:spPr>
          <a:xfrm>
            <a:off x="365760" y="2240280"/>
            <a:ext cx="8412480" cy="1097280"/>
          </a:xfrm>
          <a:prstGeom prst="roundRect">
            <a:avLst>
              <a:gd name="adj" fmla="val 2500"/>
            </a:avLst>
          </a:prstGeom>
          <a:solidFill>
            <a:srgbClr val="F2F2F2"/>
          </a:solidFill>
          <a:ln/>
        </p:spPr>
      </p:sp>
      <p:sp>
        <p:nvSpPr>
          <p:cNvPr id="15" name="Text 13"/>
          <p:cNvSpPr/>
          <p:nvPr/>
        </p:nvSpPr>
        <p:spPr>
          <a:xfrm>
            <a:off x="548640" y="2313432"/>
            <a:ext cx="3657600" cy="292608"/>
          </a:xfrm>
          <a:prstGeom prst="rect">
            <a:avLst/>
          </a:prstGeom>
          <a:noFill/>
          <a:ln/>
        </p:spPr>
        <p:txBody>
          <a:bodyPr wrap="square" lIns="0" tIns="0" rIns="0" bIns="0" rtlCol="0" anchor="ctr"/>
          <a:lstStyle/>
          <a:p>
            <a:pPr algn="l" indent="0" marL="0">
              <a:buNone/>
            </a:pPr>
            <a:r>
              <a:rPr lang="en-US" sz="1400" b="1" dirty="0">
                <a:solidFill>
                  <a:srgbClr val="1A1A1A"/>
                </a:solidFill>
                <a:latin typeface="Noto Sans JP" pitchFamily="34" charset="0"/>
                <a:ea typeface="Noto Sans JP" pitchFamily="34" charset="-122"/>
                <a:cs typeface="Noto Sans JP" pitchFamily="34" charset="-120"/>
              </a:rPr>
              <a:t>KPI ①　試行回数</a:t>
            </a:r>
            <a:endParaRPr lang="en-US" sz="1400" dirty="0"/>
          </a:p>
        </p:txBody>
      </p:sp>
      <p:sp>
        <p:nvSpPr>
          <p:cNvPr id="16" name="Text 14"/>
          <p:cNvSpPr/>
          <p:nvPr/>
        </p:nvSpPr>
        <p:spPr>
          <a:xfrm>
            <a:off x="548640" y="2606040"/>
            <a:ext cx="8046720" cy="292608"/>
          </a:xfrm>
          <a:prstGeom prst="rect">
            <a:avLst/>
          </a:prstGeom>
          <a:noFill/>
          <a:ln/>
        </p:spPr>
        <p:txBody>
          <a:bodyPr wrap="square" lIns="0" tIns="0" rIns="0" bIns="0" rtlCol="0" anchor="ctr"/>
          <a:lstStyle/>
          <a:p>
            <a:pPr algn="l" indent="0" marL="0">
              <a:buNone/>
            </a:pPr>
            <a:r>
              <a:rPr lang="en-US" sz="1300" b="1" dirty="0">
                <a:solidFill>
                  <a:srgbClr val="1A1A1A"/>
                </a:solidFill>
                <a:latin typeface="Noto Sans JP" pitchFamily="34" charset="0"/>
                <a:ea typeface="Noto Sans JP" pitchFamily="34" charset="-122"/>
                <a:cs typeface="Noto Sans JP" pitchFamily="34" charset="-120"/>
              </a:rPr>
              <a:t>顧客価値施策について、要件定義からリリースまでのリードタイムが平均1ヶ月以内</a:t>
            </a:r>
            <a:endParaRPr lang="en-US" sz="1300" dirty="0"/>
          </a:p>
        </p:txBody>
      </p:sp>
      <p:sp>
        <p:nvSpPr>
          <p:cNvPr id="17" name="Text 15"/>
          <p:cNvSpPr/>
          <p:nvPr/>
        </p:nvSpPr>
        <p:spPr>
          <a:xfrm>
            <a:off x="548640" y="2926080"/>
            <a:ext cx="8046720" cy="292608"/>
          </a:xfrm>
          <a:prstGeom prst="rect">
            <a:avLst/>
          </a:prstGeom>
          <a:noFill/>
          <a:ln/>
        </p:spPr>
        <p:txBody>
          <a:bodyPr wrap="square" lIns="0" tIns="0" rIns="0" bIns="0" rtlCol="0" anchor="ctr"/>
          <a:lstStyle/>
          <a:p>
            <a:pPr algn="l" indent="0" marL="0">
              <a:buNone/>
            </a:pPr>
            <a:r>
              <a:rPr lang="en-US" sz="1100" dirty="0">
                <a:solidFill>
                  <a:srgbClr val="666666"/>
                </a:solidFill>
                <a:latin typeface="Noto Sans JP" pitchFamily="34" charset="0"/>
                <a:ea typeface="Noto Sans JP" pitchFamily="34" charset="-122"/>
                <a:cs typeface="Noto Sans JP" pitchFamily="34" charset="-120"/>
              </a:rPr>
              <a:t>思いついてから届けるまでの時間が短い ＝ 試行回数が増える　　　　現状：2〜6ヶ月以上 → 目標：1ヶ月以内</a:t>
            </a:r>
            <a:endParaRPr lang="en-US" sz="1100" dirty="0"/>
          </a:p>
        </p:txBody>
      </p:sp>
      <p:sp>
        <p:nvSpPr>
          <p:cNvPr id="18" name="Shape 16"/>
          <p:cNvSpPr/>
          <p:nvPr/>
        </p:nvSpPr>
        <p:spPr>
          <a:xfrm>
            <a:off x="365760" y="3520440"/>
            <a:ext cx="8412480" cy="1097280"/>
          </a:xfrm>
          <a:prstGeom prst="roundRect">
            <a:avLst>
              <a:gd name="adj" fmla="val 2500"/>
            </a:avLst>
          </a:prstGeom>
          <a:solidFill>
            <a:srgbClr val="F2F2F2"/>
          </a:solidFill>
          <a:ln/>
        </p:spPr>
      </p:sp>
      <p:sp>
        <p:nvSpPr>
          <p:cNvPr id="19" name="Text 17"/>
          <p:cNvSpPr/>
          <p:nvPr/>
        </p:nvSpPr>
        <p:spPr>
          <a:xfrm>
            <a:off x="548640" y="3593592"/>
            <a:ext cx="3657600" cy="292608"/>
          </a:xfrm>
          <a:prstGeom prst="rect">
            <a:avLst/>
          </a:prstGeom>
          <a:noFill/>
          <a:ln/>
        </p:spPr>
        <p:txBody>
          <a:bodyPr wrap="square" lIns="0" tIns="0" rIns="0" bIns="0" rtlCol="0" anchor="ctr"/>
          <a:lstStyle/>
          <a:p>
            <a:pPr algn="l" indent="0" marL="0">
              <a:buNone/>
            </a:pPr>
            <a:r>
              <a:rPr lang="en-US" sz="1400" b="1" dirty="0">
                <a:solidFill>
                  <a:srgbClr val="1A1A1A"/>
                </a:solidFill>
                <a:latin typeface="Noto Sans JP" pitchFamily="34" charset="0"/>
                <a:ea typeface="Noto Sans JP" pitchFamily="34" charset="-122"/>
                <a:cs typeface="Noto Sans JP" pitchFamily="34" charset="-120"/>
              </a:rPr>
              <a:t>KPI ②　施策の精度</a:t>
            </a:r>
            <a:endParaRPr lang="en-US" sz="1400" dirty="0"/>
          </a:p>
        </p:txBody>
      </p:sp>
      <p:sp>
        <p:nvSpPr>
          <p:cNvPr id="20" name="Text 18"/>
          <p:cNvSpPr/>
          <p:nvPr/>
        </p:nvSpPr>
        <p:spPr>
          <a:xfrm>
            <a:off x="548640" y="3886200"/>
            <a:ext cx="8046720" cy="292608"/>
          </a:xfrm>
          <a:prstGeom prst="rect">
            <a:avLst/>
          </a:prstGeom>
          <a:noFill/>
          <a:ln/>
        </p:spPr>
        <p:txBody>
          <a:bodyPr wrap="square" lIns="0" tIns="0" rIns="0" bIns="0" rtlCol="0" anchor="ctr"/>
          <a:lstStyle/>
          <a:p>
            <a:pPr algn="l" indent="0" marL="0">
              <a:buNone/>
            </a:pPr>
            <a:r>
              <a:rPr lang="en-US" sz="1300" b="1" dirty="0">
                <a:solidFill>
                  <a:srgbClr val="1A1A1A"/>
                </a:solidFill>
                <a:latin typeface="Noto Sans JP" pitchFamily="34" charset="0"/>
                <a:ea typeface="Noto Sans JP" pitchFamily="34" charset="-122"/>
                <a:cs typeface="Noto Sans JP" pitchFamily="34" charset="-120"/>
              </a:rPr>
              <a:t>リリース後の検証結果 → 次の施策への反映までのリードタイムが平均1ヶ月以内</a:t>
            </a:r>
            <a:endParaRPr lang="en-US" sz="1300" dirty="0"/>
          </a:p>
        </p:txBody>
      </p:sp>
      <p:sp>
        <p:nvSpPr>
          <p:cNvPr id="21" name="Text 19"/>
          <p:cNvSpPr/>
          <p:nvPr/>
        </p:nvSpPr>
        <p:spPr>
          <a:xfrm>
            <a:off x="548640" y="4206240"/>
            <a:ext cx="8046720" cy="292608"/>
          </a:xfrm>
          <a:prstGeom prst="rect">
            <a:avLst/>
          </a:prstGeom>
          <a:noFill/>
          <a:ln/>
        </p:spPr>
        <p:txBody>
          <a:bodyPr wrap="square" lIns="0" tIns="0" rIns="0" bIns="0" rtlCol="0" anchor="ctr"/>
          <a:lstStyle/>
          <a:p>
            <a:pPr algn="l" indent="0" marL="0">
              <a:buNone/>
            </a:pPr>
            <a:r>
              <a:rPr lang="en-US" sz="1100" dirty="0">
                <a:solidFill>
                  <a:srgbClr val="666666"/>
                </a:solidFill>
                <a:latin typeface="Noto Sans JP" pitchFamily="34" charset="0"/>
                <a:ea typeface="Noto Sans JP" pitchFamily="34" charset="-122"/>
                <a:cs typeface="Noto Sans JP" pitchFamily="34" charset="-120"/>
              </a:rPr>
              <a:t>リリースした効果を見て「次に何をやるか」を柔軟に変えられる ＝ 施策の精度が上がる　　　　現状：3ヶ月以上 or 未反映 → 目標：1ヶ月以内</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73152"/>
            <a:ext cx="8412480" cy="201168"/>
          </a:xfrm>
          <a:prstGeom prst="rect">
            <a:avLst/>
          </a:prstGeom>
          <a:noFill/>
          <a:ln/>
        </p:spPr>
        <p:txBody>
          <a:bodyPr wrap="square" lIns="0" tIns="0" rIns="0" bIns="0" rtlCol="0" anchor="ctr"/>
          <a:lstStyle/>
          <a:p>
            <a:pPr algn="l" indent="0" marL="0">
              <a:buNone/>
            </a:pPr>
            <a:r>
              <a:rPr lang="en-US" sz="900" dirty="0">
                <a:solidFill>
                  <a:srgbClr val="666666"/>
                </a:solidFill>
                <a:latin typeface="Noto Sans JP" pitchFamily="34" charset="0"/>
                <a:ea typeface="Noto Sans JP" pitchFamily="34" charset="-122"/>
                <a:cs typeface="Noto Sans JP" pitchFamily="34" charset="-120"/>
              </a:rPr>
              <a:t>挑戦KR②  &gt;  ロードマップ</a:t>
            </a:r>
            <a:endParaRPr lang="en-US" sz="900" dirty="0"/>
          </a:p>
        </p:txBody>
      </p:sp>
      <p:sp>
        <p:nvSpPr>
          <p:cNvPr id="3" name="Shape 1"/>
          <p:cNvSpPr/>
          <p:nvPr/>
        </p:nvSpPr>
        <p:spPr>
          <a:xfrm>
            <a:off x="0" y="310896"/>
            <a:ext cx="9144000" cy="9144"/>
          </a:xfrm>
          <a:prstGeom prst="rect">
            <a:avLst/>
          </a:prstGeom>
          <a:solidFill>
            <a:srgbClr val="CCCCCC"/>
          </a:solidFill>
          <a:ln w="12700">
            <a:solidFill>
              <a:srgbClr val="CCCCCC"/>
            </a:solidFill>
            <a:prstDash val="solid"/>
          </a:ln>
        </p:spPr>
      </p:sp>
      <p:sp>
        <p:nvSpPr>
          <p:cNvPr id="4" name="Text 2"/>
          <p:cNvSpPr/>
          <p:nvPr/>
        </p:nvSpPr>
        <p:spPr>
          <a:xfrm>
            <a:off x="365760" y="384048"/>
            <a:ext cx="8412480" cy="594360"/>
          </a:xfrm>
          <a:prstGeom prst="rect">
            <a:avLst/>
          </a:prstGeom>
          <a:noFill/>
          <a:ln/>
        </p:spPr>
        <p:txBody>
          <a:bodyPr wrap="square" lIns="0" tIns="0" rIns="0" bIns="0" rtlCol="0" anchor="ctr"/>
          <a:lstStyle/>
          <a:p>
            <a:pPr algn="l" indent="0" marL="0">
              <a:buNone/>
            </a:pPr>
            <a:r>
              <a:rPr lang="en-US" sz="2200" b="1" dirty="0">
                <a:solidFill>
                  <a:srgbClr val="1A1A1A"/>
                </a:solidFill>
                <a:latin typeface="Noto Sans JP" pitchFamily="34" charset="0"/>
                <a:ea typeface="Noto Sans JP" pitchFamily="34" charset="-122"/>
                <a:cs typeface="Noto Sans JP" pitchFamily="34" charset="-120"/>
              </a:rPr>
              <a:t>Q1で計測基盤・体制を整え課題を分析し、Q2以降で改善を回す</a:t>
            </a:r>
            <a:endParaRPr lang="en-US" sz="2200" dirty="0"/>
          </a:p>
        </p:txBody>
      </p:sp>
      <p:sp>
        <p:nvSpPr>
          <p:cNvPr id="5" name="Shape 3"/>
          <p:cNvSpPr/>
          <p:nvPr/>
        </p:nvSpPr>
        <p:spPr>
          <a:xfrm>
            <a:off x="0" y="1051560"/>
            <a:ext cx="9144000" cy="9144"/>
          </a:xfrm>
          <a:prstGeom prst="rect">
            <a:avLst/>
          </a:prstGeom>
          <a:solidFill>
            <a:srgbClr val="CCCCCC"/>
          </a:solidFill>
          <a:ln w="12700">
            <a:solidFill>
              <a:srgbClr val="CCCCCC"/>
            </a:solidFill>
            <a:prstDash val="solid"/>
          </a:ln>
        </p:spPr>
      </p:sp>
      <p:sp>
        <p:nvSpPr>
          <p:cNvPr id="6" name="Shape 4"/>
          <p:cNvSpPr/>
          <p:nvPr/>
        </p:nvSpPr>
        <p:spPr>
          <a:xfrm>
            <a:off x="0" y="5084064"/>
            <a:ext cx="7315200" cy="64008"/>
          </a:xfrm>
          <a:prstGeom prst="rect">
            <a:avLst/>
          </a:prstGeom>
          <a:solidFill>
            <a:srgbClr val="00118F"/>
          </a:solidFill>
          <a:ln w="12700">
            <a:solidFill>
              <a:srgbClr val="00118F"/>
            </a:solidFill>
            <a:prstDash val="solid"/>
          </a:ln>
        </p:spPr>
      </p:sp>
      <p:sp>
        <p:nvSpPr>
          <p:cNvPr id="7" name="Shape 5"/>
          <p:cNvSpPr/>
          <p:nvPr/>
        </p:nvSpPr>
        <p:spPr>
          <a:xfrm>
            <a:off x="7315200" y="5084064"/>
            <a:ext cx="1828800" cy="64008"/>
          </a:xfrm>
          <a:prstGeom prst="rect">
            <a:avLst/>
          </a:prstGeom>
          <a:solidFill>
            <a:srgbClr val="FB5B01"/>
          </a:solidFill>
          <a:ln w="12700">
            <a:solidFill>
              <a:srgbClr val="FB5B01"/>
            </a:solidFill>
            <a:prstDash val="solid"/>
          </a:ln>
        </p:spPr>
      </p:sp>
      <p:sp>
        <p:nvSpPr>
          <p:cNvPr id="8" name="Shape 6"/>
          <p:cNvSpPr/>
          <p:nvPr/>
        </p:nvSpPr>
        <p:spPr>
          <a:xfrm>
            <a:off x="365760" y="1463040"/>
            <a:ext cx="2529840" cy="3483864"/>
          </a:xfrm>
          <a:prstGeom prst="roundRect">
            <a:avLst>
              <a:gd name="adj" fmla="val 1084"/>
            </a:avLst>
          </a:prstGeom>
          <a:solidFill>
            <a:srgbClr val="F2F2F2"/>
          </a:solidFill>
          <a:ln w="19050">
            <a:solidFill>
              <a:srgbClr val="264AF4"/>
            </a:solidFill>
            <a:prstDash val="solid"/>
          </a:ln>
        </p:spPr>
      </p:sp>
      <p:sp>
        <p:nvSpPr>
          <p:cNvPr id="9" name="Text 7"/>
          <p:cNvSpPr/>
          <p:nvPr/>
        </p:nvSpPr>
        <p:spPr>
          <a:xfrm>
            <a:off x="438912" y="1536192"/>
            <a:ext cx="2383536" cy="1219352"/>
          </a:xfrm>
          <a:prstGeom prst="rect">
            <a:avLst/>
          </a:prstGeom>
          <a:noFill/>
          <a:ln/>
        </p:spPr>
        <p:txBody>
          <a:bodyPr wrap="square" lIns="0" tIns="0" rIns="0" bIns="0" rtlCol="0" anchor="ctr"/>
          <a:lstStyle/>
          <a:p>
            <a:pPr algn="ctr" indent="0" marL="0">
              <a:buNone/>
            </a:pPr>
            <a:r>
              <a:rPr lang="en-US" sz="1300" b="1" dirty="0">
                <a:solidFill>
                  <a:srgbClr val="264AF4"/>
                </a:solidFill>
                <a:latin typeface="Noto Sans JP" pitchFamily="34" charset="0"/>
                <a:ea typeface="Noto Sans JP" pitchFamily="34" charset="-122"/>
                <a:cs typeface="Noto Sans JP" pitchFamily="34" charset="-120"/>
              </a:rPr>
              <a:t>Q1（4-6月）</a:t>
            </a:r>
            <a:endParaRPr lang="en-US" sz="1300" dirty="0"/>
          </a:p>
        </p:txBody>
      </p:sp>
      <p:sp>
        <p:nvSpPr>
          <p:cNvPr id="10" name="Text 8"/>
          <p:cNvSpPr/>
          <p:nvPr/>
        </p:nvSpPr>
        <p:spPr>
          <a:xfrm>
            <a:off x="438912" y="2856586"/>
            <a:ext cx="2383536" cy="1916125"/>
          </a:xfrm>
          <a:prstGeom prst="rect">
            <a:avLst/>
          </a:prstGeom>
          <a:noFill/>
          <a:ln/>
        </p:spPr>
        <p:txBody>
          <a:bodyPr wrap="square" lIns="0" tIns="0" rIns="0" bIns="0" rtlCol="0" anchor="t"/>
          <a:lstStyle/>
          <a:p>
            <a:pPr algn="l" indent="0" marL="0">
              <a:lnSpc>
                <a:spcPct val="140000"/>
              </a:lnSpc>
              <a:buNone/>
            </a:pPr>
            <a:r>
              <a:rPr lang="en-US" sz="1100" dirty="0">
                <a:solidFill>
                  <a:srgbClr val="1A1A1A"/>
                </a:solidFill>
                <a:latin typeface="Noto Sans JP" pitchFamily="34" charset="0"/>
                <a:ea typeface="Noto Sans JP" pitchFamily="34" charset="-122"/>
                <a:cs typeface="Noto Sans JP" pitchFamily="34" charset="-120"/>
              </a:rPr>
              <a:t>計測基盤・体制・</a:t>
            </a:r>
            <a:endParaRPr lang="en-US" sz="1100" dirty="0"/>
          </a:p>
          <a:p>
            <a:pPr algn="l" indent="0" marL="0">
              <a:lnSpc>
                <a:spcPct val="140000"/>
              </a:lnSpc>
              <a:buNone/>
            </a:pPr>
            <a:r>
              <a:rPr lang="en-US" sz="1100" dirty="0">
                <a:solidFill>
                  <a:srgbClr val="1A1A1A"/>
                </a:solidFill>
                <a:latin typeface="Noto Sans JP" pitchFamily="34" charset="0"/>
                <a:ea typeface="Noto Sans JP" pitchFamily="34" charset="-122"/>
                <a:cs typeface="Noto Sans JP" pitchFamily="34" charset="-120"/>
              </a:rPr>
              <a:t>共通基準の整備</a:t>
            </a:r>
            <a:endParaRPr lang="en-US" sz="1100" dirty="0"/>
          </a:p>
          <a:p>
            <a:pPr algn="l" indent="0" marL="0">
              <a:lnSpc>
                <a:spcPct val="140000"/>
              </a:lnSpc>
              <a:buNone/>
            </a:pPr>
            <a:r>
              <a:rPr lang="en-US" sz="1100" dirty="0">
                <a:solidFill>
                  <a:srgbClr val="1A1A1A"/>
                </a:solidFill>
                <a:latin typeface="Noto Sans JP" pitchFamily="34" charset="0"/>
                <a:ea typeface="Noto Sans JP" pitchFamily="34" charset="-122"/>
                <a:cs typeface="Noto Sans JP" pitchFamily="34" charset="-120"/>
              </a:rPr>
              <a:t>課題分析</a:t>
            </a:r>
            <a:endParaRPr lang="en-US" sz="1100" dirty="0"/>
          </a:p>
          <a:p>
            <a:pPr algn="l" indent="0" marL="0">
              <a:lnSpc>
                <a:spcPct val="140000"/>
              </a:lnSpc>
              <a:buNone/>
            </a:pPr>
            <a:endParaRPr lang="en-US" sz="1100" dirty="0"/>
          </a:p>
          <a:p>
            <a:pPr algn="l" indent="0" marL="0">
              <a:lnSpc>
                <a:spcPct val="140000"/>
              </a:lnSpc>
              <a:buNone/>
            </a:pPr>
            <a:r>
              <a:rPr lang="en-US" sz="1100" dirty="0">
                <a:solidFill>
                  <a:srgbClr val="1A1A1A"/>
                </a:solidFill>
                <a:latin typeface="Noto Sans JP" pitchFamily="34" charset="0"/>
                <a:ea typeface="Noto Sans JP" pitchFamily="34" charset="-122"/>
                <a:cs typeface="Noto Sans JP" pitchFamily="34" charset="-120"/>
              </a:rPr>
              <a:t>今どこで時間がかかって</a:t>
            </a:r>
            <a:endParaRPr lang="en-US" sz="1100" dirty="0"/>
          </a:p>
          <a:p>
            <a:pPr algn="l" indent="0" marL="0">
              <a:lnSpc>
                <a:spcPct val="140000"/>
              </a:lnSpc>
              <a:buNone/>
            </a:pPr>
            <a:r>
              <a:rPr lang="en-US" sz="1100" dirty="0">
                <a:solidFill>
                  <a:srgbClr val="1A1A1A"/>
                </a:solidFill>
                <a:latin typeface="Noto Sans JP" pitchFamily="34" charset="0"/>
                <a:ea typeface="Noto Sans JP" pitchFamily="34" charset="-122"/>
                <a:cs typeface="Noto Sans JP" pitchFamily="34" charset="-120"/>
              </a:rPr>
              <a:t>いるかを測れる状態を作り</a:t>
            </a:r>
            <a:endParaRPr lang="en-US" sz="1100" dirty="0"/>
          </a:p>
        </p:txBody>
      </p:sp>
      <p:sp>
        <p:nvSpPr>
          <p:cNvPr id="11" name="Text 9"/>
          <p:cNvSpPr/>
          <p:nvPr/>
        </p:nvSpPr>
        <p:spPr>
          <a:xfrm>
            <a:off x="2987040" y="2508199"/>
            <a:ext cx="228600" cy="1393546"/>
          </a:xfrm>
          <a:prstGeom prst="rect">
            <a:avLst/>
          </a:prstGeom>
          <a:noFill/>
          <a:ln/>
        </p:spPr>
        <p:txBody>
          <a:bodyPr wrap="square" lIns="0" tIns="0" rIns="0" bIns="0" rtlCol="0" anchor="ctr"/>
          <a:lstStyle/>
          <a:p>
            <a:pPr algn="ctr" indent="0" marL="0">
              <a:buNone/>
            </a:pPr>
            <a:r>
              <a:rPr lang="en-US" sz="1600" dirty="0">
                <a:solidFill>
                  <a:srgbClr val="666666"/>
                </a:solidFill>
                <a:latin typeface="Arial" pitchFamily="34" charset="0"/>
                <a:ea typeface="Arial" pitchFamily="34" charset="-122"/>
                <a:cs typeface="Arial" pitchFamily="34" charset="-120"/>
              </a:rPr>
              <a:t>▶</a:t>
            </a:r>
            <a:endParaRPr lang="en-US" sz="1600" dirty="0"/>
          </a:p>
        </p:txBody>
      </p:sp>
      <p:sp>
        <p:nvSpPr>
          <p:cNvPr id="12" name="Shape 10"/>
          <p:cNvSpPr/>
          <p:nvPr/>
        </p:nvSpPr>
        <p:spPr>
          <a:xfrm>
            <a:off x="3307080" y="1463040"/>
            <a:ext cx="2529840" cy="3483864"/>
          </a:xfrm>
          <a:prstGeom prst="roundRect">
            <a:avLst>
              <a:gd name="adj" fmla="val 1084"/>
            </a:avLst>
          </a:prstGeom>
          <a:solidFill>
            <a:srgbClr val="F2F2F2"/>
          </a:solidFill>
          <a:ln w="19050">
            <a:solidFill>
              <a:srgbClr val="6F23D0"/>
            </a:solidFill>
            <a:prstDash val="solid"/>
          </a:ln>
        </p:spPr>
      </p:sp>
      <p:sp>
        <p:nvSpPr>
          <p:cNvPr id="13" name="Text 11"/>
          <p:cNvSpPr/>
          <p:nvPr/>
        </p:nvSpPr>
        <p:spPr>
          <a:xfrm>
            <a:off x="3380232" y="1536192"/>
            <a:ext cx="2383536" cy="1219352"/>
          </a:xfrm>
          <a:prstGeom prst="rect">
            <a:avLst/>
          </a:prstGeom>
          <a:noFill/>
          <a:ln/>
        </p:spPr>
        <p:txBody>
          <a:bodyPr wrap="square" lIns="0" tIns="0" rIns="0" bIns="0" rtlCol="0" anchor="ctr"/>
          <a:lstStyle/>
          <a:p>
            <a:pPr algn="ctr" indent="0" marL="0">
              <a:buNone/>
            </a:pPr>
            <a:r>
              <a:rPr lang="en-US" sz="1300" b="1" dirty="0">
                <a:solidFill>
                  <a:srgbClr val="6F23D0"/>
                </a:solidFill>
                <a:latin typeface="Noto Sans JP" pitchFamily="34" charset="0"/>
                <a:ea typeface="Noto Sans JP" pitchFamily="34" charset="-122"/>
                <a:cs typeface="Noto Sans JP" pitchFamily="34" charset="-120"/>
              </a:rPr>
              <a:t>Q2（7-9月）</a:t>
            </a:r>
            <a:endParaRPr lang="en-US" sz="1300" dirty="0"/>
          </a:p>
        </p:txBody>
      </p:sp>
      <p:sp>
        <p:nvSpPr>
          <p:cNvPr id="14" name="Text 12"/>
          <p:cNvSpPr/>
          <p:nvPr/>
        </p:nvSpPr>
        <p:spPr>
          <a:xfrm>
            <a:off x="3380232" y="2856586"/>
            <a:ext cx="2383536" cy="1916125"/>
          </a:xfrm>
          <a:prstGeom prst="rect">
            <a:avLst/>
          </a:prstGeom>
          <a:noFill/>
          <a:ln/>
        </p:spPr>
        <p:txBody>
          <a:bodyPr wrap="square" lIns="0" tIns="0" rIns="0" bIns="0" rtlCol="0" anchor="t"/>
          <a:lstStyle/>
          <a:p>
            <a:pPr algn="l" indent="0" marL="0">
              <a:lnSpc>
                <a:spcPct val="140000"/>
              </a:lnSpc>
              <a:buNone/>
            </a:pPr>
            <a:r>
              <a:rPr lang="en-US" sz="1100" dirty="0">
                <a:solidFill>
                  <a:srgbClr val="1A1A1A"/>
                </a:solidFill>
                <a:latin typeface="Noto Sans JP" pitchFamily="34" charset="0"/>
                <a:ea typeface="Noto Sans JP" pitchFamily="34" charset="-122"/>
                <a:cs typeface="Noto Sans JP" pitchFamily="34" charset="-120"/>
              </a:rPr>
              <a:t>チームごとの指標設定</a:t>
            </a:r>
            <a:endParaRPr lang="en-US" sz="1100" dirty="0"/>
          </a:p>
          <a:p>
            <a:pPr algn="l" indent="0" marL="0">
              <a:lnSpc>
                <a:spcPct val="140000"/>
              </a:lnSpc>
              <a:buNone/>
            </a:pPr>
            <a:r>
              <a:rPr lang="en-US" sz="1100" dirty="0">
                <a:solidFill>
                  <a:srgbClr val="1A1A1A"/>
                </a:solidFill>
                <a:latin typeface="Noto Sans JP" pitchFamily="34" charset="0"/>
                <a:ea typeface="Noto Sans JP" pitchFamily="34" charset="-122"/>
                <a:cs typeface="Noto Sans JP" pitchFamily="34" charset="-120"/>
              </a:rPr>
              <a:t>改善サイクル始動</a:t>
            </a:r>
            <a:endParaRPr lang="en-US" sz="1100" dirty="0"/>
          </a:p>
          <a:p>
            <a:pPr algn="l" indent="0" marL="0">
              <a:lnSpc>
                <a:spcPct val="140000"/>
              </a:lnSpc>
              <a:buNone/>
            </a:pPr>
            <a:endParaRPr lang="en-US" sz="1100" dirty="0"/>
          </a:p>
          <a:p>
            <a:pPr algn="l" indent="0" marL="0">
              <a:lnSpc>
                <a:spcPct val="140000"/>
              </a:lnSpc>
              <a:buNone/>
            </a:pPr>
            <a:r>
              <a:rPr lang="en-US" sz="1100" dirty="0">
                <a:solidFill>
                  <a:srgbClr val="1A1A1A"/>
                </a:solidFill>
                <a:latin typeface="Noto Sans JP" pitchFamily="34" charset="0"/>
                <a:ea typeface="Noto Sans JP" pitchFamily="34" charset="-122"/>
                <a:cs typeface="Noto Sans JP" pitchFamily="34" charset="-120"/>
              </a:rPr>
              <a:t>データに基づく</a:t>
            </a:r>
            <a:endParaRPr lang="en-US" sz="1100" dirty="0"/>
          </a:p>
          <a:p>
            <a:pPr algn="l" indent="0" marL="0">
              <a:lnSpc>
                <a:spcPct val="140000"/>
              </a:lnSpc>
              <a:buNone/>
            </a:pPr>
            <a:r>
              <a:rPr lang="en-US" sz="1100" dirty="0">
                <a:solidFill>
                  <a:srgbClr val="1A1A1A"/>
                </a:solidFill>
                <a:latin typeface="Noto Sans JP" pitchFamily="34" charset="0"/>
                <a:ea typeface="Noto Sans JP" pitchFamily="34" charset="-122"/>
                <a:cs typeface="Noto Sans JP" pitchFamily="34" charset="-120"/>
              </a:rPr>
              <a:t>改善を開始</a:t>
            </a:r>
            <a:endParaRPr lang="en-US" sz="1100" dirty="0"/>
          </a:p>
        </p:txBody>
      </p:sp>
      <p:sp>
        <p:nvSpPr>
          <p:cNvPr id="15" name="Text 13"/>
          <p:cNvSpPr/>
          <p:nvPr/>
        </p:nvSpPr>
        <p:spPr>
          <a:xfrm>
            <a:off x="5928360" y="2508199"/>
            <a:ext cx="228600" cy="1393546"/>
          </a:xfrm>
          <a:prstGeom prst="rect">
            <a:avLst/>
          </a:prstGeom>
          <a:noFill/>
          <a:ln/>
        </p:spPr>
        <p:txBody>
          <a:bodyPr wrap="square" lIns="0" tIns="0" rIns="0" bIns="0" rtlCol="0" anchor="ctr"/>
          <a:lstStyle/>
          <a:p>
            <a:pPr algn="ctr" indent="0" marL="0">
              <a:buNone/>
            </a:pPr>
            <a:r>
              <a:rPr lang="en-US" sz="1600" dirty="0">
                <a:solidFill>
                  <a:srgbClr val="666666"/>
                </a:solidFill>
                <a:latin typeface="Arial" pitchFamily="34" charset="0"/>
                <a:ea typeface="Arial" pitchFamily="34" charset="-122"/>
                <a:cs typeface="Arial" pitchFamily="34" charset="-120"/>
              </a:rPr>
              <a:t>▶</a:t>
            </a:r>
            <a:endParaRPr lang="en-US" sz="1600" dirty="0"/>
          </a:p>
        </p:txBody>
      </p:sp>
      <p:sp>
        <p:nvSpPr>
          <p:cNvPr id="16" name="Shape 14"/>
          <p:cNvSpPr/>
          <p:nvPr/>
        </p:nvSpPr>
        <p:spPr>
          <a:xfrm>
            <a:off x="6248400" y="1463040"/>
            <a:ext cx="2529840" cy="3483864"/>
          </a:xfrm>
          <a:prstGeom prst="roundRect">
            <a:avLst>
              <a:gd name="adj" fmla="val 1084"/>
            </a:avLst>
          </a:prstGeom>
          <a:solidFill>
            <a:srgbClr val="F2F2F2"/>
          </a:solidFill>
          <a:ln w="19050">
            <a:solidFill>
              <a:srgbClr val="1D8B56"/>
            </a:solidFill>
            <a:prstDash val="solid"/>
          </a:ln>
        </p:spPr>
      </p:sp>
      <p:sp>
        <p:nvSpPr>
          <p:cNvPr id="17" name="Text 15"/>
          <p:cNvSpPr/>
          <p:nvPr/>
        </p:nvSpPr>
        <p:spPr>
          <a:xfrm>
            <a:off x="6321552" y="1536192"/>
            <a:ext cx="2383536" cy="1219352"/>
          </a:xfrm>
          <a:prstGeom prst="rect">
            <a:avLst/>
          </a:prstGeom>
          <a:noFill/>
          <a:ln/>
        </p:spPr>
        <p:txBody>
          <a:bodyPr wrap="square" lIns="0" tIns="0" rIns="0" bIns="0" rtlCol="0" anchor="ctr"/>
          <a:lstStyle/>
          <a:p>
            <a:pPr algn="ctr" indent="0" marL="0">
              <a:buNone/>
            </a:pPr>
            <a:r>
              <a:rPr lang="en-US" sz="1300" b="1" dirty="0">
                <a:solidFill>
                  <a:srgbClr val="1D8B56"/>
                </a:solidFill>
                <a:latin typeface="Noto Sans JP" pitchFamily="34" charset="0"/>
                <a:ea typeface="Noto Sans JP" pitchFamily="34" charset="-122"/>
                <a:cs typeface="Noto Sans JP" pitchFamily="34" charset="-120"/>
              </a:rPr>
              <a:t>Q3-Q4（10月-）</a:t>
            </a:r>
            <a:endParaRPr lang="en-US" sz="1300" dirty="0"/>
          </a:p>
        </p:txBody>
      </p:sp>
      <p:sp>
        <p:nvSpPr>
          <p:cNvPr id="18" name="Text 16"/>
          <p:cNvSpPr/>
          <p:nvPr/>
        </p:nvSpPr>
        <p:spPr>
          <a:xfrm>
            <a:off x="6321552" y="2856586"/>
            <a:ext cx="2383536" cy="1916125"/>
          </a:xfrm>
          <a:prstGeom prst="rect">
            <a:avLst/>
          </a:prstGeom>
          <a:noFill/>
          <a:ln/>
        </p:spPr>
        <p:txBody>
          <a:bodyPr wrap="square" lIns="0" tIns="0" rIns="0" bIns="0" rtlCol="0" anchor="t"/>
          <a:lstStyle/>
          <a:p>
            <a:pPr algn="l" indent="0" marL="0">
              <a:lnSpc>
                <a:spcPct val="140000"/>
              </a:lnSpc>
              <a:buNone/>
            </a:pPr>
            <a:r>
              <a:rPr lang="en-US" sz="1100" dirty="0">
                <a:solidFill>
                  <a:srgbClr val="1A1A1A"/>
                </a:solidFill>
                <a:latin typeface="Noto Sans JP" pitchFamily="34" charset="0"/>
                <a:ea typeface="Noto Sans JP" pitchFamily="34" charset="-122"/>
                <a:cs typeface="Noto Sans JP" pitchFamily="34" charset="-120"/>
              </a:rPr>
              <a:t>効果検証・定着</a:t>
            </a:r>
            <a:endParaRPr lang="en-US" sz="1100" dirty="0"/>
          </a:p>
          <a:p>
            <a:pPr algn="l" indent="0" marL="0">
              <a:lnSpc>
                <a:spcPct val="140000"/>
              </a:lnSpc>
              <a:buNone/>
            </a:pPr>
            <a:endParaRPr lang="en-US" sz="1100" dirty="0"/>
          </a:p>
          <a:p>
            <a:pPr algn="l" indent="0" marL="0">
              <a:lnSpc>
                <a:spcPct val="140000"/>
              </a:lnSpc>
              <a:buNone/>
            </a:pPr>
            <a:r>
              <a:rPr lang="en-US" sz="1100" dirty="0">
                <a:solidFill>
                  <a:srgbClr val="1A1A1A"/>
                </a:solidFill>
                <a:latin typeface="Noto Sans JP" pitchFamily="34" charset="0"/>
                <a:ea typeface="Noto Sans JP" pitchFamily="34" charset="-122"/>
                <a:cs typeface="Noto Sans JP" pitchFamily="34" charset="-120"/>
              </a:rPr>
              <a:t>改善の成果を測り、</a:t>
            </a:r>
            <a:endParaRPr lang="en-US" sz="1100" dirty="0"/>
          </a:p>
          <a:p>
            <a:pPr algn="l" indent="0" marL="0">
              <a:lnSpc>
                <a:spcPct val="140000"/>
              </a:lnSpc>
              <a:buNone/>
            </a:pPr>
            <a:r>
              <a:rPr lang="en-US" sz="1100" dirty="0">
                <a:solidFill>
                  <a:srgbClr val="1A1A1A"/>
                </a:solidFill>
                <a:latin typeface="Noto Sans JP" pitchFamily="34" charset="0"/>
                <a:ea typeface="Noto Sans JP" pitchFamily="34" charset="-122"/>
                <a:cs typeface="Noto Sans JP" pitchFamily="34" charset="-120"/>
              </a:rPr>
              <a:t>型として定着させる</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73152"/>
            <a:ext cx="8412480" cy="201168"/>
          </a:xfrm>
          <a:prstGeom prst="rect">
            <a:avLst/>
          </a:prstGeom>
          <a:noFill/>
          <a:ln/>
        </p:spPr>
        <p:txBody>
          <a:bodyPr wrap="square" lIns="0" tIns="0" rIns="0" bIns="0" rtlCol="0" anchor="ctr"/>
          <a:lstStyle/>
          <a:p>
            <a:pPr algn="l" indent="0" marL="0">
              <a:buNone/>
            </a:pPr>
            <a:r>
              <a:rPr lang="en-US" sz="900" dirty="0">
                <a:solidFill>
                  <a:srgbClr val="666666"/>
                </a:solidFill>
                <a:latin typeface="Noto Sans JP" pitchFamily="34" charset="0"/>
                <a:ea typeface="Noto Sans JP" pitchFamily="34" charset="-122"/>
                <a:cs typeface="Noto Sans JP" pitchFamily="34" charset="-120"/>
              </a:rPr>
              <a:t>DPG OKR FY26  &gt;  挑戦KR②  &gt;  初回報告</a:t>
            </a:r>
            <a:endParaRPr lang="en-US" sz="900" dirty="0"/>
          </a:p>
        </p:txBody>
      </p:sp>
      <p:sp>
        <p:nvSpPr>
          <p:cNvPr id="3" name="Shape 1"/>
          <p:cNvSpPr/>
          <p:nvPr/>
        </p:nvSpPr>
        <p:spPr>
          <a:xfrm>
            <a:off x="0" y="310896"/>
            <a:ext cx="9144000" cy="9144"/>
          </a:xfrm>
          <a:prstGeom prst="rect">
            <a:avLst/>
          </a:prstGeom>
          <a:solidFill>
            <a:srgbClr val="CCCCCC"/>
          </a:solidFill>
          <a:ln w="12700">
            <a:solidFill>
              <a:srgbClr val="CCCCCC"/>
            </a:solidFill>
            <a:prstDash val="solid"/>
          </a:ln>
        </p:spPr>
      </p:sp>
      <p:sp>
        <p:nvSpPr>
          <p:cNvPr id="4" name="Text 2"/>
          <p:cNvSpPr/>
          <p:nvPr/>
        </p:nvSpPr>
        <p:spPr>
          <a:xfrm>
            <a:off x="365760" y="384048"/>
            <a:ext cx="8412480" cy="594360"/>
          </a:xfrm>
          <a:prstGeom prst="rect">
            <a:avLst/>
          </a:prstGeom>
          <a:noFill/>
          <a:ln/>
        </p:spPr>
        <p:txBody>
          <a:bodyPr wrap="square" lIns="0" tIns="0" rIns="0" bIns="0" rtlCol="0" anchor="ctr"/>
          <a:lstStyle/>
          <a:p>
            <a:pPr algn="l" indent="0" marL="0">
              <a:buNone/>
            </a:pPr>
            <a:r>
              <a:rPr lang="en-US" sz="2200" b="1" dirty="0">
                <a:solidFill>
                  <a:srgbClr val="1A1A1A"/>
                </a:solidFill>
                <a:latin typeface="Noto Sans JP" pitchFamily="34" charset="0"/>
                <a:ea typeface="Noto Sans JP" pitchFamily="34" charset="-122"/>
                <a:cs typeface="Noto Sans JP" pitchFamily="34" charset="-120"/>
              </a:rPr>
              <a:t>Q1（4-6月）の施策スケジュール</a:t>
            </a:r>
            <a:endParaRPr lang="en-US" sz="2200" dirty="0"/>
          </a:p>
        </p:txBody>
      </p:sp>
      <p:sp>
        <p:nvSpPr>
          <p:cNvPr id="5" name="Shape 3"/>
          <p:cNvSpPr/>
          <p:nvPr/>
        </p:nvSpPr>
        <p:spPr>
          <a:xfrm>
            <a:off x="0" y="1051560"/>
            <a:ext cx="9144000" cy="9144"/>
          </a:xfrm>
          <a:prstGeom prst="rect">
            <a:avLst/>
          </a:prstGeom>
          <a:solidFill>
            <a:srgbClr val="CCCCCC"/>
          </a:solidFill>
          <a:ln w="12700">
            <a:solidFill>
              <a:srgbClr val="CCCCCC"/>
            </a:solidFill>
            <a:prstDash val="solid"/>
          </a:ln>
        </p:spPr>
      </p:sp>
      <p:sp>
        <p:nvSpPr>
          <p:cNvPr id="6" name="Shape 4"/>
          <p:cNvSpPr/>
          <p:nvPr/>
        </p:nvSpPr>
        <p:spPr>
          <a:xfrm>
            <a:off x="0" y="5084064"/>
            <a:ext cx="7315200" cy="64008"/>
          </a:xfrm>
          <a:prstGeom prst="rect">
            <a:avLst/>
          </a:prstGeom>
          <a:solidFill>
            <a:srgbClr val="00118F"/>
          </a:solidFill>
          <a:ln w="12700">
            <a:solidFill>
              <a:srgbClr val="00118F"/>
            </a:solidFill>
            <a:prstDash val="solid"/>
          </a:ln>
        </p:spPr>
      </p:sp>
      <p:sp>
        <p:nvSpPr>
          <p:cNvPr id="7" name="Shape 5"/>
          <p:cNvSpPr/>
          <p:nvPr/>
        </p:nvSpPr>
        <p:spPr>
          <a:xfrm>
            <a:off x="7315200" y="5084064"/>
            <a:ext cx="1828800" cy="64008"/>
          </a:xfrm>
          <a:prstGeom prst="rect">
            <a:avLst/>
          </a:prstGeom>
          <a:solidFill>
            <a:srgbClr val="FB5B01"/>
          </a:solidFill>
          <a:ln w="12700">
            <a:solidFill>
              <a:srgbClr val="FB5B01"/>
            </a:solidFill>
            <a:prstDash val="solid"/>
          </a:ln>
        </p:spPr>
      </p:sp>
      <p:sp>
        <p:nvSpPr>
          <p:cNvPr id="8" name="Shape 6"/>
          <p:cNvSpPr/>
          <p:nvPr/>
        </p:nvSpPr>
        <p:spPr>
          <a:xfrm>
            <a:off x="365760" y="1188720"/>
            <a:ext cx="1645920" cy="292608"/>
          </a:xfrm>
          <a:prstGeom prst="rect">
            <a:avLst/>
          </a:prstGeom>
          <a:solidFill>
            <a:srgbClr val="00118F"/>
          </a:solidFill>
          <a:ln/>
        </p:spPr>
      </p:sp>
      <p:sp>
        <p:nvSpPr>
          <p:cNvPr id="9" name="Text 7"/>
          <p:cNvSpPr/>
          <p:nvPr/>
        </p:nvSpPr>
        <p:spPr>
          <a:xfrm>
            <a:off x="365760" y="1188720"/>
            <a:ext cx="16459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Noto Sans JP" pitchFamily="34" charset="0"/>
                <a:ea typeface="Noto Sans JP" pitchFamily="34" charset="-122"/>
                <a:cs typeface="Noto Sans JP" pitchFamily="34" charset="-120"/>
              </a:rPr>
              <a:t>施策</a:t>
            </a:r>
            <a:endParaRPr lang="en-US" sz="1100" dirty="0"/>
          </a:p>
        </p:txBody>
      </p:sp>
      <p:sp>
        <p:nvSpPr>
          <p:cNvPr id="10" name="Shape 8"/>
          <p:cNvSpPr/>
          <p:nvPr/>
        </p:nvSpPr>
        <p:spPr>
          <a:xfrm>
            <a:off x="2011680" y="1188720"/>
            <a:ext cx="2255520" cy="292608"/>
          </a:xfrm>
          <a:prstGeom prst="rect">
            <a:avLst/>
          </a:prstGeom>
          <a:solidFill>
            <a:srgbClr val="00118F"/>
          </a:solidFill>
          <a:ln/>
        </p:spPr>
      </p:sp>
      <p:sp>
        <p:nvSpPr>
          <p:cNvPr id="11" name="Text 9"/>
          <p:cNvSpPr/>
          <p:nvPr/>
        </p:nvSpPr>
        <p:spPr>
          <a:xfrm>
            <a:off x="2011680" y="1188720"/>
            <a:ext cx="22555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Noto Sans JP" pitchFamily="34" charset="0"/>
                <a:ea typeface="Noto Sans JP" pitchFamily="34" charset="-122"/>
                <a:cs typeface="Noto Sans JP" pitchFamily="34" charset="-120"/>
              </a:rPr>
              <a:t>4月</a:t>
            </a:r>
            <a:endParaRPr lang="en-US" sz="1100" dirty="0"/>
          </a:p>
        </p:txBody>
      </p:sp>
      <p:sp>
        <p:nvSpPr>
          <p:cNvPr id="12" name="Shape 10"/>
          <p:cNvSpPr/>
          <p:nvPr/>
        </p:nvSpPr>
        <p:spPr>
          <a:xfrm>
            <a:off x="4267200" y="1188720"/>
            <a:ext cx="2255520" cy="292608"/>
          </a:xfrm>
          <a:prstGeom prst="rect">
            <a:avLst/>
          </a:prstGeom>
          <a:solidFill>
            <a:srgbClr val="00118F"/>
          </a:solidFill>
          <a:ln/>
        </p:spPr>
      </p:sp>
      <p:sp>
        <p:nvSpPr>
          <p:cNvPr id="13" name="Text 11"/>
          <p:cNvSpPr/>
          <p:nvPr/>
        </p:nvSpPr>
        <p:spPr>
          <a:xfrm>
            <a:off x="4267200" y="1188720"/>
            <a:ext cx="22555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Noto Sans JP" pitchFamily="34" charset="0"/>
                <a:ea typeface="Noto Sans JP" pitchFamily="34" charset="-122"/>
                <a:cs typeface="Noto Sans JP" pitchFamily="34" charset="-120"/>
              </a:rPr>
              <a:t>5月</a:t>
            </a:r>
            <a:endParaRPr lang="en-US" sz="1100" dirty="0"/>
          </a:p>
        </p:txBody>
      </p:sp>
      <p:sp>
        <p:nvSpPr>
          <p:cNvPr id="14" name="Shape 12"/>
          <p:cNvSpPr/>
          <p:nvPr/>
        </p:nvSpPr>
        <p:spPr>
          <a:xfrm>
            <a:off x="4267200" y="1188720"/>
            <a:ext cx="4572" cy="292608"/>
          </a:xfrm>
          <a:prstGeom prst="rect">
            <a:avLst/>
          </a:prstGeom>
          <a:solidFill>
            <a:srgbClr val="FFFFFF"/>
          </a:solidFill>
          <a:ln/>
        </p:spPr>
      </p:sp>
      <p:sp>
        <p:nvSpPr>
          <p:cNvPr id="15" name="Shape 13"/>
          <p:cNvSpPr/>
          <p:nvPr/>
        </p:nvSpPr>
        <p:spPr>
          <a:xfrm>
            <a:off x="6522720" y="1188720"/>
            <a:ext cx="2255520" cy="292608"/>
          </a:xfrm>
          <a:prstGeom prst="rect">
            <a:avLst/>
          </a:prstGeom>
          <a:solidFill>
            <a:srgbClr val="00118F"/>
          </a:solidFill>
          <a:ln/>
        </p:spPr>
      </p:sp>
      <p:sp>
        <p:nvSpPr>
          <p:cNvPr id="16" name="Text 14"/>
          <p:cNvSpPr/>
          <p:nvPr/>
        </p:nvSpPr>
        <p:spPr>
          <a:xfrm>
            <a:off x="6522720" y="1188720"/>
            <a:ext cx="22555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Noto Sans JP" pitchFamily="34" charset="0"/>
                <a:ea typeface="Noto Sans JP" pitchFamily="34" charset="-122"/>
                <a:cs typeface="Noto Sans JP" pitchFamily="34" charset="-120"/>
              </a:rPr>
              <a:t>6月</a:t>
            </a:r>
            <a:endParaRPr lang="en-US" sz="1100" dirty="0"/>
          </a:p>
        </p:txBody>
      </p:sp>
      <p:sp>
        <p:nvSpPr>
          <p:cNvPr id="17" name="Shape 15"/>
          <p:cNvSpPr/>
          <p:nvPr/>
        </p:nvSpPr>
        <p:spPr>
          <a:xfrm>
            <a:off x="6522720" y="1188720"/>
            <a:ext cx="4572" cy="292608"/>
          </a:xfrm>
          <a:prstGeom prst="rect">
            <a:avLst/>
          </a:prstGeom>
          <a:solidFill>
            <a:srgbClr val="FFFFFF"/>
          </a:solidFill>
          <a:ln/>
        </p:spPr>
      </p:sp>
      <p:sp>
        <p:nvSpPr>
          <p:cNvPr id="18" name="Shape 16"/>
          <p:cNvSpPr/>
          <p:nvPr/>
        </p:nvSpPr>
        <p:spPr>
          <a:xfrm>
            <a:off x="365760" y="1536192"/>
            <a:ext cx="1609344" cy="1143000"/>
          </a:xfrm>
          <a:prstGeom prst="roundRect">
            <a:avLst>
              <a:gd name="adj" fmla="val 1600"/>
            </a:avLst>
          </a:prstGeom>
          <a:solidFill>
            <a:srgbClr val="264AF4"/>
          </a:solidFill>
          <a:ln/>
        </p:spPr>
      </p:sp>
      <p:sp>
        <p:nvSpPr>
          <p:cNvPr id="19" name="Text 17"/>
          <p:cNvSpPr/>
          <p:nvPr/>
        </p:nvSpPr>
        <p:spPr>
          <a:xfrm>
            <a:off x="365760" y="1536192"/>
            <a:ext cx="1609344" cy="1143000"/>
          </a:xfrm>
          <a:prstGeom prst="rect">
            <a:avLst/>
          </a:prstGeom>
          <a:noFill/>
          <a:ln/>
        </p:spPr>
        <p:txBody>
          <a:bodyPr wrap="square" lIns="0" tIns="0" rIns="0" bIns="0" rtlCol="0" anchor="ctr"/>
          <a:lstStyle/>
          <a:p>
            <a:pPr algn="ctr" indent="0" marL="0">
              <a:buNone/>
            </a:pPr>
            <a:r>
              <a:rPr lang="en-US" sz="1100" b="1" dirty="0">
                <a:solidFill>
                  <a:srgbClr val="FFFFFF"/>
                </a:solidFill>
                <a:latin typeface="Noto Sans JP" pitchFamily="34" charset="0"/>
                <a:ea typeface="Noto Sans JP" pitchFamily="34" charset="-122"/>
                <a:cs typeface="Noto Sans JP" pitchFamily="34" charset="-120"/>
              </a:rPr>
              <a:t>計測基盤</a:t>
            </a:r>
            <a:endParaRPr lang="en-US" sz="1100" dirty="0"/>
          </a:p>
        </p:txBody>
      </p:sp>
      <p:sp>
        <p:nvSpPr>
          <p:cNvPr id="20" name="Shape 18"/>
          <p:cNvSpPr/>
          <p:nvPr/>
        </p:nvSpPr>
        <p:spPr>
          <a:xfrm>
            <a:off x="2011680" y="1536192"/>
            <a:ext cx="6766560" cy="1143000"/>
          </a:xfrm>
          <a:prstGeom prst="rect">
            <a:avLst/>
          </a:prstGeom>
          <a:solidFill>
            <a:srgbClr val="F2F2F2"/>
          </a:solidFill>
          <a:ln/>
        </p:spPr>
      </p:sp>
      <p:sp>
        <p:nvSpPr>
          <p:cNvPr id="21" name="Shape 19"/>
          <p:cNvSpPr/>
          <p:nvPr/>
        </p:nvSpPr>
        <p:spPr>
          <a:xfrm>
            <a:off x="4267200" y="1536192"/>
            <a:ext cx="4572" cy="1143000"/>
          </a:xfrm>
          <a:prstGeom prst="rect">
            <a:avLst/>
          </a:prstGeom>
          <a:solidFill>
            <a:srgbClr val="CCCCCC"/>
          </a:solidFill>
          <a:ln/>
        </p:spPr>
      </p:sp>
      <p:sp>
        <p:nvSpPr>
          <p:cNvPr id="22" name="Shape 20"/>
          <p:cNvSpPr/>
          <p:nvPr/>
        </p:nvSpPr>
        <p:spPr>
          <a:xfrm>
            <a:off x="6522720" y="1536192"/>
            <a:ext cx="4572" cy="1143000"/>
          </a:xfrm>
          <a:prstGeom prst="rect">
            <a:avLst/>
          </a:prstGeom>
          <a:solidFill>
            <a:srgbClr val="CCCCCC"/>
          </a:solidFill>
          <a:ln/>
        </p:spPr>
      </p:sp>
      <p:sp>
        <p:nvSpPr>
          <p:cNvPr id="23" name="Shape 21"/>
          <p:cNvSpPr/>
          <p:nvPr/>
        </p:nvSpPr>
        <p:spPr>
          <a:xfrm>
            <a:off x="2593848" y="1591056"/>
            <a:ext cx="2218944" cy="237744"/>
          </a:xfrm>
          <a:prstGeom prst="roundRect">
            <a:avLst>
              <a:gd name="adj" fmla="val 7692"/>
            </a:avLst>
          </a:prstGeom>
          <a:solidFill>
            <a:srgbClr val="264AF4"/>
          </a:solidFill>
          <a:ln/>
        </p:spPr>
      </p:sp>
      <p:sp>
        <p:nvSpPr>
          <p:cNvPr id="24" name="Text 22"/>
          <p:cNvSpPr/>
          <p:nvPr/>
        </p:nvSpPr>
        <p:spPr>
          <a:xfrm>
            <a:off x="2630424" y="1591056"/>
            <a:ext cx="2164080" cy="237744"/>
          </a:xfrm>
          <a:prstGeom prst="rect">
            <a:avLst/>
          </a:prstGeom>
          <a:noFill/>
          <a:ln/>
        </p:spPr>
        <p:txBody>
          <a:bodyPr wrap="square" lIns="0" tIns="0" rIns="0" bIns="0" rtlCol="0" anchor="ctr"/>
          <a:lstStyle/>
          <a:p>
            <a:pPr algn="l" indent="0" marL="0">
              <a:buNone/>
            </a:pPr>
            <a:r>
              <a:rPr lang="en-US" sz="900" dirty="0">
                <a:solidFill>
                  <a:srgbClr val="FFFFFF"/>
                </a:solidFill>
                <a:latin typeface="Noto Sans JP" pitchFamily="34" charset="0"/>
                <a:ea typeface="Noto Sans JP" pitchFamily="34" charset="-122"/>
                <a:cs typeface="Noto Sans JP" pitchFamily="34" charset="-120"/>
              </a:rPr>
              <a:t>Notion計測ログ整備</a:t>
            </a:r>
            <a:endParaRPr lang="en-US" sz="900" dirty="0"/>
          </a:p>
        </p:txBody>
      </p:sp>
      <p:sp>
        <p:nvSpPr>
          <p:cNvPr id="25" name="Shape 23"/>
          <p:cNvSpPr/>
          <p:nvPr/>
        </p:nvSpPr>
        <p:spPr>
          <a:xfrm>
            <a:off x="3721608" y="1856232"/>
            <a:ext cx="2782824" cy="237744"/>
          </a:xfrm>
          <a:prstGeom prst="roundRect">
            <a:avLst>
              <a:gd name="adj" fmla="val 7692"/>
            </a:avLst>
          </a:prstGeom>
          <a:solidFill>
            <a:srgbClr val="264AF4"/>
          </a:solidFill>
          <a:ln/>
        </p:spPr>
      </p:sp>
      <p:sp>
        <p:nvSpPr>
          <p:cNvPr id="26" name="Text 24"/>
          <p:cNvSpPr/>
          <p:nvPr/>
        </p:nvSpPr>
        <p:spPr>
          <a:xfrm>
            <a:off x="3758184" y="1856232"/>
            <a:ext cx="2727960" cy="237744"/>
          </a:xfrm>
          <a:prstGeom prst="rect">
            <a:avLst/>
          </a:prstGeom>
          <a:noFill/>
          <a:ln/>
        </p:spPr>
        <p:txBody>
          <a:bodyPr wrap="square" lIns="0" tIns="0" rIns="0" bIns="0" rtlCol="0" anchor="ctr"/>
          <a:lstStyle/>
          <a:p>
            <a:pPr algn="l" indent="0" marL="0">
              <a:buNone/>
            </a:pPr>
            <a:r>
              <a:rPr lang="en-US" sz="900" dirty="0">
                <a:solidFill>
                  <a:srgbClr val="FFFFFF"/>
                </a:solidFill>
                <a:latin typeface="Noto Sans JP" pitchFamily="34" charset="0"/>
                <a:ea typeface="Noto Sans JP" pitchFamily="34" charset="-122"/>
                <a:cs typeface="Noto Sans JP" pitchFamily="34" charset="-120"/>
              </a:rPr>
              <a:t>Github計測ログ開発（Naikist）</a:t>
            </a:r>
            <a:endParaRPr lang="en-US" sz="900" dirty="0"/>
          </a:p>
        </p:txBody>
      </p:sp>
      <p:sp>
        <p:nvSpPr>
          <p:cNvPr id="27" name="Shape 25"/>
          <p:cNvSpPr/>
          <p:nvPr/>
        </p:nvSpPr>
        <p:spPr>
          <a:xfrm>
            <a:off x="6541008" y="2121408"/>
            <a:ext cx="2218944" cy="237744"/>
          </a:xfrm>
          <a:prstGeom prst="roundRect">
            <a:avLst>
              <a:gd name="adj" fmla="val 7692"/>
            </a:avLst>
          </a:prstGeom>
          <a:solidFill>
            <a:srgbClr val="264AF4"/>
          </a:solidFill>
          <a:ln/>
        </p:spPr>
      </p:sp>
      <p:sp>
        <p:nvSpPr>
          <p:cNvPr id="28" name="Text 26"/>
          <p:cNvSpPr/>
          <p:nvPr/>
        </p:nvSpPr>
        <p:spPr>
          <a:xfrm>
            <a:off x="6577584" y="2121408"/>
            <a:ext cx="2164080" cy="237744"/>
          </a:xfrm>
          <a:prstGeom prst="rect">
            <a:avLst/>
          </a:prstGeom>
          <a:noFill/>
          <a:ln/>
        </p:spPr>
        <p:txBody>
          <a:bodyPr wrap="square" lIns="0" tIns="0" rIns="0" bIns="0" rtlCol="0" anchor="ctr"/>
          <a:lstStyle/>
          <a:p>
            <a:pPr algn="l" indent="0" marL="0">
              <a:buNone/>
            </a:pPr>
            <a:r>
              <a:rPr lang="en-US" sz="900" dirty="0">
                <a:solidFill>
                  <a:srgbClr val="FFFFFF"/>
                </a:solidFill>
                <a:latin typeface="Noto Sans JP" pitchFamily="34" charset="0"/>
                <a:ea typeface="Noto Sans JP" pitchFamily="34" charset="-122"/>
                <a:cs typeface="Noto Sans JP" pitchFamily="34" charset="-120"/>
              </a:rPr>
              <a:t>Github計測ログ開発（その他チーム）</a:t>
            </a:r>
            <a:endParaRPr lang="en-US" sz="900" dirty="0"/>
          </a:p>
        </p:txBody>
      </p:sp>
      <p:sp>
        <p:nvSpPr>
          <p:cNvPr id="29" name="Shape 27"/>
          <p:cNvSpPr/>
          <p:nvPr/>
        </p:nvSpPr>
        <p:spPr>
          <a:xfrm>
            <a:off x="7104888" y="2386584"/>
            <a:ext cx="1655064" cy="237744"/>
          </a:xfrm>
          <a:prstGeom prst="roundRect">
            <a:avLst>
              <a:gd name="adj" fmla="val 7692"/>
            </a:avLst>
          </a:prstGeom>
          <a:solidFill>
            <a:srgbClr val="264AF4"/>
          </a:solidFill>
          <a:ln/>
        </p:spPr>
      </p:sp>
      <p:sp>
        <p:nvSpPr>
          <p:cNvPr id="30" name="Text 28"/>
          <p:cNvSpPr/>
          <p:nvPr/>
        </p:nvSpPr>
        <p:spPr>
          <a:xfrm>
            <a:off x="7141464" y="2386584"/>
            <a:ext cx="1600200" cy="237744"/>
          </a:xfrm>
          <a:prstGeom prst="rect">
            <a:avLst/>
          </a:prstGeom>
          <a:noFill/>
          <a:ln/>
        </p:spPr>
        <p:txBody>
          <a:bodyPr wrap="square" lIns="0" tIns="0" rIns="0" bIns="0" rtlCol="0" anchor="ctr"/>
          <a:lstStyle/>
          <a:p>
            <a:pPr algn="l" indent="0" marL="0">
              <a:buNone/>
            </a:pPr>
            <a:r>
              <a:rPr lang="en-US" sz="900" dirty="0">
                <a:solidFill>
                  <a:srgbClr val="FFFFFF"/>
                </a:solidFill>
                <a:latin typeface="Noto Sans JP" pitchFamily="34" charset="0"/>
                <a:ea typeface="Noto Sans JP" pitchFamily="34" charset="-122"/>
                <a:cs typeface="Noto Sans JP" pitchFamily="34" charset="-120"/>
              </a:rPr>
              <a:t>ベースライン計測・分析</a:t>
            </a:r>
            <a:endParaRPr lang="en-US" sz="900" dirty="0"/>
          </a:p>
        </p:txBody>
      </p:sp>
      <p:sp>
        <p:nvSpPr>
          <p:cNvPr id="31" name="Shape 29"/>
          <p:cNvSpPr/>
          <p:nvPr/>
        </p:nvSpPr>
        <p:spPr>
          <a:xfrm>
            <a:off x="365760" y="2734056"/>
            <a:ext cx="1609344" cy="877824"/>
          </a:xfrm>
          <a:prstGeom prst="roundRect">
            <a:avLst>
              <a:gd name="adj" fmla="val 2083"/>
            </a:avLst>
          </a:prstGeom>
          <a:solidFill>
            <a:srgbClr val="6F23D0"/>
          </a:solidFill>
          <a:ln/>
        </p:spPr>
      </p:sp>
      <p:sp>
        <p:nvSpPr>
          <p:cNvPr id="32" name="Text 30"/>
          <p:cNvSpPr/>
          <p:nvPr/>
        </p:nvSpPr>
        <p:spPr>
          <a:xfrm>
            <a:off x="365760" y="2734056"/>
            <a:ext cx="1609344" cy="877824"/>
          </a:xfrm>
          <a:prstGeom prst="rect">
            <a:avLst/>
          </a:prstGeom>
          <a:noFill/>
          <a:ln/>
        </p:spPr>
        <p:txBody>
          <a:bodyPr wrap="square" lIns="0" tIns="0" rIns="0" bIns="0" rtlCol="0" anchor="ctr"/>
          <a:lstStyle/>
          <a:p>
            <a:pPr algn="ctr" indent="0" marL="0">
              <a:buNone/>
            </a:pPr>
            <a:r>
              <a:rPr lang="en-US" sz="1100" b="1" dirty="0">
                <a:solidFill>
                  <a:srgbClr val="FFFFFF"/>
                </a:solidFill>
                <a:latin typeface="Noto Sans JP" pitchFamily="34" charset="0"/>
                <a:ea typeface="Noto Sans JP" pitchFamily="34" charset="-122"/>
                <a:cs typeface="Noto Sans JP" pitchFamily="34" charset="-120"/>
              </a:rPr>
              <a:t>入口品質</a:t>
            </a:r>
            <a:endParaRPr lang="en-US" sz="1100" dirty="0"/>
          </a:p>
        </p:txBody>
      </p:sp>
      <p:sp>
        <p:nvSpPr>
          <p:cNvPr id="33" name="Shape 31"/>
          <p:cNvSpPr/>
          <p:nvPr/>
        </p:nvSpPr>
        <p:spPr>
          <a:xfrm>
            <a:off x="2011680" y="2734056"/>
            <a:ext cx="6766560" cy="877824"/>
          </a:xfrm>
          <a:prstGeom prst="rect">
            <a:avLst/>
          </a:prstGeom>
          <a:solidFill>
            <a:srgbClr val="F2F2F2"/>
          </a:solidFill>
          <a:ln/>
        </p:spPr>
      </p:sp>
      <p:sp>
        <p:nvSpPr>
          <p:cNvPr id="34" name="Shape 32"/>
          <p:cNvSpPr/>
          <p:nvPr/>
        </p:nvSpPr>
        <p:spPr>
          <a:xfrm>
            <a:off x="4267200" y="2734056"/>
            <a:ext cx="4572" cy="877824"/>
          </a:xfrm>
          <a:prstGeom prst="rect">
            <a:avLst/>
          </a:prstGeom>
          <a:solidFill>
            <a:srgbClr val="CCCCCC"/>
          </a:solidFill>
          <a:ln/>
        </p:spPr>
      </p:sp>
      <p:sp>
        <p:nvSpPr>
          <p:cNvPr id="35" name="Shape 33"/>
          <p:cNvSpPr/>
          <p:nvPr/>
        </p:nvSpPr>
        <p:spPr>
          <a:xfrm>
            <a:off x="6522720" y="2734056"/>
            <a:ext cx="4572" cy="877824"/>
          </a:xfrm>
          <a:prstGeom prst="rect">
            <a:avLst/>
          </a:prstGeom>
          <a:solidFill>
            <a:srgbClr val="CCCCCC"/>
          </a:solidFill>
          <a:ln/>
        </p:spPr>
      </p:sp>
      <p:sp>
        <p:nvSpPr>
          <p:cNvPr id="36" name="Shape 34"/>
          <p:cNvSpPr/>
          <p:nvPr/>
        </p:nvSpPr>
        <p:spPr>
          <a:xfrm>
            <a:off x="2593848" y="2788920"/>
            <a:ext cx="2218944" cy="237744"/>
          </a:xfrm>
          <a:prstGeom prst="roundRect">
            <a:avLst>
              <a:gd name="adj" fmla="val 7692"/>
            </a:avLst>
          </a:prstGeom>
          <a:solidFill>
            <a:srgbClr val="6F23D0"/>
          </a:solidFill>
          <a:ln/>
        </p:spPr>
      </p:sp>
      <p:sp>
        <p:nvSpPr>
          <p:cNvPr id="37" name="Text 35"/>
          <p:cNvSpPr/>
          <p:nvPr/>
        </p:nvSpPr>
        <p:spPr>
          <a:xfrm>
            <a:off x="2630424" y="2788920"/>
            <a:ext cx="2164080" cy="237744"/>
          </a:xfrm>
          <a:prstGeom prst="rect">
            <a:avLst/>
          </a:prstGeom>
          <a:noFill/>
          <a:ln/>
        </p:spPr>
        <p:txBody>
          <a:bodyPr wrap="square" lIns="0" tIns="0" rIns="0" bIns="0" rtlCol="0" anchor="ctr"/>
          <a:lstStyle/>
          <a:p>
            <a:pPr algn="l" indent="0" marL="0">
              <a:buNone/>
            </a:pPr>
            <a:r>
              <a:rPr lang="en-US" sz="900" dirty="0">
                <a:solidFill>
                  <a:srgbClr val="FFFFFF"/>
                </a:solidFill>
                <a:latin typeface="Noto Sans JP" pitchFamily="34" charset="0"/>
                <a:ea typeface="Noto Sans JP" pitchFamily="34" charset="-122"/>
                <a:cs typeface="Noto Sans JP" pitchFamily="34" charset="-120"/>
              </a:rPr>
              <a:t>外部講師レクチャー・課題解決</a:t>
            </a:r>
            <a:endParaRPr lang="en-US" sz="900" dirty="0"/>
          </a:p>
        </p:txBody>
      </p:sp>
      <p:sp>
        <p:nvSpPr>
          <p:cNvPr id="38" name="Shape 36"/>
          <p:cNvSpPr/>
          <p:nvPr/>
        </p:nvSpPr>
        <p:spPr>
          <a:xfrm>
            <a:off x="4849368" y="3054096"/>
            <a:ext cx="3910584" cy="237744"/>
          </a:xfrm>
          <a:prstGeom prst="roundRect">
            <a:avLst>
              <a:gd name="adj" fmla="val 7692"/>
            </a:avLst>
          </a:prstGeom>
          <a:solidFill>
            <a:srgbClr val="6F23D0"/>
          </a:solidFill>
          <a:ln/>
        </p:spPr>
      </p:sp>
      <p:sp>
        <p:nvSpPr>
          <p:cNvPr id="39" name="Text 37"/>
          <p:cNvSpPr/>
          <p:nvPr/>
        </p:nvSpPr>
        <p:spPr>
          <a:xfrm>
            <a:off x="4885944" y="3054096"/>
            <a:ext cx="3855720" cy="237744"/>
          </a:xfrm>
          <a:prstGeom prst="rect">
            <a:avLst/>
          </a:prstGeom>
          <a:noFill/>
          <a:ln/>
        </p:spPr>
        <p:txBody>
          <a:bodyPr wrap="square" lIns="0" tIns="0" rIns="0" bIns="0" rtlCol="0" anchor="ctr"/>
          <a:lstStyle/>
          <a:p>
            <a:pPr algn="l" indent="0" marL="0">
              <a:buNone/>
            </a:pPr>
            <a:r>
              <a:rPr lang="en-US" sz="900" dirty="0">
                <a:solidFill>
                  <a:srgbClr val="FFFFFF"/>
                </a:solidFill>
                <a:latin typeface="Noto Sans JP" pitchFamily="34" charset="0"/>
                <a:ea typeface="Noto Sans JP" pitchFamily="34" charset="-122"/>
                <a:cs typeface="Noto Sans JP" pitchFamily="34" charset="-120"/>
              </a:rPr>
              <a:t>継続支援・定着</a:t>
            </a:r>
            <a:endParaRPr lang="en-US" sz="900" dirty="0"/>
          </a:p>
        </p:txBody>
      </p:sp>
      <p:sp>
        <p:nvSpPr>
          <p:cNvPr id="40" name="Shape 38"/>
          <p:cNvSpPr/>
          <p:nvPr/>
        </p:nvSpPr>
        <p:spPr>
          <a:xfrm>
            <a:off x="4849368" y="3319272"/>
            <a:ext cx="2218944" cy="237744"/>
          </a:xfrm>
          <a:prstGeom prst="roundRect">
            <a:avLst>
              <a:gd name="adj" fmla="val 7692"/>
            </a:avLst>
          </a:prstGeom>
          <a:solidFill>
            <a:srgbClr val="6F23D0"/>
          </a:solidFill>
          <a:ln/>
        </p:spPr>
      </p:sp>
      <p:sp>
        <p:nvSpPr>
          <p:cNvPr id="41" name="Text 39"/>
          <p:cNvSpPr/>
          <p:nvPr/>
        </p:nvSpPr>
        <p:spPr>
          <a:xfrm>
            <a:off x="4885944" y="3319272"/>
            <a:ext cx="2164080" cy="237744"/>
          </a:xfrm>
          <a:prstGeom prst="rect">
            <a:avLst/>
          </a:prstGeom>
          <a:noFill/>
          <a:ln/>
        </p:spPr>
        <p:txBody>
          <a:bodyPr wrap="square" lIns="0" tIns="0" rIns="0" bIns="0" rtlCol="0" anchor="ctr"/>
          <a:lstStyle/>
          <a:p>
            <a:pPr algn="l" indent="0" marL="0">
              <a:buNone/>
            </a:pPr>
            <a:r>
              <a:rPr lang="en-US" sz="900" dirty="0">
                <a:solidFill>
                  <a:srgbClr val="FFFFFF"/>
                </a:solidFill>
                <a:latin typeface="Noto Sans JP" pitchFamily="34" charset="0"/>
                <a:ea typeface="Noto Sans JP" pitchFamily="34" charset="-122"/>
                <a:cs typeface="Noto Sans JP" pitchFamily="34" charset="-120"/>
              </a:rPr>
              <a:t>Ready基準の整備</a:t>
            </a:r>
            <a:endParaRPr lang="en-US" sz="900" dirty="0"/>
          </a:p>
        </p:txBody>
      </p:sp>
      <p:sp>
        <p:nvSpPr>
          <p:cNvPr id="42" name="Shape 40"/>
          <p:cNvSpPr/>
          <p:nvPr/>
        </p:nvSpPr>
        <p:spPr>
          <a:xfrm>
            <a:off x="365760" y="3666744"/>
            <a:ext cx="1609344" cy="612648"/>
          </a:xfrm>
          <a:prstGeom prst="roundRect">
            <a:avLst>
              <a:gd name="adj" fmla="val 2985"/>
            </a:avLst>
          </a:prstGeom>
          <a:solidFill>
            <a:srgbClr val="1D8B56"/>
          </a:solidFill>
          <a:ln/>
        </p:spPr>
      </p:sp>
      <p:sp>
        <p:nvSpPr>
          <p:cNvPr id="43" name="Text 41"/>
          <p:cNvSpPr/>
          <p:nvPr/>
        </p:nvSpPr>
        <p:spPr>
          <a:xfrm>
            <a:off x="365760" y="3666744"/>
            <a:ext cx="1609344" cy="612648"/>
          </a:xfrm>
          <a:prstGeom prst="rect">
            <a:avLst/>
          </a:prstGeom>
          <a:noFill/>
          <a:ln/>
        </p:spPr>
        <p:txBody>
          <a:bodyPr wrap="square" lIns="0" tIns="0" rIns="0" bIns="0" rtlCol="0" anchor="ctr"/>
          <a:lstStyle/>
          <a:p>
            <a:pPr algn="ctr" indent="0" marL="0">
              <a:buNone/>
            </a:pPr>
            <a:r>
              <a:rPr lang="en-US" sz="1100" b="1" dirty="0">
                <a:solidFill>
                  <a:srgbClr val="FFFFFF"/>
                </a:solidFill>
                <a:latin typeface="Noto Sans JP" pitchFamily="34" charset="0"/>
                <a:ea typeface="Noto Sans JP" pitchFamily="34" charset="-122"/>
                <a:cs typeface="Noto Sans JP" pitchFamily="34" charset="-120"/>
              </a:rPr>
              <a:t>フロー効率</a:t>
            </a:r>
            <a:endParaRPr lang="en-US" sz="1100" dirty="0"/>
          </a:p>
        </p:txBody>
      </p:sp>
      <p:sp>
        <p:nvSpPr>
          <p:cNvPr id="44" name="Shape 42"/>
          <p:cNvSpPr/>
          <p:nvPr/>
        </p:nvSpPr>
        <p:spPr>
          <a:xfrm>
            <a:off x="2011680" y="3666744"/>
            <a:ext cx="6766560" cy="612648"/>
          </a:xfrm>
          <a:prstGeom prst="rect">
            <a:avLst/>
          </a:prstGeom>
          <a:solidFill>
            <a:srgbClr val="F2F2F2"/>
          </a:solidFill>
          <a:ln/>
        </p:spPr>
      </p:sp>
      <p:sp>
        <p:nvSpPr>
          <p:cNvPr id="45" name="Shape 43"/>
          <p:cNvSpPr/>
          <p:nvPr/>
        </p:nvSpPr>
        <p:spPr>
          <a:xfrm>
            <a:off x="4267200" y="3666744"/>
            <a:ext cx="4572" cy="612648"/>
          </a:xfrm>
          <a:prstGeom prst="rect">
            <a:avLst/>
          </a:prstGeom>
          <a:solidFill>
            <a:srgbClr val="CCCCCC"/>
          </a:solidFill>
          <a:ln/>
        </p:spPr>
      </p:sp>
      <p:sp>
        <p:nvSpPr>
          <p:cNvPr id="46" name="Shape 44"/>
          <p:cNvSpPr/>
          <p:nvPr/>
        </p:nvSpPr>
        <p:spPr>
          <a:xfrm>
            <a:off x="6522720" y="3666744"/>
            <a:ext cx="4572" cy="612648"/>
          </a:xfrm>
          <a:prstGeom prst="rect">
            <a:avLst/>
          </a:prstGeom>
          <a:solidFill>
            <a:srgbClr val="CCCCCC"/>
          </a:solidFill>
          <a:ln/>
        </p:spPr>
      </p:sp>
      <p:sp>
        <p:nvSpPr>
          <p:cNvPr id="47" name="Shape 45"/>
          <p:cNvSpPr/>
          <p:nvPr/>
        </p:nvSpPr>
        <p:spPr>
          <a:xfrm>
            <a:off x="2593848" y="3721608"/>
            <a:ext cx="2218944" cy="237744"/>
          </a:xfrm>
          <a:prstGeom prst="roundRect">
            <a:avLst>
              <a:gd name="adj" fmla="val 7692"/>
            </a:avLst>
          </a:prstGeom>
          <a:solidFill>
            <a:srgbClr val="1D8B56"/>
          </a:solidFill>
          <a:ln/>
        </p:spPr>
      </p:sp>
      <p:sp>
        <p:nvSpPr>
          <p:cNvPr id="48" name="Text 46"/>
          <p:cNvSpPr/>
          <p:nvPr/>
        </p:nvSpPr>
        <p:spPr>
          <a:xfrm>
            <a:off x="2630424" y="3721608"/>
            <a:ext cx="2164080" cy="237744"/>
          </a:xfrm>
          <a:prstGeom prst="rect">
            <a:avLst/>
          </a:prstGeom>
          <a:noFill/>
          <a:ln/>
        </p:spPr>
        <p:txBody>
          <a:bodyPr wrap="square" lIns="0" tIns="0" rIns="0" bIns="0" rtlCol="0" anchor="ctr"/>
          <a:lstStyle/>
          <a:p>
            <a:pPr algn="l" indent="0" marL="0">
              <a:buNone/>
            </a:pPr>
            <a:r>
              <a:rPr lang="en-US" sz="900" dirty="0">
                <a:solidFill>
                  <a:srgbClr val="FFFFFF"/>
                </a:solidFill>
                <a:latin typeface="Noto Sans JP" pitchFamily="34" charset="0"/>
                <a:ea typeface="Noto Sans JP" pitchFamily="34" charset="-122"/>
                <a:cs typeface="Noto Sans JP" pitchFamily="34" charset="-120"/>
              </a:rPr>
              <a:t>不具合基準整備</a:t>
            </a:r>
            <a:endParaRPr lang="en-US" sz="900" dirty="0"/>
          </a:p>
        </p:txBody>
      </p:sp>
      <p:sp>
        <p:nvSpPr>
          <p:cNvPr id="49" name="Shape 47"/>
          <p:cNvSpPr/>
          <p:nvPr/>
        </p:nvSpPr>
        <p:spPr>
          <a:xfrm>
            <a:off x="4849368" y="3986784"/>
            <a:ext cx="3910584" cy="237744"/>
          </a:xfrm>
          <a:prstGeom prst="roundRect">
            <a:avLst>
              <a:gd name="adj" fmla="val 7692"/>
            </a:avLst>
          </a:prstGeom>
          <a:solidFill>
            <a:srgbClr val="1D8B56"/>
          </a:solidFill>
          <a:ln/>
        </p:spPr>
      </p:sp>
      <p:sp>
        <p:nvSpPr>
          <p:cNvPr id="50" name="Text 48"/>
          <p:cNvSpPr/>
          <p:nvPr/>
        </p:nvSpPr>
        <p:spPr>
          <a:xfrm>
            <a:off x="4885944" y="3986784"/>
            <a:ext cx="3855720" cy="237744"/>
          </a:xfrm>
          <a:prstGeom prst="rect">
            <a:avLst/>
          </a:prstGeom>
          <a:noFill/>
          <a:ln/>
        </p:spPr>
        <p:txBody>
          <a:bodyPr wrap="square" lIns="0" tIns="0" rIns="0" bIns="0" rtlCol="0" anchor="ctr"/>
          <a:lstStyle/>
          <a:p>
            <a:pPr algn="l" indent="0" marL="0">
              <a:buNone/>
            </a:pPr>
            <a:r>
              <a:rPr lang="en-US" sz="900" dirty="0">
                <a:solidFill>
                  <a:srgbClr val="FFFFFF"/>
                </a:solidFill>
                <a:latin typeface="Noto Sans JP" pitchFamily="34" charset="0"/>
                <a:ea typeface="Noto Sans JP" pitchFamily="34" charset="-122"/>
                <a:cs typeface="Noto Sans JP" pitchFamily="34" charset="-120"/>
              </a:rPr>
              <a:t>Web・ネイティブアプリチーム統合</a:t>
            </a:r>
            <a:endParaRPr lang="en-US" sz="900" dirty="0"/>
          </a:p>
        </p:txBody>
      </p:sp>
      <p:sp>
        <p:nvSpPr>
          <p:cNvPr id="51" name="Shape 49"/>
          <p:cNvSpPr/>
          <p:nvPr/>
        </p:nvSpPr>
        <p:spPr>
          <a:xfrm>
            <a:off x="365760" y="4334256"/>
            <a:ext cx="1609344" cy="612648"/>
          </a:xfrm>
          <a:prstGeom prst="roundRect">
            <a:avLst>
              <a:gd name="adj" fmla="val 2985"/>
            </a:avLst>
          </a:prstGeom>
          <a:solidFill>
            <a:srgbClr val="1D8B56"/>
          </a:solidFill>
          <a:ln/>
        </p:spPr>
      </p:sp>
      <p:sp>
        <p:nvSpPr>
          <p:cNvPr id="52" name="Text 50"/>
          <p:cNvSpPr/>
          <p:nvPr/>
        </p:nvSpPr>
        <p:spPr>
          <a:xfrm>
            <a:off x="365760" y="4334256"/>
            <a:ext cx="1609344" cy="612648"/>
          </a:xfrm>
          <a:prstGeom prst="rect">
            <a:avLst/>
          </a:prstGeom>
          <a:noFill/>
          <a:ln/>
        </p:spPr>
        <p:txBody>
          <a:bodyPr wrap="square" lIns="0" tIns="0" rIns="0" bIns="0" rtlCol="0" anchor="ctr"/>
          <a:lstStyle/>
          <a:p>
            <a:pPr algn="ctr" indent="0" marL="0">
              <a:buNone/>
            </a:pPr>
            <a:r>
              <a:rPr lang="en-US" sz="1100" b="1" dirty="0">
                <a:solidFill>
                  <a:srgbClr val="FFFFFF"/>
                </a:solidFill>
                <a:latin typeface="Noto Sans JP" pitchFamily="34" charset="0"/>
                <a:ea typeface="Noto Sans JP" pitchFamily="34" charset="-122"/>
                <a:cs typeface="Noto Sans JP" pitchFamily="34" charset="-120"/>
              </a:rPr>
              <a:t>学習ループ</a:t>
            </a:r>
            <a:endParaRPr lang="en-US" sz="1100" dirty="0"/>
          </a:p>
        </p:txBody>
      </p:sp>
      <p:sp>
        <p:nvSpPr>
          <p:cNvPr id="53" name="Shape 51"/>
          <p:cNvSpPr/>
          <p:nvPr/>
        </p:nvSpPr>
        <p:spPr>
          <a:xfrm>
            <a:off x="2011680" y="4334256"/>
            <a:ext cx="6766560" cy="612648"/>
          </a:xfrm>
          <a:prstGeom prst="rect">
            <a:avLst/>
          </a:prstGeom>
          <a:solidFill>
            <a:srgbClr val="F2F2F2"/>
          </a:solidFill>
          <a:ln/>
        </p:spPr>
      </p:sp>
      <p:sp>
        <p:nvSpPr>
          <p:cNvPr id="54" name="Shape 52"/>
          <p:cNvSpPr/>
          <p:nvPr/>
        </p:nvSpPr>
        <p:spPr>
          <a:xfrm>
            <a:off x="4267200" y="4334256"/>
            <a:ext cx="4572" cy="612648"/>
          </a:xfrm>
          <a:prstGeom prst="rect">
            <a:avLst/>
          </a:prstGeom>
          <a:solidFill>
            <a:srgbClr val="CCCCCC"/>
          </a:solidFill>
          <a:ln/>
        </p:spPr>
      </p:sp>
      <p:sp>
        <p:nvSpPr>
          <p:cNvPr id="55" name="Shape 53"/>
          <p:cNvSpPr/>
          <p:nvPr/>
        </p:nvSpPr>
        <p:spPr>
          <a:xfrm>
            <a:off x="6522720" y="4334256"/>
            <a:ext cx="4572" cy="612648"/>
          </a:xfrm>
          <a:prstGeom prst="rect">
            <a:avLst/>
          </a:prstGeom>
          <a:solidFill>
            <a:srgbClr val="CCCCCC"/>
          </a:solidFill>
          <a:ln/>
        </p:spPr>
      </p:sp>
      <p:sp>
        <p:nvSpPr>
          <p:cNvPr id="56" name="Shape 54"/>
          <p:cNvSpPr/>
          <p:nvPr/>
        </p:nvSpPr>
        <p:spPr>
          <a:xfrm>
            <a:off x="3157728" y="4389120"/>
            <a:ext cx="2782824" cy="237744"/>
          </a:xfrm>
          <a:prstGeom prst="roundRect">
            <a:avLst>
              <a:gd name="adj" fmla="val 7692"/>
            </a:avLst>
          </a:prstGeom>
          <a:solidFill>
            <a:srgbClr val="1D8B56"/>
          </a:solidFill>
          <a:ln/>
        </p:spPr>
      </p:sp>
      <p:sp>
        <p:nvSpPr>
          <p:cNvPr id="57" name="Text 55"/>
          <p:cNvSpPr/>
          <p:nvPr/>
        </p:nvSpPr>
        <p:spPr>
          <a:xfrm>
            <a:off x="3194304" y="4389120"/>
            <a:ext cx="2727960" cy="237744"/>
          </a:xfrm>
          <a:prstGeom prst="rect">
            <a:avLst/>
          </a:prstGeom>
          <a:noFill/>
          <a:ln/>
        </p:spPr>
        <p:txBody>
          <a:bodyPr wrap="square" lIns="0" tIns="0" rIns="0" bIns="0" rtlCol="0" anchor="ctr"/>
          <a:lstStyle/>
          <a:p>
            <a:pPr algn="l" indent="0" marL="0">
              <a:buNone/>
            </a:pPr>
            <a:r>
              <a:rPr lang="en-US" sz="900" dirty="0">
                <a:solidFill>
                  <a:srgbClr val="FFFFFF"/>
                </a:solidFill>
                <a:latin typeface="Noto Sans JP" pitchFamily="34" charset="0"/>
                <a:ea typeface="Noto Sans JP" pitchFamily="34" charset="-122"/>
                <a:cs typeface="Noto Sans JP" pitchFamily="34" charset="-120"/>
              </a:rPr>
              <a:t>ログ運用設計（クリックイベント）</a:t>
            </a:r>
            <a:endParaRPr lang="en-US" sz="900" dirty="0"/>
          </a:p>
        </p:txBody>
      </p:sp>
      <p:sp>
        <p:nvSpPr>
          <p:cNvPr id="58" name="Shape 56"/>
          <p:cNvSpPr/>
          <p:nvPr/>
        </p:nvSpPr>
        <p:spPr>
          <a:xfrm>
            <a:off x="5977128" y="4654296"/>
            <a:ext cx="2782824" cy="237744"/>
          </a:xfrm>
          <a:prstGeom prst="roundRect">
            <a:avLst>
              <a:gd name="adj" fmla="val 7692"/>
            </a:avLst>
          </a:prstGeom>
          <a:solidFill>
            <a:srgbClr val="1D8B56"/>
          </a:solidFill>
          <a:ln/>
        </p:spPr>
      </p:sp>
      <p:sp>
        <p:nvSpPr>
          <p:cNvPr id="59" name="Text 57"/>
          <p:cNvSpPr/>
          <p:nvPr/>
        </p:nvSpPr>
        <p:spPr>
          <a:xfrm>
            <a:off x="6013704" y="4654296"/>
            <a:ext cx="2727960" cy="237744"/>
          </a:xfrm>
          <a:prstGeom prst="rect">
            <a:avLst/>
          </a:prstGeom>
          <a:noFill/>
          <a:ln/>
        </p:spPr>
        <p:txBody>
          <a:bodyPr wrap="square" lIns="0" tIns="0" rIns="0" bIns="0" rtlCol="0" anchor="ctr"/>
          <a:lstStyle/>
          <a:p>
            <a:pPr algn="l" indent="0" marL="0">
              <a:buNone/>
            </a:pPr>
            <a:r>
              <a:rPr lang="en-US" sz="900" dirty="0">
                <a:solidFill>
                  <a:srgbClr val="FFFFFF"/>
                </a:solidFill>
                <a:latin typeface="Noto Sans JP" pitchFamily="34" charset="0"/>
                <a:ea typeface="Noto Sans JP" pitchFamily="34" charset="-122"/>
                <a:cs typeface="Noto Sans JP" pitchFamily="34" charset="-120"/>
              </a:rPr>
              <a:t>検証ログ運用開始</a:t>
            </a:r>
            <a:endParaRPr lang="en-US" sz="900" dirty="0"/>
          </a:p>
        </p:txBody>
      </p:sp>
      <p:sp>
        <p:nvSpPr>
          <p:cNvPr id="60" name="Shape 58"/>
          <p:cNvSpPr/>
          <p:nvPr/>
        </p:nvSpPr>
        <p:spPr>
          <a:xfrm>
            <a:off x="2913888" y="1481328"/>
            <a:ext cx="10973" cy="3520440"/>
          </a:xfrm>
          <a:prstGeom prst="rect">
            <a:avLst/>
          </a:prstGeom>
          <a:solidFill>
            <a:srgbClr val="E25100"/>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73152"/>
            <a:ext cx="8412480" cy="201168"/>
          </a:xfrm>
          <a:prstGeom prst="rect">
            <a:avLst/>
          </a:prstGeom>
          <a:noFill/>
          <a:ln/>
        </p:spPr>
        <p:txBody>
          <a:bodyPr wrap="square" lIns="0" tIns="0" rIns="0" bIns="0" rtlCol="0" anchor="ctr"/>
          <a:lstStyle/>
          <a:p>
            <a:pPr algn="l" indent="0" marL="0">
              <a:buNone/>
            </a:pPr>
            <a:r>
              <a:rPr lang="en-US" sz="900" dirty="0">
                <a:solidFill>
                  <a:srgbClr val="666666"/>
                </a:solidFill>
                <a:latin typeface="Noto Sans JP" pitchFamily="34" charset="0"/>
                <a:ea typeface="Noto Sans JP" pitchFamily="34" charset="-122"/>
                <a:cs typeface="Noto Sans JP" pitchFamily="34" charset="-120"/>
              </a:rPr>
              <a:t>挑戦KR②  &gt;  Q1進捗</a:t>
            </a:r>
            <a:endParaRPr lang="en-US" sz="900" dirty="0"/>
          </a:p>
        </p:txBody>
      </p:sp>
      <p:sp>
        <p:nvSpPr>
          <p:cNvPr id="3" name="Shape 1"/>
          <p:cNvSpPr/>
          <p:nvPr/>
        </p:nvSpPr>
        <p:spPr>
          <a:xfrm>
            <a:off x="0" y="310896"/>
            <a:ext cx="9144000" cy="9144"/>
          </a:xfrm>
          <a:prstGeom prst="rect">
            <a:avLst/>
          </a:prstGeom>
          <a:solidFill>
            <a:srgbClr val="CCCCCC"/>
          </a:solidFill>
          <a:ln w="12700">
            <a:solidFill>
              <a:srgbClr val="CCCCCC"/>
            </a:solidFill>
            <a:prstDash val="solid"/>
          </a:ln>
        </p:spPr>
      </p:sp>
      <p:sp>
        <p:nvSpPr>
          <p:cNvPr id="4" name="Text 2"/>
          <p:cNvSpPr/>
          <p:nvPr/>
        </p:nvSpPr>
        <p:spPr>
          <a:xfrm>
            <a:off x="365760" y="384048"/>
            <a:ext cx="8412480" cy="594360"/>
          </a:xfrm>
          <a:prstGeom prst="rect">
            <a:avLst/>
          </a:prstGeom>
          <a:noFill/>
          <a:ln/>
        </p:spPr>
        <p:txBody>
          <a:bodyPr wrap="square" lIns="0" tIns="0" rIns="0" bIns="0" rtlCol="0" anchor="ctr"/>
          <a:lstStyle/>
          <a:p>
            <a:pPr algn="l" indent="0" marL="0">
              <a:buNone/>
            </a:pPr>
            <a:r>
              <a:rPr lang="en-US" sz="2200" b="1" dirty="0">
                <a:solidFill>
                  <a:srgbClr val="1A1A1A"/>
                </a:solidFill>
                <a:latin typeface="Noto Sans JP" pitchFamily="34" charset="0"/>
                <a:ea typeface="Noto Sans JP" pitchFamily="34" charset="-122"/>
                <a:cs typeface="Noto Sans JP" pitchFamily="34" charset="-120"/>
              </a:rPr>
              <a:t>4つの取り組みすべてで動き始めている</a:t>
            </a:r>
            <a:endParaRPr lang="en-US" sz="2200" dirty="0"/>
          </a:p>
        </p:txBody>
      </p:sp>
      <p:sp>
        <p:nvSpPr>
          <p:cNvPr id="5" name="Shape 3"/>
          <p:cNvSpPr/>
          <p:nvPr/>
        </p:nvSpPr>
        <p:spPr>
          <a:xfrm>
            <a:off x="0" y="1051560"/>
            <a:ext cx="9144000" cy="9144"/>
          </a:xfrm>
          <a:prstGeom prst="rect">
            <a:avLst/>
          </a:prstGeom>
          <a:solidFill>
            <a:srgbClr val="CCCCCC"/>
          </a:solidFill>
          <a:ln w="12700">
            <a:solidFill>
              <a:srgbClr val="CCCCCC"/>
            </a:solidFill>
            <a:prstDash val="solid"/>
          </a:ln>
        </p:spPr>
      </p:sp>
      <p:sp>
        <p:nvSpPr>
          <p:cNvPr id="6" name="Shape 4"/>
          <p:cNvSpPr/>
          <p:nvPr/>
        </p:nvSpPr>
        <p:spPr>
          <a:xfrm>
            <a:off x="0" y="5084064"/>
            <a:ext cx="7315200" cy="64008"/>
          </a:xfrm>
          <a:prstGeom prst="rect">
            <a:avLst/>
          </a:prstGeom>
          <a:solidFill>
            <a:srgbClr val="00118F"/>
          </a:solidFill>
          <a:ln w="12700">
            <a:solidFill>
              <a:srgbClr val="00118F"/>
            </a:solidFill>
            <a:prstDash val="solid"/>
          </a:ln>
        </p:spPr>
      </p:sp>
      <p:sp>
        <p:nvSpPr>
          <p:cNvPr id="7" name="Shape 5"/>
          <p:cNvSpPr/>
          <p:nvPr/>
        </p:nvSpPr>
        <p:spPr>
          <a:xfrm>
            <a:off x="7315200" y="5084064"/>
            <a:ext cx="1828800" cy="64008"/>
          </a:xfrm>
          <a:prstGeom prst="rect">
            <a:avLst/>
          </a:prstGeom>
          <a:solidFill>
            <a:srgbClr val="FB5B01"/>
          </a:solidFill>
          <a:ln w="12700">
            <a:solidFill>
              <a:srgbClr val="FB5B01"/>
            </a:solidFill>
            <a:prstDash val="solid"/>
          </a:ln>
        </p:spPr>
      </p:sp>
      <p:sp>
        <p:nvSpPr>
          <p:cNvPr id="8" name="Shape 6"/>
          <p:cNvSpPr/>
          <p:nvPr/>
        </p:nvSpPr>
        <p:spPr>
          <a:xfrm>
            <a:off x="365760" y="1188720"/>
            <a:ext cx="8412480" cy="777240"/>
          </a:xfrm>
          <a:prstGeom prst="roundRect">
            <a:avLst>
              <a:gd name="adj" fmla="val 3529"/>
            </a:avLst>
          </a:prstGeom>
          <a:solidFill>
            <a:srgbClr val="F2F2F2"/>
          </a:solidFill>
          <a:ln/>
        </p:spPr>
      </p:sp>
      <p:sp>
        <p:nvSpPr>
          <p:cNvPr id="9" name="Shape 7"/>
          <p:cNvSpPr/>
          <p:nvPr/>
        </p:nvSpPr>
        <p:spPr>
          <a:xfrm>
            <a:off x="365760" y="1188720"/>
            <a:ext cx="54864" cy="777240"/>
          </a:xfrm>
          <a:prstGeom prst="rect">
            <a:avLst/>
          </a:prstGeom>
          <a:solidFill>
            <a:srgbClr val="264AF4"/>
          </a:solidFill>
          <a:ln/>
        </p:spPr>
      </p:sp>
      <p:sp>
        <p:nvSpPr>
          <p:cNvPr id="10" name="Text 8"/>
          <p:cNvSpPr/>
          <p:nvPr/>
        </p:nvSpPr>
        <p:spPr>
          <a:xfrm>
            <a:off x="548640" y="1243584"/>
            <a:ext cx="1828800" cy="274320"/>
          </a:xfrm>
          <a:prstGeom prst="rect">
            <a:avLst/>
          </a:prstGeom>
          <a:noFill/>
          <a:ln/>
        </p:spPr>
        <p:txBody>
          <a:bodyPr wrap="square" lIns="0" tIns="0" rIns="0" bIns="0" rtlCol="0" anchor="ctr"/>
          <a:lstStyle/>
          <a:p>
            <a:pPr algn="l" indent="0" marL="0">
              <a:buNone/>
            </a:pPr>
            <a:r>
              <a:rPr lang="en-US" sz="1400" b="1" dirty="0">
                <a:solidFill>
                  <a:srgbClr val="264AF4"/>
                </a:solidFill>
                <a:latin typeface="Noto Sans JP" pitchFamily="34" charset="0"/>
                <a:ea typeface="Noto Sans JP" pitchFamily="34" charset="-122"/>
                <a:cs typeface="Noto Sans JP" pitchFamily="34" charset="-120"/>
              </a:rPr>
              <a:t>① 計測基盤</a:t>
            </a:r>
            <a:endParaRPr lang="en-US" sz="1400" dirty="0"/>
          </a:p>
        </p:txBody>
      </p:sp>
      <p:sp>
        <p:nvSpPr>
          <p:cNvPr id="11" name="Text 9"/>
          <p:cNvSpPr/>
          <p:nvPr/>
        </p:nvSpPr>
        <p:spPr>
          <a:xfrm>
            <a:off x="548640" y="1517904"/>
            <a:ext cx="8046720" cy="393192"/>
          </a:xfrm>
          <a:prstGeom prst="rect">
            <a:avLst/>
          </a:prstGeom>
          <a:noFill/>
          <a:ln/>
        </p:spPr>
        <p:txBody>
          <a:bodyPr wrap="square" lIns="0" tIns="0" rIns="0" bIns="0" rtlCol="0" anchor="t"/>
          <a:lstStyle/>
          <a:p>
            <a:pPr algn="l" indent="0" marL="0">
              <a:lnSpc>
                <a:spcPct val="150000"/>
              </a:lnSpc>
              <a:buNone/>
            </a:pPr>
            <a:r>
              <a:rPr lang="en-US" sz="1200" dirty="0">
                <a:solidFill>
                  <a:srgbClr val="1A1A1A"/>
                </a:solidFill>
                <a:latin typeface="Noto Sans JP" pitchFamily="34" charset="0"/>
                <a:ea typeface="Noto Sans JP" pitchFamily="34" charset="-122"/>
                <a:cs typeface="Noto Sans JP" pitchFamily="34" charset="-120"/>
              </a:rPr>
              <a:t>要求が生まれてからリリースするまで、工程別のリードタイムを可視化する仕組みをNotion・Githubにて実装中</a:t>
            </a:r>
            <a:endParaRPr lang="en-US" sz="1200" dirty="0"/>
          </a:p>
        </p:txBody>
      </p:sp>
      <p:sp>
        <p:nvSpPr>
          <p:cNvPr id="12" name="Shape 10"/>
          <p:cNvSpPr/>
          <p:nvPr/>
        </p:nvSpPr>
        <p:spPr>
          <a:xfrm>
            <a:off x="365760" y="2039112"/>
            <a:ext cx="8412480" cy="777240"/>
          </a:xfrm>
          <a:prstGeom prst="roundRect">
            <a:avLst>
              <a:gd name="adj" fmla="val 3529"/>
            </a:avLst>
          </a:prstGeom>
          <a:solidFill>
            <a:srgbClr val="F2F2F2"/>
          </a:solidFill>
          <a:ln/>
        </p:spPr>
      </p:sp>
      <p:sp>
        <p:nvSpPr>
          <p:cNvPr id="13" name="Shape 11"/>
          <p:cNvSpPr/>
          <p:nvPr/>
        </p:nvSpPr>
        <p:spPr>
          <a:xfrm>
            <a:off x="365760" y="2039112"/>
            <a:ext cx="54864" cy="777240"/>
          </a:xfrm>
          <a:prstGeom prst="rect">
            <a:avLst/>
          </a:prstGeom>
          <a:solidFill>
            <a:srgbClr val="6F23D0"/>
          </a:solidFill>
          <a:ln/>
        </p:spPr>
      </p:sp>
      <p:sp>
        <p:nvSpPr>
          <p:cNvPr id="14" name="Text 12"/>
          <p:cNvSpPr/>
          <p:nvPr/>
        </p:nvSpPr>
        <p:spPr>
          <a:xfrm>
            <a:off x="548640" y="2093976"/>
            <a:ext cx="1828800" cy="274320"/>
          </a:xfrm>
          <a:prstGeom prst="rect">
            <a:avLst/>
          </a:prstGeom>
          <a:noFill/>
          <a:ln/>
        </p:spPr>
        <p:txBody>
          <a:bodyPr wrap="square" lIns="0" tIns="0" rIns="0" bIns="0" rtlCol="0" anchor="ctr"/>
          <a:lstStyle/>
          <a:p>
            <a:pPr algn="l" indent="0" marL="0">
              <a:buNone/>
            </a:pPr>
            <a:r>
              <a:rPr lang="en-US" sz="1400" b="1" dirty="0">
                <a:solidFill>
                  <a:srgbClr val="6F23D0"/>
                </a:solidFill>
                <a:latin typeface="Noto Sans JP" pitchFamily="34" charset="0"/>
                <a:ea typeface="Noto Sans JP" pitchFamily="34" charset="-122"/>
                <a:cs typeface="Noto Sans JP" pitchFamily="34" charset="-120"/>
              </a:rPr>
              <a:t>② 入口品質</a:t>
            </a:r>
            <a:endParaRPr lang="en-US" sz="1400" dirty="0"/>
          </a:p>
        </p:txBody>
      </p:sp>
      <p:sp>
        <p:nvSpPr>
          <p:cNvPr id="15" name="Text 13"/>
          <p:cNvSpPr/>
          <p:nvPr/>
        </p:nvSpPr>
        <p:spPr>
          <a:xfrm>
            <a:off x="548640" y="2368296"/>
            <a:ext cx="8046720" cy="393192"/>
          </a:xfrm>
          <a:prstGeom prst="rect">
            <a:avLst/>
          </a:prstGeom>
          <a:noFill/>
          <a:ln/>
        </p:spPr>
        <p:txBody>
          <a:bodyPr wrap="square" lIns="0" tIns="0" rIns="0" bIns="0" rtlCol="0" anchor="t"/>
          <a:lstStyle/>
          <a:p>
            <a:pPr algn="l" indent="0" marL="0">
              <a:lnSpc>
                <a:spcPct val="150000"/>
              </a:lnSpc>
              <a:buNone/>
            </a:pPr>
            <a:r>
              <a:rPr lang="en-US" sz="1200" dirty="0">
                <a:solidFill>
                  <a:srgbClr val="1A1A1A"/>
                </a:solidFill>
                <a:latin typeface="Noto Sans JP" pitchFamily="34" charset="0"/>
                <a:ea typeface="Noto Sans JP" pitchFamily="34" charset="-122"/>
                <a:cs typeface="Noto Sans JP" pitchFamily="34" charset="-120"/>
              </a:rPr>
              <a:t>外部講師を交え、PdM・ビジネス推進メンバーも含めたレクチャーを実施済み。継続支援予定。「小さく作り検証する」開発プロセスのグループ共通認識を持ち、プロセス接続時の認識齟齬を減らす</a:t>
            </a:r>
            <a:endParaRPr lang="en-US" sz="1200" dirty="0"/>
          </a:p>
        </p:txBody>
      </p:sp>
      <p:sp>
        <p:nvSpPr>
          <p:cNvPr id="16" name="Shape 14"/>
          <p:cNvSpPr/>
          <p:nvPr/>
        </p:nvSpPr>
        <p:spPr>
          <a:xfrm>
            <a:off x="365760" y="2889504"/>
            <a:ext cx="8412480" cy="777240"/>
          </a:xfrm>
          <a:prstGeom prst="roundRect">
            <a:avLst>
              <a:gd name="adj" fmla="val 3529"/>
            </a:avLst>
          </a:prstGeom>
          <a:solidFill>
            <a:srgbClr val="F2F2F2"/>
          </a:solidFill>
          <a:ln/>
        </p:spPr>
      </p:sp>
      <p:sp>
        <p:nvSpPr>
          <p:cNvPr id="17" name="Shape 15"/>
          <p:cNvSpPr/>
          <p:nvPr/>
        </p:nvSpPr>
        <p:spPr>
          <a:xfrm>
            <a:off x="365760" y="2889504"/>
            <a:ext cx="54864" cy="777240"/>
          </a:xfrm>
          <a:prstGeom prst="rect">
            <a:avLst/>
          </a:prstGeom>
          <a:solidFill>
            <a:srgbClr val="1D8B56"/>
          </a:solidFill>
          <a:ln/>
        </p:spPr>
      </p:sp>
      <p:sp>
        <p:nvSpPr>
          <p:cNvPr id="18" name="Text 16"/>
          <p:cNvSpPr/>
          <p:nvPr/>
        </p:nvSpPr>
        <p:spPr>
          <a:xfrm>
            <a:off x="548640" y="2944368"/>
            <a:ext cx="1828800" cy="274320"/>
          </a:xfrm>
          <a:prstGeom prst="rect">
            <a:avLst/>
          </a:prstGeom>
          <a:noFill/>
          <a:ln/>
        </p:spPr>
        <p:txBody>
          <a:bodyPr wrap="square" lIns="0" tIns="0" rIns="0" bIns="0" rtlCol="0" anchor="ctr"/>
          <a:lstStyle/>
          <a:p>
            <a:pPr algn="l" indent="0" marL="0">
              <a:buNone/>
            </a:pPr>
            <a:r>
              <a:rPr lang="en-US" sz="1400" b="1" dirty="0">
                <a:solidFill>
                  <a:srgbClr val="1D8B56"/>
                </a:solidFill>
                <a:latin typeface="Noto Sans JP" pitchFamily="34" charset="0"/>
                <a:ea typeface="Noto Sans JP" pitchFamily="34" charset="-122"/>
                <a:cs typeface="Noto Sans JP" pitchFamily="34" charset="-120"/>
              </a:rPr>
              <a:t>③ フロー効率</a:t>
            </a:r>
            <a:endParaRPr lang="en-US" sz="1400" dirty="0"/>
          </a:p>
        </p:txBody>
      </p:sp>
      <p:sp>
        <p:nvSpPr>
          <p:cNvPr id="19" name="Text 17"/>
          <p:cNvSpPr/>
          <p:nvPr/>
        </p:nvSpPr>
        <p:spPr>
          <a:xfrm>
            <a:off x="548640" y="3218688"/>
            <a:ext cx="8046720" cy="393192"/>
          </a:xfrm>
          <a:prstGeom prst="rect">
            <a:avLst/>
          </a:prstGeom>
          <a:noFill/>
          <a:ln/>
        </p:spPr>
        <p:txBody>
          <a:bodyPr wrap="square" lIns="0" tIns="0" rIns="0" bIns="0" rtlCol="0" anchor="t"/>
          <a:lstStyle/>
          <a:p>
            <a:pPr algn="l" indent="0" marL="0">
              <a:lnSpc>
                <a:spcPct val="150000"/>
              </a:lnSpc>
              <a:buNone/>
            </a:pPr>
            <a:r>
              <a:rPr lang="en-US" sz="1200" dirty="0">
                <a:solidFill>
                  <a:srgbClr val="1A1A1A"/>
                </a:solidFill>
                <a:latin typeface="Noto Sans JP" pitchFamily="34" charset="0"/>
                <a:ea typeface="Noto Sans JP" pitchFamily="34" charset="-122"/>
                <a:cs typeface="Noto Sans JP" pitchFamily="34" charset="-120"/>
              </a:rPr>
              <a:t>技術領域別チーム（Web・ネイティブアプリ）から機能横断した「フィーチャーチーム」へシフト準備中。不具合・インシデント発生時の優先順位づけ基準も整備し、意思決定スピードを向上させる</a:t>
            </a:r>
            <a:endParaRPr lang="en-US" sz="1200" dirty="0"/>
          </a:p>
        </p:txBody>
      </p:sp>
      <p:sp>
        <p:nvSpPr>
          <p:cNvPr id="20" name="Shape 18"/>
          <p:cNvSpPr/>
          <p:nvPr/>
        </p:nvSpPr>
        <p:spPr>
          <a:xfrm>
            <a:off x="365760" y="3739896"/>
            <a:ext cx="8412480" cy="777240"/>
          </a:xfrm>
          <a:prstGeom prst="roundRect">
            <a:avLst>
              <a:gd name="adj" fmla="val 3529"/>
            </a:avLst>
          </a:prstGeom>
          <a:solidFill>
            <a:srgbClr val="F2F2F2"/>
          </a:solidFill>
          <a:ln/>
        </p:spPr>
      </p:sp>
      <p:sp>
        <p:nvSpPr>
          <p:cNvPr id="21" name="Shape 19"/>
          <p:cNvSpPr/>
          <p:nvPr/>
        </p:nvSpPr>
        <p:spPr>
          <a:xfrm>
            <a:off x="365760" y="3739896"/>
            <a:ext cx="54864" cy="777240"/>
          </a:xfrm>
          <a:prstGeom prst="rect">
            <a:avLst/>
          </a:prstGeom>
          <a:solidFill>
            <a:srgbClr val="1D8B56"/>
          </a:solidFill>
          <a:ln/>
        </p:spPr>
      </p:sp>
      <p:sp>
        <p:nvSpPr>
          <p:cNvPr id="22" name="Text 20"/>
          <p:cNvSpPr/>
          <p:nvPr/>
        </p:nvSpPr>
        <p:spPr>
          <a:xfrm>
            <a:off x="548640" y="3794760"/>
            <a:ext cx="1828800" cy="274320"/>
          </a:xfrm>
          <a:prstGeom prst="rect">
            <a:avLst/>
          </a:prstGeom>
          <a:noFill/>
          <a:ln/>
        </p:spPr>
        <p:txBody>
          <a:bodyPr wrap="square" lIns="0" tIns="0" rIns="0" bIns="0" rtlCol="0" anchor="ctr"/>
          <a:lstStyle/>
          <a:p>
            <a:pPr algn="l" indent="0" marL="0">
              <a:buNone/>
            </a:pPr>
            <a:r>
              <a:rPr lang="en-US" sz="1400" b="1" dirty="0">
                <a:solidFill>
                  <a:srgbClr val="1D8B56"/>
                </a:solidFill>
                <a:latin typeface="Noto Sans JP" pitchFamily="34" charset="0"/>
                <a:ea typeface="Noto Sans JP" pitchFamily="34" charset="-122"/>
                <a:cs typeface="Noto Sans JP" pitchFamily="34" charset="-120"/>
              </a:rPr>
              <a:t>④ 学習ループ</a:t>
            </a:r>
            <a:endParaRPr lang="en-US" sz="1400" dirty="0"/>
          </a:p>
        </p:txBody>
      </p:sp>
      <p:sp>
        <p:nvSpPr>
          <p:cNvPr id="23" name="Text 21"/>
          <p:cNvSpPr/>
          <p:nvPr/>
        </p:nvSpPr>
        <p:spPr>
          <a:xfrm>
            <a:off x="548640" y="4069080"/>
            <a:ext cx="8046720" cy="393192"/>
          </a:xfrm>
          <a:prstGeom prst="rect">
            <a:avLst/>
          </a:prstGeom>
          <a:noFill/>
          <a:ln/>
        </p:spPr>
        <p:txBody>
          <a:bodyPr wrap="square" lIns="0" tIns="0" rIns="0" bIns="0" rtlCol="0" anchor="t"/>
          <a:lstStyle/>
          <a:p>
            <a:pPr algn="l" indent="0" marL="0">
              <a:lnSpc>
                <a:spcPct val="150000"/>
              </a:lnSpc>
              <a:buNone/>
            </a:pPr>
            <a:r>
              <a:rPr lang="en-US" sz="1200" dirty="0">
                <a:solidFill>
                  <a:srgbClr val="1A1A1A"/>
                </a:solidFill>
                <a:latin typeface="Noto Sans JP" pitchFamily="34" charset="0"/>
                <a:ea typeface="Noto Sans JP" pitchFamily="34" charset="-122"/>
                <a:cs typeface="Noto Sans JP" pitchFamily="34" charset="-120"/>
              </a:rPr>
              <a:t>リリース後の結果を記録・計測する仕組みを整備中。リリース後、迅速に効果検証し、次のサイクルの判断に使えるようにする</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73152"/>
            <a:ext cx="8412480" cy="201168"/>
          </a:xfrm>
          <a:prstGeom prst="rect">
            <a:avLst/>
          </a:prstGeom>
          <a:noFill/>
          <a:ln/>
        </p:spPr>
        <p:txBody>
          <a:bodyPr wrap="square" lIns="0" tIns="0" rIns="0" bIns="0" rtlCol="0" anchor="ctr"/>
          <a:lstStyle/>
          <a:p>
            <a:pPr algn="l" indent="0" marL="0">
              <a:buNone/>
            </a:pPr>
            <a:r>
              <a:rPr lang="en-US" sz="900" dirty="0">
                <a:solidFill>
                  <a:srgbClr val="666666"/>
                </a:solidFill>
                <a:latin typeface="Noto Sans JP" pitchFamily="34" charset="0"/>
                <a:ea typeface="Noto Sans JP" pitchFamily="34" charset="-122"/>
                <a:cs typeface="Noto Sans JP" pitchFamily="34" charset="-120"/>
              </a:rPr>
              <a:t>DPG OKR FY26  &gt;  挑戦KR②  &gt;  初回報告</a:t>
            </a:r>
            <a:endParaRPr lang="en-US" sz="900" dirty="0"/>
          </a:p>
        </p:txBody>
      </p:sp>
      <p:sp>
        <p:nvSpPr>
          <p:cNvPr id="3" name="Shape 1"/>
          <p:cNvSpPr/>
          <p:nvPr/>
        </p:nvSpPr>
        <p:spPr>
          <a:xfrm>
            <a:off x="0" y="310896"/>
            <a:ext cx="9144000" cy="9144"/>
          </a:xfrm>
          <a:prstGeom prst="rect">
            <a:avLst/>
          </a:prstGeom>
          <a:solidFill>
            <a:srgbClr val="CCCCCC"/>
          </a:solidFill>
          <a:ln w="12700">
            <a:solidFill>
              <a:srgbClr val="CCCCCC"/>
            </a:solidFill>
            <a:prstDash val="solid"/>
          </a:ln>
        </p:spPr>
      </p:sp>
      <p:sp>
        <p:nvSpPr>
          <p:cNvPr id="4" name="Text 2"/>
          <p:cNvSpPr/>
          <p:nvPr/>
        </p:nvSpPr>
        <p:spPr>
          <a:xfrm>
            <a:off x="365760" y="384048"/>
            <a:ext cx="8412480" cy="594360"/>
          </a:xfrm>
          <a:prstGeom prst="rect">
            <a:avLst/>
          </a:prstGeom>
          <a:noFill/>
          <a:ln/>
        </p:spPr>
        <p:txBody>
          <a:bodyPr wrap="square" lIns="0" tIns="0" rIns="0" bIns="0" rtlCol="0" anchor="ctr"/>
          <a:lstStyle/>
          <a:p>
            <a:pPr algn="l" indent="0" marL="0">
              <a:buNone/>
            </a:pPr>
            <a:r>
              <a:rPr lang="en-US" sz="2200" b="1" dirty="0">
                <a:solidFill>
                  <a:srgbClr val="1A1A1A"/>
                </a:solidFill>
                <a:latin typeface="Noto Sans JP" pitchFamily="34" charset="0"/>
                <a:ea typeface="Noto Sans JP" pitchFamily="34" charset="-122"/>
                <a:cs typeface="Noto Sans JP" pitchFamily="34" charset="-120"/>
              </a:rPr>
              <a:t>6月末にベースライン数値と2Q目標を持って再報告する</a:t>
            </a:r>
            <a:endParaRPr lang="en-US" sz="2200" dirty="0"/>
          </a:p>
        </p:txBody>
      </p:sp>
      <p:sp>
        <p:nvSpPr>
          <p:cNvPr id="5" name="Shape 3"/>
          <p:cNvSpPr/>
          <p:nvPr/>
        </p:nvSpPr>
        <p:spPr>
          <a:xfrm>
            <a:off x="0" y="1051560"/>
            <a:ext cx="9144000" cy="9144"/>
          </a:xfrm>
          <a:prstGeom prst="rect">
            <a:avLst/>
          </a:prstGeom>
          <a:solidFill>
            <a:srgbClr val="CCCCCC"/>
          </a:solidFill>
          <a:ln w="12700">
            <a:solidFill>
              <a:srgbClr val="CCCCCC"/>
            </a:solidFill>
            <a:prstDash val="solid"/>
          </a:ln>
        </p:spPr>
      </p:sp>
      <p:sp>
        <p:nvSpPr>
          <p:cNvPr id="6" name="Shape 4"/>
          <p:cNvSpPr/>
          <p:nvPr/>
        </p:nvSpPr>
        <p:spPr>
          <a:xfrm>
            <a:off x="0" y="5084064"/>
            <a:ext cx="7315200" cy="64008"/>
          </a:xfrm>
          <a:prstGeom prst="rect">
            <a:avLst/>
          </a:prstGeom>
          <a:solidFill>
            <a:srgbClr val="00118F"/>
          </a:solidFill>
          <a:ln w="12700">
            <a:solidFill>
              <a:srgbClr val="00118F"/>
            </a:solidFill>
            <a:prstDash val="solid"/>
          </a:ln>
        </p:spPr>
      </p:sp>
      <p:sp>
        <p:nvSpPr>
          <p:cNvPr id="7" name="Shape 5"/>
          <p:cNvSpPr/>
          <p:nvPr/>
        </p:nvSpPr>
        <p:spPr>
          <a:xfrm>
            <a:off x="7315200" y="5084064"/>
            <a:ext cx="1828800" cy="64008"/>
          </a:xfrm>
          <a:prstGeom prst="rect">
            <a:avLst/>
          </a:prstGeom>
          <a:solidFill>
            <a:srgbClr val="FB5B01"/>
          </a:solidFill>
          <a:ln w="12700">
            <a:solidFill>
              <a:srgbClr val="FB5B01"/>
            </a:solidFill>
            <a:prstDash val="solid"/>
          </a:ln>
        </p:spPr>
      </p:sp>
      <p:sp>
        <p:nvSpPr>
          <p:cNvPr id="8" name="Text 6"/>
          <p:cNvSpPr/>
          <p:nvPr/>
        </p:nvSpPr>
        <p:spPr>
          <a:xfrm>
            <a:off x="365760" y="1188720"/>
            <a:ext cx="8412480" cy="594360"/>
          </a:xfrm>
          <a:prstGeom prst="rect">
            <a:avLst/>
          </a:prstGeom>
          <a:noFill/>
          <a:ln/>
        </p:spPr>
        <p:txBody>
          <a:bodyPr wrap="square" lIns="0" tIns="0" rIns="0" bIns="0" rtlCol="0" anchor="ctr"/>
          <a:lstStyle/>
          <a:p>
            <a:pPr algn="l" indent="0" marL="0">
              <a:lnSpc>
                <a:spcPct val="170000"/>
              </a:lnSpc>
              <a:buNone/>
            </a:pPr>
            <a:r>
              <a:rPr lang="en-US" sz="1500" dirty="0">
                <a:solidFill>
                  <a:srgbClr val="1A1A1A"/>
                </a:solidFill>
                <a:latin typeface="Noto Sans JP" pitchFamily="34" charset="0"/>
                <a:ea typeface="Noto Sans JP" pitchFamily="34" charset="-122"/>
                <a:cs typeface="Noto Sans JP" pitchFamily="34" charset="-120"/>
              </a:rPr>
              <a:t>今回は「方針とやっていること」の報告。</a:t>
            </a:r>
            <a:endParaRPr lang="en-US" sz="1500" dirty="0"/>
          </a:p>
          <a:p>
            <a:pPr algn="l" indent="0" marL="0">
              <a:lnSpc>
                <a:spcPct val="170000"/>
              </a:lnSpc>
              <a:buNone/>
            </a:pPr>
            <a:r>
              <a:rPr lang="en-US" sz="1500" dirty="0">
                <a:solidFill>
                  <a:srgbClr val="1A1A1A"/>
                </a:solidFill>
                <a:latin typeface="Noto Sans JP" pitchFamily="34" charset="0"/>
                <a:ea typeface="Noto Sans JP" pitchFamily="34" charset="-122"/>
                <a:cs typeface="Noto Sans JP" pitchFamily="34" charset="-120"/>
              </a:rPr>
              <a:t>次回は「データでこう見えたので、こうします」という報告。</a:t>
            </a:r>
            <a:endParaRPr lang="en-US" sz="1500" dirty="0"/>
          </a:p>
        </p:txBody>
      </p:sp>
      <p:sp>
        <p:nvSpPr>
          <p:cNvPr id="9" name="Shape 7"/>
          <p:cNvSpPr/>
          <p:nvPr/>
        </p:nvSpPr>
        <p:spPr>
          <a:xfrm>
            <a:off x="365760" y="2011680"/>
            <a:ext cx="8412480" cy="777240"/>
          </a:xfrm>
          <a:prstGeom prst="roundRect">
            <a:avLst>
              <a:gd name="adj" fmla="val 3529"/>
            </a:avLst>
          </a:prstGeom>
          <a:solidFill>
            <a:srgbClr val="F2F2F2"/>
          </a:solidFill>
          <a:ln/>
        </p:spPr>
      </p:sp>
      <p:sp>
        <p:nvSpPr>
          <p:cNvPr id="10" name="Shape 8"/>
          <p:cNvSpPr/>
          <p:nvPr/>
        </p:nvSpPr>
        <p:spPr>
          <a:xfrm>
            <a:off x="594360" y="2244852"/>
            <a:ext cx="310896" cy="310896"/>
          </a:xfrm>
          <a:prstGeom prst="ellipse">
            <a:avLst/>
          </a:prstGeom>
          <a:solidFill>
            <a:srgbClr val="264AF4"/>
          </a:solidFill>
          <a:ln/>
        </p:spPr>
      </p:sp>
      <p:sp>
        <p:nvSpPr>
          <p:cNvPr id="11" name="Text 9"/>
          <p:cNvSpPr/>
          <p:nvPr/>
        </p:nvSpPr>
        <p:spPr>
          <a:xfrm>
            <a:off x="594360" y="224485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2" name="Text 10"/>
          <p:cNvSpPr/>
          <p:nvPr/>
        </p:nvSpPr>
        <p:spPr>
          <a:xfrm>
            <a:off x="1051560" y="2121408"/>
            <a:ext cx="7498080" cy="320040"/>
          </a:xfrm>
          <a:prstGeom prst="rect">
            <a:avLst/>
          </a:prstGeom>
          <a:noFill/>
          <a:ln/>
        </p:spPr>
        <p:txBody>
          <a:bodyPr wrap="square" lIns="0" tIns="0" rIns="0" bIns="0" rtlCol="0" anchor="ctr"/>
          <a:lstStyle/>
          <a:p>
            <a:pPr algn="l" indent="0" marL="0">
              <a:buNone/>
            </a:pPr>
            <a:r>
              <a:rPr lang="en-US" sz="1500" b="1" dirty="0">
                <a:solidFill>
                  <a:srgbClr val="1A1A1A"/>
                </a:solidFill>
                <a:latin typeface="Noto Sans JP" pitchFamily="34" charset="0"/>
                <a:ea typeface="Noto Sans JP" pitchFamily="34" charset="-122"/>
                <a:cs typeface="Noto Sans JP" pitchFamily="34" charset="-120"/>
              </a:rPr>
              <a:t>各チームのリードタイムのベースライン（現状値）</a:t>
            </a:r>
            <a:endParaRPr lang="en-US" sz="1500" dirty="0"/>
          </a:p>
        </p:txBody>
      </p:sp>
      <p:sp>
        <p:nvSpPr>
          <p:cNvPr id="13" name="Text 11"/>
          <p:cNvSpPr/>
          <p:nvPr/>
        </p:nvSpPr>
        <p:spPr>
          <a:xfrm>
            <a:off x="1051560" y="2450592"/>
            <a:ext cx="7498080" cy="274320"/>
          </a:xfrm>
          <a:prstGeom prst="rect">
            <a:avLst/>
          </a:prstGeom>
          <a:noFill/>
          <a:ln/>
        </p:spPr>
        <p:txBody>
          <a:bodyPr wrap="square" lIns="0" tIns="0" rIns="0" bIns="0" rtlCol="0" anchor="ctr"/>
          <a:lstStyle/>
          <a:p>
            <a:pPr algn="l" indent="0" marL="0">
              <a:buNone/>
            </a:pPr>
            <a:r>
              <a:rPr lang="en-US" sz="1200" dirty="0">
                <a:solidFill>
                  <a:srgbClr val="666666"/>
                </a:solidFill>
                <a:latin typeface="Noto Sans JP" pitchFamily="34" charset="0"/>
                <a:ea typeface="Noto Sans JP" pitchFamily="34" charset="-122"/>
                <a:cs typeface="Noto Sans JP" pitchFamily="34" charset="-120"/>
              </a:rPr>
              <a:t>どの工程にどれだけ時間がかかっているかを数値で示す</a:t>
            </a:r>
            <a:endParaRPr lang="en-US" sz="1200" dirty="0"/>
          </a:p>
        </p:txBody>
      </p:sp>
      <p:sp>
        <p:nvSpPr>
          <p:cNvPr id="14" name="Shape 12"/>
          <p:cNvSpPr/>
          <p:nvPr/>
        </p:nvSpPr>
        <p:spPr>
          <a:xfrm>
            <a:off x="365760" y="2926080"/>
            <a:ext cx="8412480" cy="777240"/>
          </a:xfrm>
          <a:prstGeom prst="roundRect">
            <a:avLst>
              <a:gd name="adj" fmla="val 3529"/>
            </a:avLst>
          </a:prstGeom>
          <a:solidFill>
            <a:srgbClr val="F2F2F2"/>
          </a:solidFill>
          <a:ln/>
        </p:spPr>
      </p:sp>
      <p:sp>
        <p:nvSpPr>
          <p:cNvPr id="15" name="Shape 13"/>
          <p:cNvSpPr/>
          <p:nvPr/>
        </p:nvSpPr>
        <p:spPr>
          <a:xfrm>
            <a:off x="594360" y="3159252"/>
            <a:ext cx="310896" cy="310896"/>
          </a:xfrm>
          <a:prstGeom prst="ellipse">
            <a:avLst/>
          </a:prstGeom>
          <a:solidFill>
            <a:srgbClr val="264AF4"/>
          </a:solidFill>
          <a:ln/>
        </p:spPr>
      </p:sp>
      <p:sp>
        <p:nvSpPr>
          <p:cNvPr id="16" name="Text 14"/>
          <p:cNvSpPr/>
          <p:nvPr/>
        </p:nvSpPr>
        <p:spPr>
          <a:xfrm>
            <a:off x="594360" y="315925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7" name="Text 15"/>
          <p:cNvSpPr/>
          <p:nvPr/>
        </p:nvSpPr>
        <p:spPr>
          <a:xfrm>
            <a:off x="1051560" y="3035808"/>
            <a:ext cx="7498080" cy="320040"/>
          </a:xfrm>
          <a:prstGeom prst="rect">
            <a:avLst/>
          </a:prstGeom>
          <a:noFill/>
          <a:ln/>
        </p:spPr>
        <p:txBody>
          <a:bodyPr wrap="square" lIns="0" tIns="0" rIns="0" bIns="0" rtlCol="0" anchor="ctr"/>
          <a:lstStyle/>
          <a:p>
            <a:pPr algn="l" indent="0" marL="0">
              <a:buNone/>
            </a:pPr>
            <a:r>
              <a:rPr lang="en-US" sz="1500" b="1" dirty="0">
                <a:solidFill>
                  <a:srgbClr val="1A1A1A"/>
                </a:solidFill>
                <a:latin typeface="Noto Sans JP" pitchFamily="34" charset="0"/>
                <a:ea typeface="Noto Sans JP" pitchFamily="34" charset="-122"/>
                <a:cs typeface="Noto Sans JP" pitchFamily="34" charset="-120"/>
              </a:rPr>
              <a:t>2Q以降の具体的な改善目標</a:t>
            </a:r>
            <a:endParaRPr lang="en-US" sz="1500" dirty="0"/>
          </a:p>
        </p:txBody>
      </p:sp>
      <p:sp>
        <p:nvSpPr>
          <p:cNvPr id="18" name="Text 16"/>
          <p:cNvSpPr/>
          <p:nvPr/>
        </p:nvSpPr>
        <p:spPr>
          <a:xfrm>
            <a:off x="1051560" y="3364992"/>
            <a:ext cx="7498080" cy="274320"/>
          </a:xfrm>
          <a:prstGeom prst="rect">
            <a:avLst/>
          </a:prstGeom>
          <a:noFill/>
          <a:ln/>
        </p:spPr>
        <p:txBody>
          <a:bodyPr wrap="square" lIns="0" tIns="0" rIns="0" bIns="0" rtlCol="0" anchor="ctr"/>
          <a:lstStyle/>
          <a:p>
            <a:pPr algn="l" indent="0" marL="0">
              <a:buNone/>
            </a:pPr>
            <a:r>
              <a:rPr lang="en-US" sz="1200" dirty="0">
                <a:solidFill>
                  <a:srgbClr val="666666"/>
                </a:solidFill>
                <a:latin typeface="Noto Sans JP" pitchFamily="34" charset="0"/>
                <a:ea typeface="Noto Sans JP" pitchFamily="34" charset="-122"/>
                <a:cs typeface="Noto Sans JP" pitchFamily="34" charset="-120"/>
              </a:rPr>
              <a:t>ベースラインに対して、どの指標をどこまで改善するかを設定する</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64AF4"/>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0118F"/>
          </a:solidFill>
          <a:ln/>
        </p:spPr>
      </p:sp>
      <p:sp>
        <p:nvSpPr>
          <p:cNvPr id="3" name="Shape 1"/>
          <p:cNvSpPr/>
          <p:nvPr/>
        </p:nvSpPr>
        <p:spPr>
          <a:xfrm>
            <a:off x="548640" y="731520"/>
            <a:ext cx="1097280" cy="36576"/>
          </a:xfrm>
          <a:prstGeom prst="rect">
            <a:avLst/>
          </a:prstGeom>
          <a:solidFill>
            <a:srgbClr val="FB5B01"/>
          </a:solidFill>
          <a:ln/>
        </p:spPr>
      </p:sp>
      <p:sp>
        <p:nvSpPr>
          <p:cNvPr id="4" name="Text 2"/>
          <p:cNvSpPr/>
          <p:nvPr/>
        </p:nvSpPr>
        <p:spPr>
          <a:xfrm>
            <a:off x="548640" y="1097280"/>
            <a:ext cx="8046720" cy="1463040"/>
          </a:xfrm>
          <a:prstGeom prst="rect">
            <a:avLst/>
          </a:prstGeom>
          <a:noFill/>
          <a:ln/>
        </p:spPr>
        <p:txBody>
          <a:bodyPr wrap="square" lIns="0" tIns="0" rIns="0" bIns="0" rtlCol="0" anchor="ctr"/>
          <a:lstStyle/>
          <a:p>
            <a:pPr algn="l" indent="0" marL="0">
              <a:lnSpc>
                <a:spcPct val="120000"/>
              </a:lnSpc>
              <a:buNone/>
            </a:pPr>
            <a:r>
              <a:rPr lang="en-US" sz="3600" b="1" dirty="0">
                <a:solidFill>
                  <a:srgbClr val="00118F"/>
                </a:solidFill>
                <a:latin typeface="Noto Sans JP" pitchFamily="34" charset="0"/>
                <a:ea typeface="Noto Sans JP" pitchFamily="34" charset="-122"/>
                <a:cs typeface="Noto Sans JP" pitchFamily="34" charset="-120"/>
              </a:rPr>
              <a:t>Appendix</a:t>
            </a:r>
            <a:endParaRPr lang="en-US" sz="3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73152"/>
            <a:ext cx="8412480" cy="201168"/>
          </a:xfrm>
          <a:prstGeom prst="rect">
            <a:avLst/>
          </a:prstGeom>
          <a:noFill/>
          <a:ln/>
        </p:spPr>
        <p:txBody>
          <a:bodyPr wrap="square" lIns="0" tIns="0" rIns="0" bIns="0" rtlCol="0" anchor="ctr"/>
          <a:lstStyle/>
          <a:p>
            <a:pPr algn="l" indent="0" marL="0">
              <a:buNone/>
            </a:pPr>
            <a:r>
              <a:rPr lang="en-US" sz="900" dirty="0">
                <a:solidFill>
                  <a:srgbClr val="666666"/>
                </a:solidFill>
                <a:latin typeface="Noto Sans JP" pitchFamily="34" charset="0"/>
                <a:ea typeface="Noto Sans JP" pitchFamily="34" charset="-122"/>
                <a:cs typeface="Noto Sans JP" pitchFamily="34" charset="-120"/>
              </a:rPr>
              <a:t>成果の方程式  &gt;  目標根拠</a:t>
            </a:r>
            <a:endParaRPr lang="en-US" sz="900" dirty="0"/>
          </a:p>
        </p:txBody>
      </p:sp>
      <p:sp>
        <p:nvSpPr>
          <p:cNvPr id="3" name="Shape 1"/>
          <p:cNvSpPr/>
          <p:nvPr/>
        </p:nvSpPr>
        <p:spPr>
          <a:xfrm>
            <a:off x="0" y="310896"/>
            <a:ext cx="9144000" cy="9144"/>
          </a:xfrm>
          <a:prstGeom prst="rect">
            <a:avLst/>
          </a:prstGeom>
          <a:solidFill>
            <a:srgbClr val="CCCCCC"/>
          </a:solidFill>
          <a:ln w="12700">
            <a:solidFill>
              <a:srgbClr val="CCCCCC"/>
            </a:solidFill>
            <a:prstDash val="solid"/>
          </a:ln>
        </p:spPr>
      </p:sp>
      <p:sp>
        <p:nvSpPr>
          <p:cNvPr id="4" name="Text 2"/>
          <p:cNvSpPr/>
          <p:nvPr/>
        </p:nvSpPr>
        <p:spPr>
          <a:xfrm>
            <a:off x="365760" y="384048"/>
            <a:ext cx="8412480" cy="594360"/>
          </a:xfrm>
          <a:prstGeom prst="rect">
            <a:avLst/>
          </a:prstGeom>
          <a:noFill/>
          <a:ln/>
        </p:spPr>
        <p:txBody>
          <a:bodyPr wrap="square" lIns="0" tIns="0" rIns="0" bIns="0" rtlCol="0" anchor="ctr"/>
          <a:lstStyle/>
          <a:p>
            <a:pPr algn="l" indent="0" marL="0">
              <a:buNone/>
            </a:pPr>
            <a:r>
              <a:rPr lang="en-US" sz="2200" b="1" dirty="0">
                <a:solidFill>
                  <a:srgbClr val="1A1A1A"/>
                </a:solidFill>
                <a:latin typeface="Noto Sans JP" pitchFamily="34" charset="0"/>
                <a:ea typeface="Noto Sans JP" pitchFamily="34" charset="-122"/>
                <a:cs typeface="Noto Sans JP" pitchFamily="34" charset="-120"/>
              </a:rPr>
              <a:t>なぜ「1ヶ月以内」が目標なのか</a:t>
            </a:r>
            <a:endParaRPr lang="en-US" sz="2200" dirty="0"/>
          </a:p>
        </p:txBody>
      </p:sp>
      <p:sp>
        <p:nvSpPr>
          <p:cNvPr id="5" name="Shape 3"/>
          <p:cNvSpPr/>
          <p:nvPr/>
        </p:nvSpPr>
        <p:spPr>
          <a:xfrm>
            <a:off x="0" y="1051560"/>
            <a:ext cx="9144000" cy="9144"/>
          </a:xfrm>
          <a:prstGeom prst="rect">
            <a:avLst/>
          </a:prstGeom>
          <a:solidFill>
            <a:srgbClr val="CCCCCC"/>
          </a:solidFill>
          <a:ln w="12700">
            <a:solidFill>
              <a:srgbClr val="CCCCCC"/>
            </a:solidFill>
            <a:prstDash val="solid"/>
          </a:ln>
        </p:spPr>
      </p:sp>
      <p:sp>
        <p:nvSpPr>
          <p:cNvPr id="6" name="Shape 4"/>
          <p:cNvSpPr/>
          <p:nvPr/>
        </p:nvSpPr>
        <p:spPr>
          <a:xfrm>
            <a:off x="0" y="5084064"/>
            <a:ext cx="7315200" cy="64008"/>
          </a:xfrm>
          <a:prstGeom prst="rect">
            <a:avLst/>
          </a:prstGeom>
          <a:solidFill>
            <a:srgbClr val="00118F"/>
          </a:solidFill>
          <a:ln w="12700">
            <a:solidFill>
              <a:srgbClr val="00118F"/>
            </a:solidFill>
            <a:prstDash val="solid"/>
          </a:ln>
        </p:spPr>
      </p:sp>
      <p:sp>
        <p:nvSpPr>
          <p:cNvPr id="7" name="Shape 5"/>
          <p:cNvSpPr/>
          <p:nvPr/>
        </p:nvSpPr>
        <p:spPr>
          <a:xfrm>
            <a:off x="7315200" y="5084064"/>
            <a:ext cx="1828800" cy="64008"/>
          </a:xfrm>
          <a:prstGeom prst="rect">
            <a:avLst/>
          </a:prstGeom>
          <a:solidFill>
            <a:srgbClr val="FB5B01"/>
          </a:solidFill>
          <a:ln w="12700">
            <a:solidFill>
              <a:srgbClr val="FB5B01"/>
            </a:solidFill>
            <a:prstDash val="solid"/>
          </a:ln>
        </p:spPr>
      </p:sp>
      <p:sp>
        <p:nvSpPr>
          <p:cNvPr id="8" name="Text 6"/>
          <p:cNvSpPr/>
          <p:nvPr/>
        </p:nvSpPr>
        <p:spPr>
          <a:xfrm>
            <a:off x="365760" y="1188720"/>
            <a:ext cx="8412480" cy="320040"/>
          </a:xfrm>
          <a:prstGeom prst="rect">
            <a:avLst/>
          </a:prstGeom>
          <a:noFill/>
          <a:ln/>
        </p:spPr>
        <p:txBody>
          <a:bodyPr wrap="square" lIns="0" tIns="0" rIns="0" bIns="0" rtlCol="0" anchor="ctr"/>
          <a:lstStyle/>
          <a:p>
            <a:pPr algn="l" indent="0" marL="0">
              <a:buNone/>
            </a:pPr>
            <a:r>
              <a:rPr lang="en-US" sz="1300" b="1" dirty="0">
                <a:solidFill>
                  <a:srgbClr val="1A1A1A"/>
                </a:solidFill>
                <a:latin typeface="Noto Sans JP" pitchFamily="34" charset="0"/>
                <a:ea typeface="Noto Sans JP" pitchFamily="34" charset="-122"/>
                <a:cs typeface="Noto Sans JP" pitchFamily="34" charset="-120"/>
              </a:rPr>
              <a:t>開発組織能力の世界標準指標 "DORA" の High レベルに相当する。</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65760" y="1645920"/>
          <a:ext cx="8412480" cy="914400"/>
        </p:xfrm>
        <a:graphic>
          <a:graphicData uri="http://schemas.openxmlformats.org/drawingml/2006/table">
            <a:tbl>
              <a:tblPr/>
              <a:tblGrid>
                <a:gridCol w="2011680"/>
                <a:gridCol w="2286000"/>
                <a:gridCol w="4114800"/>
              </a:tblGrid>
              <a:tr h="365760">
                <a:tc>
                  <a:txBody>
                    <a:bodyPr/>
                    <a:lstStyle/>
                    <a:p>
                      <a:pPr algn="ctr" indent="0" marL="0">
                        <a:buNone/>
                      </a:pPr>
                      <a:r>
                        <a:rPr lang="en-US" sz="1200" b="1" dirty="0">
                          <a:solidFill>
                            <a:srgbClr val="FFFFFF"/>
                          </a:solidFill>
                          <a:latin typeface="Noto Sans JP" pitchFamily="34" charset="0"/>
                          <a:ea typeface="Noto Sans JP" pitchFamily="34" charset="-122"/>
                          <a:cs typeface="Noto Sans JP" pitchFamily="34" charset="-120"/>
                        </a:rPr>
                        <a:t>レベル</a:t>
                      </a:r>
                      <a:endParaRPr lang="en-US" sz="1200" dirty="0">
                        <a:latin typeface="Noto Sans JP" charset="0"/>
                        <a:ea typeface="Noto Sans JP" charset="0"/>
                        <a:cs typeface="Noto Sans JP"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00118F"/>
                    </a:solidFill>
                  </a:tcPr>
                </a:tc>
                <a:tc>
                  <a:txBody>
                    <a:bodyPr/>
                    <a:lstStyle/>
                    <a:p>
                      <a:pPr algn="ctr" indent="0" marL="0">
                        <a:buNone/>
                      </a:pPr>
                      <a:r>
                        <a:rPr lang="en-US" sz="1200" b="1" dirty="0">
                          <a:solidFill>
                            <a:srgbClr val="FFFFFF"/>
                          </a:solidFill>
                          <a:latin typeface="Noto Sans JP" pitchFamily="34" charset="0"/>
                          <a:ea typeface="Noto Sans JP" pitchFamily="34" charset="-122"/>
                          <a:cs typeface="Noto Sans JP" pitchFamily="34" charset="-120"/>
                        </a:rPr>
                        <a:t>Lead Time</a:t>
                      </a:r>
                      <a:endParaRPr lang="en-US" sz="1200" dirty="0">
                        <a:latin typeface="Noto Sans JP" charset="0"/>
                        <a:ea typeface="Noto Sans JP" charset="0"/>
                        <a:cs typeface="Noto Sans JP"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00118F"/>
                    </a:solidFill>
                  </a:tcPr>
                </a:tc>
                <a:tc>
                  <a:txBody>
                    <a:bodyPr/>
                    <a:lstStyle/>
                    <a:p>
                      <a:pPr algn="ctr" indent="0" marL="0">
                        <a:buNone/>
                      </a:pPr>
                      <a:r>
                        <a:rPr lang="en-US" sz="1200" b="1" dirty="0">
                          <a:solidFill>
                            <a:srgbClr val="FFFFFF"/>
                          </a:solidFill>
                          <a:latin typeface="Noto Sans JP" pitchFamily="34" charset="0"/>
                          <a:ea typeface="Noto Sans JP" pitchFamily="34" charset="-122"/>
                          <a:cs typeface="Noto Sans JP" pitchFamily="34" charset="-120"/>
                        </a:rPr>
                        <a:t>該当する組織</a:t>
                      </a:r>
                      <a:endParaRPr lang="en-US" sz="1200" dirty="0">
                        <a:latin typeface="Noto Sans JP" charset="0"/>
                        <a:ea typeface="Noto Sans JP" charset="0"/>
                        <a:cs typeface="Noto Sans JP"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00118F"/>
                    </a:solidFill>
                  </a:tcPr>
                </a:tc>
              </a:tr>
              <a:tr h="365760">
                <a:tc>
                  <a:txBody>
                    <a:bodyPr/>
                    <a:lstStyle/>
                    <a:p>
                      <a:pPr algn="l" indent="0" marL="0">
                        <a:buNone/>
                      </a:pPr>
                      <a:r>
                        <a:rPr lang="en-US" sz="1200" dirty="0">
                          <a:solidFill>
                            <a:srgbClr val="1A1A1A"/>
                          </a:solidFill>
                          <a:latin typeface="Noto Sans JP" pitchFamily="34" charset="0"/>
                          <a:ea typeface="Noto Sans JP" pitchFamily="34" charset="-122"/>
                          <a:cs typeface="Noto Sans JP" pitchFamily="34" charset="-120"/>
                        </a:rPr>
                        <a:t>Elite</a:t>
                      </a:r>
                      <a:endParaRPr lang="en-US" sz="1200" dirty="0">
                        <a:latin typeface="Noto Sans JP" charset="0"/>
                        <a:ea typeface="Noto Sans JP" charset="0"/>
                        <a:cs typeface="Noto Sans JP"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6E6E6"/>
                      </a:solidFill>
                      <a:prstDash val="solid"/>
                      <a:round/>
                      <a:headEnd type="none" w="med" len="med"/>
                      <a:tailEnd type="none" w="med" len="med"/>
                    </a:lnB>
                  </a:tcPr>
                </a:tc>
                <a:tc>
                  <a:txBody>
                    <a:bodyPr/>
                    <a:lstStyle/>
                    <a:p>
                      <a:pPr algn="l" indent="0" marL="0">
                        <a:buNone/>
                      </a:pPr>
                      <a:r>
                        <a:rPr lang="en-US" sz="1200" dirty="0">
                          <a:solidFill>
                            <a:srgbClr val="1A1A1A"/>
                          </a:solidFill>
                          <a:latin typeface="Noto Sans JP" pitchFamily="34" charset="0"/>
                          <a:ea typeface="Noto Sans JP" pitchFamily="34" charset="-122"/>
                          <a:cs typeface="Noto Sans JP" pitchFamily="34" charset="-120"/>
                        </a:rPr>
                        <a:t>1日未満</a:t>
                      </a:r>
                      <a:endParaRPr lang="en-US" sz="1200" dirty="0">
                        <a:latin typeface="Noto Sans JP" charset="0"/>
                        <a:ea typeface="Noto Sans JP" charset="0"/>
                        <a:cs typeface="Noto Sans JP"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6E6E6"/>
                      </a:solidFill>
                      <a:prstDash val="solid"/>
                      <a:round/>
                      <a:headEnd type="none" w="med" len="med"/>
                      <a:tailEnd type="none" w="med" len="med"/>
                    </a:lnB>
                  </a:tcPr>
                </a:tc>
                <a:tc>
                  <a:txBody>
                    <a:bodyPr/>
                    <a:lstStyle/>
                    <a:p>
                      <a:pPr algn="l" indent="0" marL="0">
                        <a:buNone/>
                      </a:pPr>
                      <a:r>
                        <a:rPr lang="en-US" sz="1200" dirty="0">
                          <a:solidFill>
                            <a:srgbClr val="1A1A1A"/>
                          </a:solidFill>
                          <a:latin typeface="Noto Sans JP" pitchFamily="34" charset="0"/>
                          <a:ea typeface="Noto Sans JP" pitchFamily="34" charset="-122"/>
                          <a:cs typeface="Noto Sans JP" pitchFamily="34" charset="-120"/>
                        </a:rPr>
                        <a:t>Amazon, Netflix, Google</a:t>
                      </a:r>
                      <a:endParaRPr lang="en-US" sz="1200" dirty="0">
                        <a:latin typeface="Noto Sans JP" charset="0"/>
                        <a:ea typeface="Noto Sans JP" charset="0"/>
                        <a:cs typeface="Noto Sans JP"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6E6E6"/>
                      </a:solidFill>
                      <a:prstDash val="solid"/>
                      <a:round/>
                      <a:headEnd type="none" w="med" len="med"/>
                      <a:tailEnd type="none" w="med" len="med"/>
                    </a:lnB>
                  </a:tcPr>
                </a:tc>
              </a:tr>
              <a:tr h="365760">
                <a:tc>
                  <a:txBody>
                    <a:bodyPr/>
                    <a:lstStyle/>
                    <a:p>
                      <a:pPr algn="l" indent="0" marL="0">
                        <a:buNone/>
                      </a:pPr>
                      <a:r>
                        <a:rPr lang="en-US" sz="1200" dirty="0">
                          <a:solidFill>
                            <a:srgbClr val="1A1A1A"/>
                          </a:solidFill>
                          <a:latin typeface="Noto Sans JP" pitchFamily="34" charset="0"/>
                          <a:ea typeface="Noto Sans JP" pitchFamily="34" charset="-122"/>
                          <a:cs typeface="Noto Sans JP" pitchFamily="34" charset="-120"/>
                        </a:rPr>
                        <a:t>★ High（目標）</a:t>
                      </a:r>
                      <a:endParaRPr lang="en-US" sz="1200" dirty="0">
                        <a:latin typeface="Noto Sans JP" charset="0"/>
                        <a:ea typeface="Noto Sans JP" charset="0"/>
                        <a:cs typeface="Noto Sans JP"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6E6E6"/>
                      </a:solidFill>
                      <a:prstDash val="solid"/>
                      <a:round/>
                      <a:headEnd type="none" w="med" len="med"/>
                      <a:tailEnd type="none" w="med" len="med"/>
                    </a:lnB>
                  </a:tcPr>
                </a:tc>
                <a:tc>
                  <a:txBody>
                    <a:bodyPr/>
                    <a:lstStyle/>
                    <a:p>
                      <a:pPr algn="l" indent="0" marL="0">
                        <a:buNone/>
                      </a:pPr>
                      <a:r>
                        <a:rPr lang="en-US" sz="1200" dirty="0">
                          <a:solidFill>
                            <a:srgbClr val="1A1A1A"/>
                          </a:solidFill>
                          <a:latin typeface="Noto Sans JP" pitchFamily="34" charset="0"/>
                          <a:ea typeface="Noto Sans JP" pitchFamily="34" charset="-122"/>
                          <a:cs typeface="Noto Sans JP" pitchFamily="34" charset="-120"/>
                        </a:rPr>
                        <a:t>1日〜1ヶ月</a:t>
                      </a:r>
                      <a:endParaRPr lang="en-US" sz="1200" dirty="0">
                        <a:latin typeface="Noto Sans JP" charset="0"/>
                        <a:ea typeface="Noto Sans JP" charset="0"/>
                        <a:cs typeface="Noto Sans JP"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6E6E6"/>
                      </a:solidFill>
                      <a:prstDash val="solid"/>
                      <a:round/>
                      <a:headEnd type="none" w="med" len="med"/>
                      <a:tailEnd type="none" w="med" len="med"/>
                    </a:lnB>
                  </a:tcPr>
                </a:tc>
                <a:tc>
                  <a:txBody>
                    <a:bodyPr/>
                    <a:lstStyle/>
                    <a:p>
                      <a:pPr algn="l" indent="0" marL="0">
                        <a:buNone/>
                      </a:pPr>
                      <a:r>
                        <a:rPr lang="en-US" sz="1200" dirty="0">
                          <a:solidFill>
                            <a:srgbClr val="1A1A1A"/>
                          </a:solidFill>
                          <a:latin typeface="Noto Sans JP" pitchFamily="34" charset="0"/>
                          <a:ea typeface="Noto Sans JP" pitchFamily="34" charset="-122"/>
                          <a:cs typeface="Noto Sans JP" pitchFamily="34" charset="-120"/>
                        </a:rPr>
                        <a:t>メガベンチャー、デジタル先進企業</a:t>
                      </a:r>
                      <a:endParaRPr lang="en-US" sz="1200" dirty="0">
                        <a:latin typeface="Noto Sans JP" charset="0"/>
                        <a:ea typeface="Noto Sans JP" charset="0"/>
                        <a:cs typeface="Noto Sans JP"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6E6E6"/>
                      </a:solidFill>
                      <a:prstDash val="solid"/>
                      <a:round/>
                      <a:headEnd type="none" w="med" len="med"/>
                      <a:tailEnd type="none" w="med" len="med"/>
                    </a:lnB>
                  </a:tcPr>
                </a:tc>
              </a:tr>
              <a:tr h="365760">
                <a:tc>
                  <a:txBody>
                    <a:bodyPr/>
                    <a:lstStyle/>
                    <a:p>
                      <a:pPr algn="l" indent="0" marL="0">
                        <a:buNone/>
                      </a:pPr>
                      <a:r>
                        <a:rPr lang="en-US" sz="1200" dirty="0">
                          <a:solidFill>
                            <a:srgbClr val="1A1A1A"/>
                          </a:solidFill>
                          <a:latin typeface="Noto Sans JP" pitchFamily="34" charset="0"/>
                          <a:ea typeface="Noto Sans JP" pitchFamily="34" charset="-122"/>
                          <a:cs typeface="Noto Sans JP" pitchFamily="34" charset="-120"/>
                        </a:rPr>
                        <a:t>Medium</a:t>
                      </a:r>
                      <a:endParaRPr lang="en-US" sz="1200" dirty="0">
                        <a:latin typeface="Noto Sans JP" charset="0"/>
                        <a:ea typeface="Noto Sans JP" charset="0"/>
                        <a:cs typeface="Noto Sans JP"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6E6E6"/>
                      </a:solidFill>
                      <a:prstDash val="solid"/>
                      <a:round/>
                      <a:headEnd type="none" w="med" len="med"/>
                      <a:tailEnd type="none" w="med" len="med"/>
                    </a:lnB>
                  </a:tcPr>
                </a:tc>
                <a:tc>
                  <a:txBody>
                    <a:bodyPr/>
                    <a:lstStyle/>
                    <a:p>
                      <a:pPr algn="l" indent="0" marL="0">
                        <a:buNone/>
                      </a:pPr>
                      <a:r>
                        <a:rPr lang="en-US" sz="1200" dirty="0">
                          <a:solidFill>
                            <a:srgbClr val="1A1A1A"/>
                          </a:solidFill>
                          <a:latin typeface="Noto Sans JP" pitchFamily="34" charset="0"/>
                          <a:ea typeface="Noto Sans JP" pitchFamily="34" charset="-122"/>
                          <a:cs typeface="Noto Sans JP" pitchFamily="34" charset="-120"/>
                        </a:rPr>
                        <a:t>1か月〜半年</a:t>
                      </a:r>
                      <a:endParaRPr lang="en-US" sz="1200" dirty="0">
                        <a:latin typeface="Noto Sans JP" charset="0"/>
                        <a:ea typeface="Noto Sans JP" charset="0"/>
                        <a:cs typeface="Noto Sans JP"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6E6E6"/>
                      </a:solidFill>
                      <a:prstDash val="solid"/>
                      <a:round/>
                      <a:headEnd type="none" w="med" len="med"/>
                      <a:tailEnd type="none" w="med" len="med"/>
                    </a:lnB>
                  </a:tcPr>
                </a:tc>
                <a:tc>
                  <a:txBody>
                    <a:bodyPr/>
                    <a:lstStyle/>
                    <a:p>
                      <a:pPr algn="l" indent="0" marL="0">
                        <a:buNone/>
                      </a:pPr>
                      <a:r>
                        <a:rPr lang="en-US" sz="1200" dirty="0">
                          <a:solidFill>
                            <a:srgbClr val="1A1A1A"/>
                          </a:solidFill>
                          <a:latin typeface="Noto Sans JP" pitchFamily="34" charset="0"/>
                          <a:ea typeface="Noto Sans JP" pitchFamily="34" charset="-122"/>
                          <a:cs typeface="Noto Sans JP" pitchFamily="34" charset="-120"/>
                        </a:rPr>
                        <a:t>標準的な大企業</a:t>
                      </a:r>
                      <a:endParaRPr lang="en-US" sz="1200" dirty="0">
                        <a:latin typeface="Noto Sans JP" charset="0"/>
                        <a:ea typeface="Noto Sans JP" charset="0"/>
                        <a:cs typeface="Noto Sans JP"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6E6E6"/>
                      </a:solidFill>
                      <a:prstDash val="solid"/>
                      <a:round/>
                      <a:headEnd type="none" w="med" len="med"/>
                      <a:tailEnd type="none" w="med" len="med"/>
                    </a:lnB>
                  </a:tcPr>
                </a:tc>
              </a:tr>
              <a:tr h="365760">
                <a:tc>
                  <a:txBody>
                    <a:bodyPr/>
                    <a:lstStyle/>
                    <a:p>
                      <a:pPr algn="l" indent="0" marL="0">
                        <a:buNone/>
                      </a:pPr>
                      <a:r>
                        <a:rPr lang="en-US" sz="1200" dirty="0">
                          <a:solidFill>
                            <a:srgbClr val="1A1A1A"/>
                          </a:solidFill>
                          <a:latin typeface="Noto Sans JP" pitchFamily="34" charset="0"/>
                          <a:ea typeface="Noto Sans JP" pitchFamily="34" charset="-122"/>
                          <a:cs typeface="Noto Sans JP" pitchFamily="34" charset="-120"/>
                        </a:rPr>
                        <a:t>Low</a:t>
                      </a:r>
                      <a:endParaRPr lang="en-US" sz="1200" dirty="0">
                        <a:latin typeface="Noto Sans JP" charset="0"/>
                        <a:ea typeface="Noto Sans JP" charset="0"/>
                        <a:cs typeface="Noto Sans JP"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A1A1A"/>
                          </a:solidFill>
                          <a:latin typeface="Noto Sans JP" pitchFamily="34" charset="0"/>
                          <a:ea typeface="Noto Sans JP" pitchFamily="34" charset="-122"/>
                          <a:cs typeface="Noto Sans JP" pitchFamily="34" charset="-120"/>
                        </a:rPr>
                        <a:t>半年以上</a:t>
                      </a:r>
                      <a:endParaRPr lang="en-US" sz="1200" dirty="0">
                        <a:latin typeface="Noto Sans JP" charset="0"/>
                        <a:ea typeface="Noto Sans JP" charset="0"/>
                        <a:cs typeface="Noto Sans JP"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A1A1A"/>
                          </a:solidFill>
                          <a:latin typeface="Noto Sans JP" pitchFamily="34" charset="0"/>
                          <a:ea typeface="Noto Sans JP" pitchFamily="34" charset="-122"/>
                          <a:cs typeface="Noto Sans JP" pitchFamily="34" charset="-120"/>
                        </a:rPr>
                        <a:t>レガシー組織</a:t>
                      </a:r>
                      <a:endParaRPr lang="en-US" sz="1200" dirty="0">
                        <a:latin typeface="Noto Sans JP" charset="0"/>
                        <a:ea typeface="Noto Sans JP" charset="0"/>
                        <a:cs typeface="Noto Sans JP"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r>
            </a:tbl>
          </a:graphicData>
        </a:graphic>
      </p:graphicFrame>
      <p:sp>
        <p:nvSpPr>
          <p:cNvPr id="10" name="Shape 7"/>
          <p:cNvSpPr/>
          <p:nvPr/>
        </p:nvSpPr>
        <p:spPr>
          <a:xfrm>
            <a:off x="365760" y="3657600"/>
            <a:ext cx="8412480" cy="1371600"/>
          </a:xfrm>
          <a:prstGeom prst="roundRect">
            <a:avLst>
              <a:gd name="adj" fmla="val 2000"/>
            </a:avLst>
          </a:prstGeom>
          <a:solidFill>
            <a:srgbClr val="F2F2F2"/>
          </a:solidFill>
          <a:ln/>
          <a:effectLst>
            <a:outerShdw sx="100000" sy="100000" kx="0" ky="0" algn="bl" rotWithShape="0" blurRad="50800" dist="25400" dir="8100000">
              <a:srgbClr val="000000">
                <a:alpha val="8000"/>
              </a:srgbClr>
            </a:outerShdw>
          </a:effectLst>
        </p:spPr>
      </p:sp>
      <p:sp>
        <p:nvSpPr>
          <p:cNvPr id="11" name="Shape 8"/>
          <p:cNvSpPr/>
          <p:nvPr/>
        </p:nvSpPr>
        <p:spPr>
          <a:xfrm>
            <a:off x="384048" y="3657600"/>
            <a:ext cx="8375904" cy="54864"/>
          </a:xfrm>
          <a:prstGeom prst="rect">
            <a:avLst/>
          </a:prstGeom>
          <a:solidFill>
            <a:srgbClr val="00118F"/>
          </a:solidFill>
          <a:ln/>
        </p:spPr>
      </p:sp>
      <p:sp>
        <p:nvSpPr>
          <p:cNvPr id="12" name="Text 9"/>
          <p:cNvSpPr/>
          <p:nvPr/>
        </p:nvSpPr>
        <p:spPr>
          <a:xfrm>
            <a:off x="502920" y="3794760"/>
            <a:ext cx="8138160" cy="365760"/>
          </a:xfrm>
          <a:prstGeom prst="rect">
            <a:avLst/>
          </a:prstGeom>
          <a:noFill/>
          <a:ln/>
        </p:spPr>
        <p:txBody>
          <a:bodyPr wrap="square" lIns="0" tIns="0" rIns="0" bIns="0" rtlCol="0" anchor="t"/>
          <a:lstStyle/>
          <a:p>
            <a:pPr algn="l" indent="0" marL="0">
              <a:buNone/>
            </a:pPr>
            <a:r>
              <a:rPr lang="en-US" sz="1400" b="1" dirty="0">
                <a:solidFill>
                  <a:srgbClr val="00118F"/>
                </a:solidFill>
                <a:latin typeface="Noto Sans JP" pitchFamily="34" charset="0"/>
                <a:ea typeface="Noto Sans JP" pitchFamily="34" charset="-122"/>
                <a:cs typeface="Noto Sans JP" pitchFamily="34" charset="-120"/>
              </a:rPr>
              <a:t>DORAとは</a:t>
            </a:r>
            <a:endParaRPr lang="en-US" sz="1400" dirty="0"/>
          </a:p>
        </p:txBody>
      </p:sp>
      <p:sp>
        <p:nvSpPr>
          <p:cNvPr id="13" name="Text 10"/>
          <p:cNvSpPr/>
          <p:nvPr/>
        </p:nvSpPr>
        <p:spPr>
          <a:xfrm>
            <a:off x="502920" y="4160520"/>
            <a:ext cx="8138160" cy="731520"/>
          </a:xfrm>
          <a:prstGeom prst="rect">
            <a:avLst/>
          </a:prstGeom>
          <a:noFill/>
          <a:ln/>
        </p:spPr>
        <p:txBody>
          <a:bodyPr wrap="square" lIns="0" tIns="0" rIns="0" bIns="0" rtlCol="0" anchor="t"/>
          <a:lstStyle/>
          <a:p>
            <a:pPr algn="l" indent="0" marL="0">
              <a:lnSpc>
                <a:spcPct val="150000"/>
              </a:lnSpc>
              <a:buNone/>
            </a:pPr>
            <a:r>
              <a:rPr lang="en-US" sz="1300" dirty="0">
                <a:solidFill>
                  <a:srgbClr val="1A1A1A"/>
                </a:solidFill>
                <a:latin typeface="Noto Sans JP" pitchFamily="34" charset="0"/>
                <a:ea typeface="Noto Sans JP" pitchFamily="34" charset="-122"/>
                <a:cs typeface="Noto Sans JP" pitchFamily="34" charset="-120"/>
              </a:rPr>
              <a:t>Google傘下の研究チームが10年以上継続している、世界最大の開発組織ベンチマーク調査。Amazon・Google・Microsoftから伝統的大企業まで、累計3万人以上の開発者を調査。</a:t>
            </a:r>
            <a:endParaRPr lang="en-US" sz="1300" dirty="0"/>
          </a:p>
          <a:p>
            <a:pPr algn="l" indent="0" marL="0">
              <a:lnSpc>
                <a:spcPct val="150000"/>
              </a:lnSpc>
              <a:buNone/>
            </a:pPr>
            <a:endParaRPr lang="en-US" sz="1300" dirty="0"/>
          </a:p>
          <a:p>
            <a:pPr algn="l" indent="0" marL="0">
              <a:lnSpc>
                <a:spcPct val="150000"/>
              </a:lnSpc>
              <a:buNone/>
            </a:pPr>
            <a:r>
              <a:rPr lang="en-US" sz="1300" dirty="0">
                <a:solidFill>
                  <a:srgbClr val="1A1A1A"/>
                </a:solidFill>
                <a:latin typeface="Noto Sans JP" pitchFamily="34" charset="0"/>
                <a:ea typeface="Noto Sans JP" pitchFamily="34" charset="-122"/>
                <a:cs typeface="Noto Sans JP" pitchFamily="34" charset="-120"/>
              </a:rPr>
              <a:t>DORA調査により「開発スピードと事業成果は連動する」ことが統計的に証明されている。Eliteレベル組織はLowレベル組織と比べて収益成長が2倍以上というデータも出ている。</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73152"/>
            <a:ext cx="8412480" cy="201168"/>
          </a:xfrm>
          <a:prstGeom prst="rect">
            <a:avLst/>
          </a:prstGeom>
          <a:noFill/>
          <a:ln/>
        </p:spPr>
        <p:txBody>
          <a:bodyPr wrap="square" lIns="0" tIns="0" rIns="0" bIns="0" rtlCol="0" anchor="ctr"/>
          <a:lstStyle/>
          <a:p>
            <a:pPr algn="l" indent="0" marL="0">
              <a:buNone/>
            </a:pPr>
            <a:r>
              <a:rPr lang="en-US" sz="900" dirty="0">
                <a:solidFill>
                  <a:srgbClr val="666666"/>
                </a:solidFill>
                <a:latin typeface="Noto Sans JP" pitchFamily="34" charset="0"/>
                <a:ea typeface="Noto Sans JP" pitchFamily="34" charset="-122"/>
                <a:cs typeface="Noto Sans JP" pitchFamily="34" charset="-120"/>
              </a:rPr>
              <a:t>成果の方程式</a:t>
            </a:r>
            <a:endParaRPr lang="en-US" sz="900" dirty="0"/>
          </a:p>
        </p:txBody>
      </p:sp>
      <p:sp>
        <p:nvSpPr>
          <p:cNvPr id="3" name="Shape 1"/>
          <p:cNvSpPr/>
          <p:nvPr/>
        </p:nvSpPr>
        <p:spPr>
          <a:xfrm>
            <a:off x="0" y="310896"/>
            <a:ext cx="9144000" cy="9144"/>
          </a:xfrm>
          <a:prstGeom prst="rect">
            <a:avLst/>
          </a:prstGeom>
          <a:solidFill>
            <a:srgbClr val="CCCCCC"/>
          </a:solidFill>
          <a:ln w="12700">
            <a:solidFill>
              <a:srgbClr val="CCCCCC"/>
            </a:solidFill>
            <a:prstDash val="solid"/>
          </a:ln>
        </p:spPr>
      </p:sp>
      <p:sp>
        <p:nvSpPr>
          <p:cNvPr id="4" name="Shape 2"/>
          <p:cNvSpPr/>
          <p:nvPr/>
        </p:nvSpPr>
        <p:spPr>
          <a:xfrm>
            <a:off x="0" y="5084064"/>
            <a:ext cx="7315200" cy="64008"/>
          </a:xfrm>
          <a:prstGeom prst="rect">
            <a:avLst/>
          </a:prstGeom>
          <a:solidFill>
            <a:srgbClr val="00118F"/>
          </a:solidFill>
          <a:ln w="12700">
            <a:solidFill>
              <a:srgbClr val="00118F"/>
            </a:solidFill>
            <a:prstDash val="solid"/>
          </a:ln>
        </p:spPr>
      </p:sp>
      <p:sp>
        <p:nvSpPr>
          <p:cNvPr id="5" name="Shape 3"/>
          <p:cNvSpPr/>
          <p:nvPr/>
        </p:nvSpPr>
        <p:spPr>
          <a:xfrm>
            <a:off x="7315200" y="5084064"/>
            <a:ext cx="1828800" cy="64008"/>
          </a:xfrm>
          <a:prstGeom prst="rect">
            <a:avLst/>
          </a:prstGeom>
          <a:solidFill>
            <a:srgbClr val="FB5B01"/>
          </a:solidFill>
          <a:ln w="12700">
            <a:solidFill>
              <a:srgbClr val="FB5B01"/>
            </a:solidFill>
            <a:prstDash val="solid"/>
          </a:ln>
        </p:spPr>
      </p:sp>
      <p:sp>
        <p:nvSpPr>
          <p:cNvPr id="6" name="Shape 4"/>
          <p:cNvSpPr/>
          <p:nvPr/>
        </p:nvSpPr>
        <p:spPr>
          <a:xfrm>
            <a:off x="365760" y="457200"/>
            <a:ext cx="8412480" cy="1097280"/>
          </a:xfrm>
          <a:prstGeom prst="roundRect">
            <a:avLst>
              <a:gd name="adj" fmla="val 2500"/>
            </a:avLst>
          </a:prstGeom>
          <a:solidFill>
            <a:srgbClr val="FBF5E0"/>
          </a:solidFill>
          <a:ln w="12700">
            <a:solidFill>
              <a:srgbClr val="B78F00"/>
            </a:solidFill>
            <a:prstDash val="solid"/>
          </a:ln>
        </p:spPr>
      </p:sp>
      <p:sp>
        <p:nvSpPr>
          <p:cNvPr id="7" name="Text 5"/>
          <p:cNvSpPr/>
          <p:nvPr/>
        </p:nvSpPr>
        <p:spPr>
          <a:xfrm>
            <a:off x="502920" y="457200"/>
            <a:ext cx="8138160" cy="1097280"/>
          </a:xfrm>
          <a:prstGeom prst="rect">
            <a:avLst/>
          </a:prstGeom>
          <a:noFill/>
          <a:ln/>
        </p:spPr>
        <p:txBody>
          <a:bodyPr wrap="square" lIns="0" tIns="0" rIns="0" bIns="0" rtlCol="0" anchor="ctr"/>
          <a:lstStyle/>
          <a:p>
            <a:pPr algn="l" indent="0" marL="0">
              <a:lnSpc>
                <a:spcPct val="140000"/>
              </a:lnSpc>
              <a:buNone/>
            </a:pPr>
            <a:r>
              <a:rPr lang="en-US" sz="1200" dirty="0">
                <a:solidFill>
                  <a:srgbClr val="927200"/>
                </a:solidFill>
                <a:latin typeface="Noto Sans JP" pitchFamily="34" charset="0"/>
                <a:ea typeface="Noto Sans JP" pitchFamily="34" charset="-122"/>
                <a:cs typeface="Noto Sans JP" pitchFamily="34" charset="-120"/>
              </a:rPr>
              <a:t>リードタイム単独では評価しない</a:t>
            </a:r>
            <a:endParaRPr lang="en-US" sz="1200" dirty="0"/>
          </a:p>
          <a:p>
            <a:pPr algn="l" indent="0" marL="0">
              <a:lnSpc>
                <a:spcPct val="140000"/>
              </a:lnSpc>
              <a:buNone/>
            </a:pPr>
            <a:endParaRPr lang="en-US" sz="1200" dirty="0"/>
          </a:p>
          <a:p>
            <a:pPr algn="l" indent="0" marL="0">
              <a:lnSpc>
                <a:spcPct val="140000"/>
              </a:lnSpc>
              <a:buNone/>
            </a:pPr>
            <a:r>
              <a:rPr lang="en-US" sz="1200" dirty="0">
                <a:solidFill>
                  <a:srgbClr val="927200"/>
                </a:solidFill>
                <a:latin typeface="Noto Sans JP" pitchFamily="34" charset="0"/>
                <a:ea typeface="Noto Sans JP" pitchFamily="34" charset="-122"/>
                <a:cs typeface="Noto Sans JP" pitchFamily="34" charset="-120"/>
              </a:rPr>
              <a:t>早さだけを指標化し目的化してしまうと、レビューやテストの省略・属人化で品質が低下したり、恒常的残業など、持続可能性を損なうことが起きやすい。あくまで「健全な開発フロー上での短縮」が前提。そのため下記サブKPIを内部で健全性を継続的にモニタリングする。</a:t>
            </a:r>
            <a:endParaRPr lang="en-US" sz="1200" dirty="0"/>
          </a:p>
        </p:txBody>
      </p:sp>
      <p:sp>
        <p:nvSpPr>
          <p:cNvPr id="8" name="Text 6"/>
          <p:cNvSpPr/>
          <p:nvPr/>
        </p:nvSpPr>
        <p:spPr>
          <a:xfrm>
            <a:off x="365760" y="1645920"/>
            <a:ext cx="8412480" cy="320040"/>
          </a:xfrm>
          <a:prstGeom prst="rect">
            <a:avLst/>
          </a:prstGeom>
          <a:noFill/>
          <a:ln/>
        </p:spPr>
        <p:txBody>
          <a:bodyPr wrap="square" lIns="0" tIns="0" rIns="0" bIns="0" rtlCol="0" anchor="ctr"/>
          <a:lstStyle/>
          <a:p>
            <a:pPr algn="l" indent="0" marL="0">
              <a:buNone/>
            </a:pPr>
            <a:r>
              <a:rPr lang="en-US" sz="1200" b="1" dirty="0">
                <a:solidFill>
                  <a:srgbClr val="E25100"/>
                </a:solidFill>
                <a:latin typeface="Noto Sans JP" pitchFamily="34" charset="0"/>
                <a:ea typeface="Noto Sans JP" pitchFamily="34" charset="-122"/>
                <a:cs typeface="Noto Sans JP" pitchFamily="34" charset="-120"/>
              </a:rPr>
              <a:t>あくまでチーム改善を促進するための指標として取り扱い、早さを追うことを目的化しない。</a:t>
            </a:r>
            <a:endParaRPr lang="en-US" sz="1200" dirty="0"/>
          </a:p>
        </p:txBody>
      </p:sp>
      <p:sp>
        <p:nvSpPr>
          <p:cNvPr id="9" name="Shape 7"/>
          <p:cNvSpPr/>
          <p:nvPr/>
        </p:nvSpPr>
        <p:spPr>
          <a:xfrm>
            <a:off x="365760" y="2103120"/>
            <a:ext cx="4023360" cy="1645920"/>
          </a:xfrm>
          <a:prstGeom prst="roundRect">
            <a:avLst>
              <a:gd name="adj" fmla="val 1667"/>
            </a:avLst>
          </a:prstGeom>
          <a:solidFill>
            <a:srgbClr val="E8F1FE"/>
          </a:solidFill>
          <a:ln/>
        </p:spPr>
      </p:sp>
      <p:sp>
        <p:nvSpPr>
          <p:cNvPr id="10" name="Text 8"/>
          <p:cNvSpPr/>
          <p:nvPr/>
        </p:nvSpPr>
        <p:spPr>
          <a:xfrm>
            <a:off x="548640" y="2194560"/>
            <a:ext cx="3657600" cy="320040"/>
          </a:xfrm>
          <a:prstGeom prst="rect">
            <a:avLst/>
          </a:prstGeom>
          <a:noFill/>
          <a:ln/>
        </p:spPr>
        <p:txBody>
          <a:bodyPr wrap="square" lIns="0" tIns="0" rIns="0" bIns="0" rtlCol="0" anchor="ctr"/>
          <a:lstStyle/>
          <a:p>
            <a:pPr algn="l" indent="0" marL="0">
              <a:buNone/>
            </a:pPr>
            <a:r>
              <a:rPr lang="en-US" sz="1400" b="1" dirty="0">
                <a:solidFill>
                  <a:srgbClr val="1A1A1A"/>
                </a:solidFill>
                <a:latin typeface="Noto Sans JP" pitchFamily="34" charset="0"/>
                <a:ea typeface="Noto Sans JP" pitchFamily="34" charset="-122"/>
                <a:cs typeface="Noto Sans JP" pitchFamily="34" charset="-120"/>
              </a:rPr>
              <a:t>サブKPI　変更失敗率</a:t>
            </a:r>
            <a:endParaRPr lang="en-US" sz="1400" dirty="0"/>
          </a:p>
        </p:txBody>
      </p:sp>
      <p:sp>
        <p:nvSpPr>
          <p:cNvPr id="11" name="Text 9"/>
          <p:cNvSpPr/>
          <p:nvPr/>
        </p:nvSpPr>
        <p:spPr>
          <a:xfrm>
            <a:off x="548640" y="2606040"/>
            <a:ext cx="3657600" cy="320040"/>
          </a:xfrm>
          <a:prstGeom prst="rect">
            <a:avLst/>
          </a:prstGeom>
          <a:noFill/>
          <a:ln/>
        </p:spPr>
        <p:txBody>
          <a:bodyPr wrap="square" lIns="0" tIns="0" rIns="0" bIns="0" rtlCol="0" anchor="ctr"/>
          <a:lstStyle/>
          <a:p>
            <a:pPr algn="l" indent="0" marL="0">
              <a:buNone/>
            </a:pPr>
            <a:r>
              <a:rPr lang="en-US" sz="1200" dirty="0">
                <a:solidFill>
                  <a:srgbClr val="1A1A1A"/>
                </a:solidFill>
                <a:latin typeface="Noto Sans JP" pitchFamily="34" charset="0"/>
                <a:ea typeface="Noto Sans JP" pitchFamily="34" charset="-122"/>
                <a:cs typeface="Noto Sans JP" pitchFamily="34" charset="-120"/>
              </a:rPr>
              <a:t>リリースのうち障害・ロールバック・緊急修正に至った割合</a:t>
            </a:r>
            <a:endParaRPr lang="en-US" sz="1200" dirty="0"/>
          </a:p>
        </p:txBody>
      </p:sp>
      <p:sp>
        <p:nvSpPr>
          <p:cNvPr id="12" name="Text 10"/>
          <p:cNvSpPr/>
          <p:nvPr/>
        </p:nvSpPr>
        <p:spPr>
          <a:xfrm>
            <a:off x="548640" y="3017520"/>
            <a:ext cx="3657600" cy="320040"/>
          </a:xfrm>
          <a:prstGeom prst="rect">
            <a:avLst/>
          </a:prstGeom>
          <a:noFill/>
          <a:ln/>
        </p:spPr>
        <p:txBody>
          <a:bodyPr wrap="square" lIns="0" tIns="0" rIns="0" bIns="0" rtlCol="0" anchor="ctr"/>
          <a:lstStyle/>
          <a:p>
            <a:pPr algn="l" indent="0" marL="0">
              <a:buNone/>
            </a:pPr>
            <a:r>
              <a:rPr lang="en-US" sz="1300" b="1" dirty="0">
                <a:solidFill>
                  <a:srgbClr val="1A1A1A"/>
                </a:solidFill>
                <a:latin typeface="Noto Sans JP" pitchFamily="34" charset="0"/>
                <a:ea typeface="Noto Sans JP" pitchFamily="34" charset="-122"/>
                <a:cs typeface="Noto Sans JP" pitchFamily="34" charset="-120"/>
              </a:rPr>
              <a:t>目安：15%以下 ＝ 速さと品質の両立</a:t>
            </a:r>
            <a:endParaRPr lang="en-US" sz="1300" dirty="0"/>
          </a:p>
        </p:txBody>
      </p:sp>
      <p:sp>
        <p:nvSpPr>
          <p:cNvPr id="13" name="Shape 11"/>
          <p:cNvSpPr/>
          <p:nvPr/>
        </p:nvSpPr>
        <p:spPr>
          <a:xfrm>
            <a:off x="4754880" y="2103120"/>
            <a:ext cx="4023360" cy="1645920"/>
          </a:xfrm>
          <a:prstGeom prst="roundRect">
            <a:avLst>
              <a:gd name="adj" fmla="val 1667"/>
            </a:avLst>
          </a:prstGeom>
          <a:solidFill>
            <a:srgbClr val="FBF5E0"/>
          </a:solidFill>
          <a:ln/>
        </p:spPr>
      </p:sp>
      <p:sp>
        <p:nvSpPr>
          <p:cNvPr id="14" name="Text 12"/>
          <p:cNvSpPr/>
          <p:nvPr/>
        </p:nvSpPr>
        <p:spPr>
          <a:xfrm>
            <a:off x="4937760" y="2194560"/>
            <a:ext cx="3657600" cy="320040"/>
          </a:xfrm>
          <a:prstGeom prst="rect">
            <a:avLst/>
          </a:prstGeom>
          <a:noFill/>
          <a:ln/>
        </p:spPr>
        <p:txBody>
          <a:bodyPr wrap="square" lIns="0" tIns="0" rIns="0" bIns="0" rtlCol="0" anchor="ctr"/>
          <a:lstStyle/>
          <a:p>
            <a:pPr algn="l" indent="0" marL="0">
              <a:buNone/>
            </a:pPr>
            <a:r>
              <a:rPr lang="en-US" sz="1400" b="1" dirty="0">
                <a:solidFill>
                  <a:srgbClr val="1A1A1A"/>
                </a:solidFill>
                <a:latin typeface="Noto Sans JP" pitchFamily="34" charset="0"/>
                <a:ea typeface="Noto Sans JP" pitchFamily="34" charset="-122"/>
                <a:cs typeface="Noto Sans JP" pitchFamily="34" charset="-120"/>
              </a:rPr>
              <a:t>サブKPI　開発者満足度</a:t>
            </a:r>
            <a:endParaRPr lang="en-US" sz="1400" dirty="0"/>
          </a:p>
        </p:txBody>
      </p:sp>
      <p:sp>
        <p:nvSpPr>
          <p:cNvPr id="15" name="Text 13"/>
          <p:cNvSpPr/>
          <p:nvPr/>
        </p:nvSpPr>
        <p:spPr>
          <a:xfrm>
            <a:off x="4937760" y="2606040"/>
            <a:ext cx="3657600" cy="320040"/>
          </a:xfrm>
          <a:prstGeom prst="rect">
            <a:avLst/>
          </a:prstGeom>
          <a:noFill/>
          <a:ln/>
        </p:spPr>
        <p:txBody>
          <a:bodyPr wrap="square" lIns="0" tIns="0" rIns="0" bIns="0" rtlCol="0" anchor="ctr"/>
          <a:lstStyle/>
          <a:p>
            <a:pPr algn="l" indent="0" marL="0">
              <a:buNone/>
            </a:pPr>
            <a:r>
              <a:rPr lang="en-US" sz="1200" dirty="0">
                <a:solidFill>
                  <a:srgbClr val="1A1A1A"/>
                </a:solidFill>
                <a:latin typeface="Noto Sans JP" pitchFamily="34" charset="0"/>
                <a:ea typeface="Noto Sans JP" pitchFamily="34" charset="-122"/>
                <a:cs typeface="Noto Sans JP" pitchFamily="34" charset="-120"/>
              </a:rPr>
              <a:t>1か月ごとにサーベイで計測（SPACE軸）</a:t>
            </a:r>
            <a:endParaRPr lang="en-US" sz="1200" dirty="0"/>
          </a:p>
        </p:txBody>
      </p:sp>
      <p:sp>
        <p:nvSpPr>
          <p:cNvPr id="16" name="Text 14"/>
          <p:cNvSpPr/>
          <p:nvPr/>
        </p:nvSpPr>
        <p:spPr>
          <a:xfrm>
            <a:off x="4937760" y="3017520"/>
            <a:ext cx="3657600" cy="457200"/>
          </a:xfrm>
          <a:prstGeom prst="rect">
            <a:avLst/>
          </a:prstGeom>
          <a:noFill/>
          <a:ln/>
        </p:spPr>
        <p:txBody>
          <a:bodyPr wrap="square" lIns="0" tIns="0" rIns="0" bIns="0" rtlCol="0" anchor="t"/>
          <a:lstStyle/>
          <a:p>
            <a:pPr algn="l" indent="0" marL="0">
              <a:lnSpc>
                <a:spcPct val="140000"/>
              </a:lnSpc>
              <a:buNone/>
            </a:pPr>
            <a:r>
              <a:rPr lang="en-US" sz="1300" b="1" dirty="0">
                <a:solidFill>
                  <a:srgbClr val="1A1A1A"/>
                </a:solidFill>
                <a:latin typeface="Noto Sans JP" pitchFamily="34" charset="0"/>
                <a:ea typeface="Noto Sans JP" pitchFamily="34" charset="-122"/>
                <a:cs typeface="Noto Sans JP" pitchFamily="34" charset="-120"/>
              </a:rPr>
              <a:t>目安：5段階で平均4.0以上を維持 ＝ ムリなく持続可能に回せているか</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73152"/>
            <a:ext cx="8412480" cy="201168"/>
          </a:xfrm>
          <a:prstGeom prst="rect">
            <a:avLst/>
          </a:prstGeom>
          <a:noFill/>
          <a:ln/>
        </p:spPr>
        <p:txBody>
          <a:bodyPr wrap="square" lIns="0" tIns="0" rIns="0" bIns="0" rtlCol="0" anchor="ctr"/>
          <a:lstStyle/>
          <a:p>
            <a:pPr algn="l" indent="0" marL="0">
              <a:buNone/>
            </a:pPr>
            <a:r>
              <a:rPr lang="en-US" sz="900" dirty="0">
                <a:solidFill>
                  <a:srgbClr val="666666"/>
                </a:solidFill>
                <a:latin typeface="Noto Sans JP" pitchFamily="34" charset="0"/>
                <a:ea typeface="Noto Sans JP" pitchFamily="34" charset="-122"/>
                <a:cs typeface="Noto Sans JP" pitchFamily="34" charset="-120"/>
              </a:rPr>
              <a:t>成果の方程式  &gt;  KPI ① 試行回数</a:t>
            </a:r>
            <a:endParaRPr lang="en-US" sz="900" dirty="0"/>
          </a:p>
        </p:txBody>
      </p:sp>
      <p:sp>
        <p:nvSpPr>
          <p:cNvPr id="3" name="Shape 1"/>
          <p:cNvSpPr/>
          <p:nvPr/>
        </p:nvSpPr>
        <p:spPr>
          <a:xfrm>
            <a:off x="0" y="310896"/>
            <a:ext cx="9144000" cy="9144"/>
          </a:xfrm>
          <a:prstGeom prst="rect">
            <a:avLst/>
          </a:prstGeom>
          <a:solidFill>
            <a:srgbClr val="CCCCCC"/>
          </a:solidFill>
          <a:ln w="12700">
            <a:solidFill>
              <a:srgbClr val="CCCCCC"/>
            </a:solidFill>
            <a:prstDash val="solid"/>
          </a:ln>
        </p:spPr>
      </p:sp>
      <p:sp>
        <p:nvSpPr>
          <p:cNvPr id="4" name="Shape 2"/>
          <p:cNvSpPr/>
          <p:nvPr/>
        </p:nvSpPr>
        <p:spPr>
          <a:xfrm>
            <a:off x="0" y="5084064"/>
            <a:ext cx="7315200" cy="64008"/>
          </a:xfrm>
          <a:prstGeom prst="rect">
            <a:avLst/>
          </a:prstGeom>
          <a:solidFill>
            <a:srgbClr val="00118F"/>
          </a:solidFill>
          <a:ln w="12700">
            <a:solidFill>
              <a:srgbClr val="00118F"/>
            </a:solidFill>
            <a:prstDash val="solid"/>
          </a:ln>
        </p:spPr>
      </p:sp>
      <p:sp>
        <p:nvSpPr>
          <p:cNvPr id="5" name="Shape 3"/>
          <p:cNvSpPr/>
          <p:nvPr/>
        </p:nvSpPr>
        <p:spPr>
          <a:xfrm>
            <a:off x="7315200" y="5084064"/>
            <a:ext cx="1828800" cy="64008"/>
          </a:xfrm>
          <a:prstGeom prst="rect">
            <a:avLst/>
          </a:prstGeom>
          <a:solidFill>
            <a:srgbClr val="FB5B01"/>
          </a:solidFill>
          <a:ln w="12700">
            <a:solidFill>
              <a:srgbClr val="FB5B01"/>
            </a:solidFill>
            <a:prstDash val="solid"/>
          </a:ln>
        </p:spPr>
      </p:sp>
      <p:sp>
        <p:nvSpPr>
          <p:cNvPr id="6" name="Text 4"/>
          <p:cNvSpPr/>
          <p:nvPr/>
        </p:nvSpPr>
        <p:spPr>
          <a:xfrm>
            <a:off x="365760" y="384048"/>
            <a:ext cx="8412480" cy="365760"/>
          </a:xfrm>
          <a:prstGeom prst="rect">
            <a:avLst/>
          </a:prstGeom>
          <a:noFill/>
          <a:ln/>
        </p:spPr>
        <p:txBody>
          <a:bodyPr wrap="square" lIns="0" tIns="0" rIns="0" bIns="0" rtlCol="0" anchor="ctr"/>
          <a:lstStyle/>
          <a:p>
            <a:pPr algn="l" indent="0" marL="0">
              <a:buNone/>
            </a:pPr>
            <a:r>
              <a:rPr lang="en-US" sz="1800" b="1" dirty="0">
                <a:solidFill>
                  <a:srgbClr val="264AF4"/>
                </a:solidFill>
                <a:latin typeface="Noto Sans JP" pitchFamily="34" charset="0"/>
                <a:ea typeface="Noto Sans JP" pitchFamily="34" charset="-122"/>
                <a:cs typeface="Noto Sans JP" pitchFamily="34" charset="-120"/>
              </a:rPr>
              <a:t>KPI ①　試行回数を増やす</a:t>
            </a:r>
            <a:endParaRPr lang="en-US" sz="1800" dirty="0"/>
          </a:p>
        </p:txBody>
      </p:sp>
      <p:sp>
        <p:nvSpPr>
          <p:cNvPr id="7" name="Text 5"/>
          <p:cNvSpPr/>
          <p:nvPr/>
        </p:nvSpPr>
        <p:spPr>
          <a:xfrm>
            <a:off x="365760" y="777240"/>
            <a:ext cx="8412480" cy="365760"/>
          </a:xfrm>
          <a:prstGeom prst="rect">
            <a:avLst/>
          </a:prstGeom>
          <a:noFill/>
          <a:ln/>
        </p:spPr>
        <p:txBody>
          <a:bodyPr wrap="square" lIns="0" tIns="0" rIns="0" bIns="0" rtlCol="0" anchor="ctr"/>
          <a:lstStyle/>
          <a:p>
            <a:pPr algn="l" indent="0" marL="0">
              <a:buNone/>
            </a:pPr>
            <a:r>
              <a:rPr lang="en-US" sz="1500" b="1" dirty="0">
                <a:solidFill>
                  <a:srgbClr val="1A1A1A"/>
                </a:solidFill>
                <a:latin typeface="Noto Sans JP" pitchFamily="34" charset="0"/>
                <a:ea typeface="Noto Sans JP" pitchFamily="34" charset="-122"/>
                <a:cs typeface="Noto Sans JP" pitchFamily="34" charset="-120"/>
              </a:rPr>
              <a:t>顧客価値施策について「要件定義から リリース」までのリードタイムが平均1ヶ月以内</a:t>
            </a:r>
            <a:endParaRPr lang="en-US" sz="1500" dirty="0"/>
          </a:p>
        </p:txBody>
      </p:sp>
      <p:sp>
        <p:nvSpPr>
          <p:cNvPr id="8" name="Shape 6"/>
          <p:cNvSpPr/>
          <p:nvPr/>
        </p:nvSpPr>
        <p:spPr>
          <a:xfrm>
            <a:off x="365760" y="1234440"/>
            <a:ext cx="8412480" cy="9144"/>
          </a:xfrm>
          <a:prstGeom prst="rect">
            <a:avLst/>
          </a:prstGeom>
          <a:solidFill>
            <a:srgbClr val="CCCCCC"/>
          </a:solidFill>
          <a:ln/>
        </p:spPr>
      </p:sp>
      <p:sp>
        <p:nvSpPr>
          <p:cNvPr id="9" name="Shape 7"/>
          <p:cNvSpPr/>
          <p:nvPr/>
        </p:nvSpPr>
        <p:spPr>
          <a:xfrm>
            <a:off x="365760" y="1417320"/>
            <a:ext cx="4069080" cy="3383280"/>
          </a:xfrm>
          <a:prstGeom prst="roundRect">
            <a:avLst>
              <a:gd name="adj" fmla="val 811"/>
            </a:avLst>
          </a:prstGeom>
          <a:solidFill>
            <a:srgbClr val="F2F2F2"/>
          </a:solidFill>
          <a:ln/>
        </p:spPr>
      </p:sp>
      <p:sp>
        <p:nvSpPr>
          <p:cNvPr id="10" name="Text 8"/>
          <p:cNvSpPr/>
          <p:nvPr/>
        </p:nvSpPr>
        <p:spPr>
          <a:xfrm>
            <a:off x="457200" y="1508760"/>
            <a:ext cx="3886200" cy="365760"/>
          </a:xfrm>
          <a:prstGeom prst="rect">
            <a:avLst/>
          </a:prstGeom>
          <a:noFill/>
          <a:ln/>
        </p:spPr>
        <p:txBody>
          <a:bodyPr wrap="square" lIns="0" tIns="0" rIns="0" bIns="0" rtlCol="0" anchor="ctr"/>
          <a:lstStyle/>
          <a:p>
            <a:pPr algn="ctr" indent="0" marL="0">
              <a:buNone/>
            </a:pPr>
            <a:r>
              <a:rPr lang="en-US" sz="1500" b="1" dirty="0">
                <a:solidFill>
                  <a:srgbClr val="666666"/>
                </a:solidFill>
                <a:latin typeface="Noto Sans JP" pitchFamily="34" charset="0"/>
                <a:ea typeface="Noto Sans JP" pitchFamily="34" charset="-122"/>
                <a:cs typeface="Noto Sans JP" pitchFamily="34" charset="-120"/>
              </a:rPr>
              <a:t>現状</a:t>
            </a:r>
            <a:endParaRPr lang="en-US" sz="1500" dirty="0"/>
          </a:p>
        </p:txBody>
      </p:sp>
      <p:sp>
        <p:nvSpPr>
          <p:cNvPr id="11" name="Text 9"/>
          <p:cNvSpPr/>
          <p:nvPr/>
        </p:nvSpPr>
        <p:spPr>
          <a:xfrm>
            <a:off x="502920" y="1920240"/>
            <a:ext cx="3794760" cy="2788920"/>
          </a:xfrm>
          <a:prstGeom prst="rect">
            <a:avLst/>
          </a:prstGeom>
          <a:noFill/>
          <a:ln/>
        </p:spPr>
        <p:txBody>
          <a:bodyPr wrap="square" lIns="0" tIns="0" rIns="0" bIns="0" rtlCol="0" anchor="t"/>
          <a:lstStyle/>
          <a:p>
            <a:pPr marL="342900" indent="-342900">
              <a:lnSpc>
                <a:spcPct val="150000"/>
              </a:lnSpc>
              <a:buSzPct val="100000"/>
              <a:buChar char="•"/>
            </a:pPr>
            <a:r>
              <a:rPr lang="en-US" sz="1300" dirty="0">
                <a:solidFill>
                  <a:srgbClr val="1A1A1A"/>
                </a:solidFill>
                <a:latin typeface="Noto Sans JP" pitchFamily="34" charset="0"/>
                <a:ea typeface="Noto Sans JP" pitchFamily="34" charset="-122"/>
                <a:cs typeface="Noto Sans JP" pitchFamily="34" charset="-120"/>
              </a:rPr>
              <a:t>要件定義→ リリース  2ヶ月〜6か月以上</a:t>
            </a:r>
            <a:endParaRPr lang="en-US" sz="1300" dirty="0"/>
          </a:p>
          <a:p>
            <a:pPr marL="342900" indent="-342900">
              <a:lnSpc>
                <a:spcPct val="150000"/>
              </a:lnSpc>
              <a:buSzPct val="100000"/>
              <a:buChar char="•"/>
            </a:pPr>
            <a:endParaRPr lang="en-US" sz="1300" dirty="0"/>
          </a:p>
          <a:p>
            <a:pPr marL="342900" indent="-342900">
              <a:lnSpc>
                <a:spcPct val="150000"/>
              </a:lnSpc>
              <a:buSzPct val="100000"/>
              <a:buChar char="•"/>
            </a:pPr>
            <a:r>
              <a:rPr lang="en-US" sz="1300" dirty="0">
                <a:solidFill>
                  <a:srgbClr val="1A1A1A"/>
                </a:solidFill>
                <a:latin typeface="Noto Sans JP" pitchFamily="34" charset="0"/>
                <a:ea typeface="Noto Sans JP" pitchFamily="34" charset="-122"/>
                <a:cs typeface="Noto Sans JP" pitchFamily="34" charset="-120"/>
              </a:rPr>
              <a:t>試したい施策が、お客様に届くまでに時間が3ヶ月以上かかる。Krakenなどの大型案件に引きずられ、効果が高い施策を見つけるための試行回数が限られている</a:t>
            </a:r>
            <a:endParaRPr lang="en-US" sz="1300" dirty="0"/>
          </a:p>
        </p:txBody>
      </p:sp>
      <p:sp>
        <p:nvSpPr>
          <p:cNvPr id="12" name="Text 10"/>
          <p:cNvSpPr/>
          <p:nvPr/>
        </p:nvSpPr>
        <p:spPr>
          <a:xfrm>
            <a:off x="4434840" y="2770632"/>
            <a:ext cx="274320" cy="274320"/>
          </a:xfrm>
          <a:prstGeom prst="rect">
            <a:avLst/>
          </a:prstGeom>
          <a:noFill/>
          <a:ln/>
        </p:spPr>
        <p:txBody>
          <a:bodyPr wrap="square" lIns="0" tIns="0" rIns="0" bIns="0" rtlCol="0" anchor="ctr"/>
          <a:lstStyle/>
          <a:p>
            <a:pPr algn="ctr" indent="0" marL="0">
              <a:buNone/>
            </a:pPr>
            <a:r>
              <a:rPr lang="en-US" sz="1800" dirty="0">
                <a:solidFill>
                  <a:srgbClr val="FB5B01"/>
                </a:solidFill>
                <a:latin typeface="Arial" pitchFamily="34" charset="0"/>
                <a:ea typeface="Arial" pitchFamily="34" charset="-122"/>
                <a:cs typeface="Arial" pitchFamily="34" charset="-120"/>
              </a:rPr>
              <a:t>▶</a:t>
            </a:r>
            <a:endParaRPr lang="en-US" sz="1800" dirty="0"/>
          </a:p>
        </p:txBody>
      </p:sp>
      <p:sp>
        <p:nvSpPr>
          <p:cNvPr id="13" name="Shape 11"/>
          <p:cNvSpPr/>
          <p:nvPr/>
        </p:nvSpPr>
        <p:spPr>
          <a:xfrm>
            <a:off x="4709160" y="1417320"/>
            <a:ext cx="4069080" cy="3383280"/>
          </a:xfrm>
          <a:prstGeom prst="roundRect">
            <a:avLst>
              <a:gd name="adj" fmla="val 811"/>
            </a:avLst>
          </a:prstGeom>
          <a:solidFill>
            <a:srgbClr val="F2F2F2"/>
          </a:solidFill>
          <a:ln w="12700">
            <a:solidFill>
              <a:srgbClr val="00118F"/>
            </a:solidFill>
            <a:prstDash val="solid"/>
          </a:ln>
        </p:spPr>
      </p:sp>
      <p:sp>
        <p:nvSpPr>
          <p:cNvPr id="14" name="Text 12"/>
          <p:cNvSpPr/>
          <p:nvPr/>
        </p:nvSpPr>
        <p:spPr>
          <a:xfrm>
            <a:off x="4800600" y="1508760"/>
            <a:ext cx="3886200" cy="365760"/>
          </a:xfrm>
          <a:prstGeom prst="rect">
            <a:avLst/>
          </a:prstGeom>
          <a:noFill/>
          <a:ln/>
        </p:spPr>
        <p:txBody>
          <a:bodyPr wrap="square" lIns="0" tIns="0" rIns="0" bIns="0" rtlCol="0" anchor="ctr"/>
          <a:lstStyle/>
          <a:p>
            <a:pPr algn="ctr" indent="0" marL="0">
              <a:buNone/>
            </a:pPr>
            <a:r>
              <a:rPr lang="en-US" sz="1500" b="1" dirty="0">
                <a:solidFill>
                  <a:srgbClr val="00118F"/>
                </a:solidFill>
                <a:latin typeface="Noto Sans JP" pitchFamily="34" charset="0"/>
                <a:ea typeface="Noto Sans JP" pitchFamily="34" charset="-122"/>
                <a:cs typeface="Noto Sans JP" pitchFamily="34" charset="-120"/>
              </a:rPr>
              <a:t>理想状態</a:t>
            </a:r>
            <a:endParaRPr lang="en-US" sz="1500" dirty="0"/>
          </a:p>
        </p:txBody>
      </p:sp>
      <p:sp>
        <p:nvSpPr>
          <p:cNvPr id="15" name="Text 13"/>
          <p:cNvSpPr/>
          <p:nvPr/>
        </p:nvSpPr>
        <p:spPr>
          <a:xfrm>
            <a:off x="4846320" y="1920240"/>
            <a:ext cx="3794760" cy="2788920"/>
          </a:xfrm>
          <a:prstGeom prst="rect">
            <a:avLst/>
          </a:prstGeom>
          <a:noFill/>
          <a:ln/>
        </p:spPr>
        <p:txBody>
          <a:bodyPr wrap="square" lIns="0" tIns="0" rIns="0" bIns="0" rtlCol="0" anchor="t"/>
          <a:lstStyle/>
          <a:p>
            <a:pPr marL="342900" indent="-342900">
              <a:lnSpc>
                <a:spcPct val="150000"/>
              </a:lnSpc>
              <a:buSzPct val="100000"/>
              <a:buChar char="•"/>
            </a:pPr>
            <a:r>
              <a:rPr lang="en-US" sz="1300" dirty="0">
                <a:solidFill>
                  <a:srgbClr val="1A1A1A"/>
                </a:solidFill>
                <a:latin typeface="Noto Sans JP" pitchFamily="34" charset="0"/>
                <a:ea typeface="Noto Sans JP" pitchFamily="34" charset="-122"/>
                <a:cs typeface="Noto Sans JP" pitchFamily="34" charset="-120"/>
              </a:rPr>
              <a:t>要件定義→ リリース  平均 1ヶ月以内</a:t>
            </a:r>
            <a:endParaRPr lang="en-US" sz="1300" dirty="0"/>
          </a:p>
          <a:p>
            <a:pPr marL="342900" indent="-342900">
              <a:lnSpc>
                <a:spcPct val="150000"/>
              </a:lnSpc>
              <a:buSzPct val="100000"/>
              <a:buChar char="•"/>
            </a:pPr>
            <a:endParaRPr lang="en-US" sz="1300" dirty="0"/>
          </a:p>
          <a:p>
            <a:pPr marL="342900" indent="-342900">
              <a:lnSpc>
                <a:spcPct val="150000"/>
              </a:lnSpc>
              <a:buSzPct val="100000"/>
              <a:buChar char="•"/>
            </a:pPr>
            <a:r>
              <a:rPr lang="en-US" sz="1300" dirty="0">
                <a:solidFill>
                  <a:srgbClr val="1A1A1A"/>
                </a:solidFill>
                <a:latin typeface="Noto Sans JP" pitchFamily="34" charset="0"/>
                <a:ea typeface="Noto Sans JP" pitchFamily="34" charset="-122"/>
                <a:cs typeface="Noto Sans JP" pitchFamily="34" charset="-120"/>
              </a:rPr>
              <a:t>試したい施策を、平均1ヶ月以内にお客様に届けて反応を見れる。試行回数が多いので、当たる施策を早く見つけられる。</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73152"/>
            <a:ext cx="8412480" cy="201168"/>
          </a:xfrm>
          <a:prstGeom prst="rect">
            <a:avLst/>
          </a:prstGeom>
          <a:noFill/>
          <a:ln/>
        </p:spPr>
        <p:txBody>
          <a:bodyPr wrap="square" lIns="0" tIns="0" rIns="0" bIns="0" rtlCol="0" anchor="ctr"/>
          <a:lstStyle/>
          <a:p>
            <a:pPr algn="l" indent="0" marL="0">
              <a:buNone/>
            </a:pPr>
            <a:r>
              <a:rPr lang="en-US" sz="900" dirty="0">
                <a:solidFill>
                  <a:srgbClr val="666666"/>
                </a:solidFill>
                <a:latin typeface="Noto Sans JP" pitchFamily="34" charset="0"/>
                <a:ea typeface="Noto Sans JP" pitchFamily="34" charset="-122"/>
                <a:cs typeface="Noto Sans JP" pitchFamily="34" charset="-120"/>
              </a:rPr>
              <a:t>成果の方程式  &gt;  KPI ② 施策の精度</a:t>
            </a:r>
            <a:endParaRPr lang="en-US" sz="900" dirty="0"/>
          </a:p>
        </p:txBody>
      </p:sp>
      <p:sp>
        <p:nvSpPr>
          <p:cNvPr id="3" name="Shape 1"/>
          <p:cNvSpPr/>
          <p:nvPr/>
        </p:nvSpPr>
        <p:spPr>
          <a:xfrm>
            <a:off x="0" y="310896"/>
            <a:ext cx="9144000" cy="9144"/>
          </a:xfrm>
          <a:prstGeom prst="rect">
            <a:avLst/>
          </a:prstGeom>
          <a:solidFill>
            <a:srgbClr val="CCCCCC"/>
          </a:solidFill>
          <a:ln w="12700">
            <a:solidFill>
              <a:srgbClr val="CCCCCC"/>
            </a:solidFill>
            <a:prstDash val="solid"/>
          </a:ln>
        </p:spPr>
      </p:sp>
      <p:sp>
        <p:nvSpPr>
          <p:cNvPr id="4" name="Shape 2"/>
          <p:cNvSpPr/>
          <p:nvPr/>
        </p:nvSpPr>
        <p:spPr>
          <a:xfrm>
            <a:off x="0" y="5084064"/>
            <a:ext cx="7315200" cy="64008"/>
          </a:xfrm>
          <a:prstGeom prst="rect">
            <a:avLst/>
          </a:prstGeom>
          <a:solidFill>
            <a:srgbClr val="00118F"/>
          </a:solidFill>
          <a:ln w="12700">
            <a:solidFill>
              <a:srgbClr val="00118F"/>
            </a:solidFill>
            <a:prstDash val="solid"/>
          </a:ln>
        </p:spPr>
      </p:sp>
      <p:sp>
        <p:nvSpPr>
          <p:cNvPr id="5" name="Shape 3"/>
          <p:cNvSpPr/>
          <p:nvPr/>
        </p:nvSpPr>
        <p:spPr>
          <a:xfrm>
            <a:off x="7315200" y="5084064"/>
            <a:ext cx="1828800" cy="64008"/>
          </a:xfrm>
          <a:prstGeom prst="rect">
            <a:avLst/>
          </a:prstGeom>
          <a:solidFill>
            <a:srgbClr val="FB5B01"/>
          </a:solidFill>
          <a:ln w="12700">
            <a:solidFill>
              <a:srgbClr val="FB5B01"/>
            </a:solidFill>
            <a:prstDash val="solid"/>
          </a:ln>
        </p:spPr>
      </p:sp>
      <p:sp>
        <p:nvSpPr>
          <p:cNvPr id="6" name="Text 4"/>
          <p:cNvSpPr/>
          <p:nvPr/>
        </p:nvSpPr>
        <p:spPr>
          <a:xfrm>
            <a:off x="365760" y="384048"/>
            <a:ext cx="8412480" cy="365760"/>
          </a:xfrm>
          <a:prstGeom prst="rect">
            <a:avLst/>
          </a:prstGeom>
          <a:noFill/>
          <a:ln/>
        </p:spPr>
        <p:txBody>
          <a:bodyPr wrap="square" lIns="0" tIns="0" rIns="0" bIns="0" rtlCol="0" anchor="ctr"/>
          <a:lstStyle/>
          <a:p>
            <a:pPr algn="l" indent="0" marL="0">
              <a:buNone/>
            </a:pPr>
            <a:r>
              <a:rPr lang="en-US" sz="1800" b="1" dirty="0">
                <a:solidFill>
                  <a:srgbClr val="264AF4"/>
                </a:solidFill>
                <a:latin typeface="Noto Sans JP" pitchFamily="34" charset="0"/>
                <a:ea typeface="Noto Sans JP" pitchFamily="34" charset="-122"/>
                <a:cs typeface="Noto Sans JP" pitchFamily="34" charset="-120"/>
              </a:rPr>
              <a:t>KPI ②　施策の精度を上げる</a:t>
            </a:r>
            <a:endParaRPr lang="en-US" sz="1800" dirty="0"/>
          </a:p>
        </p:txBody>
      </p:sp>
      <p:sp>
        <p:nvSpPr>
          <p:cNvPr id="7" name="Text 5"/>
          <p:cNvSpPr/>
          <p:nvPr/>
        </p:nvSpPr>
        <p:spPr>
          <a:xfrm>
            <a:off x="365760" y="777240"/>
            <a:ext cx="8412480" cy="365760"/>
          </a:xfrm>
          <a:prstGeom prst="rect">
            <a:avLst/>
          </a:prstGeom>
          <a:noFill/>
          <a:ln/>
        </p:spPr>
        <p:txBody>
          <a:bodyPr wrap="square" lIns="0" tIns="0" rIns="0" bIns="0" rtlCol="0" anchor="ctr"/>
          <a:lstStyle/>
          <a:p>
            <a:pPr algn="l" indent="0" marL="0">
              <a:buNone/>
            </a:pPr>
            <a:r>
              <a:rPr lang="en-US" sz="1500" b="1" dirty="0">
                <a:solidFill>
                  <a:srgbClr val="1A1A1A"/>
                </a:solidFill>
                <a:latin typeface="Noto Sans JP" pitchFamily="34" charset="0"/>
                <a:ea typeface="Noto Sans JP" pitchFamily="34" charset="-122"/>
                <a:cs typeface="Noto Sans JP" pitchFamily="34" charset="-120"/>
              </a:rPr>
              <a:t>「リリース後の検証から次の施策への反映」までのリードタイムが平均1ヶ月以内</a:t>
            </a:r>
            <a:endParaRPr lang="en-US" sz="1500" dirty="0"/>
          </a:p>
        </p:txBody>
      </p:sp>
      <p:sp>
        <p:nvSpPr>
          <p:cNvPr id="8" name="Shape 6"/>
          <p:cNvSpPr/>
          <p:nvPr/>
        </p:nvSpPr>
        <p:spPr>
          <a:xfrm>
            <a:off x="365760" y="1234440"/>
            <a:ext cx="8412480" cy="9144"/>
          </a:xfrm>
          <a:prstGeom prst="rect">
            <a:avLst/>
          </a:prstGeom>
          <a:solidFill>
            <a:srgbClr val="CCCCCC"/>
          </a:solidFill>
          <a:ln/>
        </p:spPr>
      </p:sp>
      <p:sp>
        <p:nvSpPr>
          <p:cNvPr id="9" name="Shape 7"/>
          <p:cNvSpPr/>
          <p:nvPr/>
        </p:nvSpPr>
        <p:spPr>
          <a:xfrm>
            <a:off x="365760" y="1417320"/>
            <a:ext cx="4069080" cy="3383280"/>
          </a:xfrm>
          <a:prstGeom prst="roundRect">
            <a:avLst>
              <a:gd name="adj" fmla="val 811"/>
            </a:avLst>
          </a:prstGeom>
          <a:solidFill>
            <a:srgbClr val="F2F2F2"/>
          </a:solidFill>
          <a:ln/>
        </p:spPr>
      </p:sp>
      <p:sp>
        <p:nvSpPr>
          <p:cNvPr id="10" name="Text 8"/>
          <p:cNvSpPr/>
          <p:nvPr/>
        </p:nvSpPr>
        <p:spPr>
          <a:xfrm>
            <a:off x="457200" y="1508760"/>
            <a:ext cx="3886200" cy="365760"/>
          </a:xfrm>
          <a:prstGeom prst="rect">
            <a:avLst/>
          </a:prstGeom>
          <a:noFill/>
          <a:ln/>
        </p:spPr>
        <p:txBody>
          <a:bodyPr wrap="square" lIns="0" tIns="0" rIns="0" bIns="0" rtlCol="0" anchor="ctr"/>
          <a:lstStyle/>
          <a:p>
            <a:pPr algn="ctr" indent="0" marL="0">
              <a:buNone/>
            </a:pPr>
            <a:r>
              <a:rPr lang="en-US" sz="1500" b="1" dirty="0">
                <a:solidFill>
                  <a:srgbClr val="666666"/>
                </a:solidFill>
                <a:latin typeface="Noto Sans JP" pitchFamily="34" charset="0"/>
                <a:ea typeface="Noto Sans JP" pitchFamily="34" charset="-122"/>
                <a:cs typeface="Noto Sans JP" pitchFamily="34" charset="-120"/>
              </a:rPr>
              <a:t>現状</a:t>
            </a:r>
            <a:endParaRPr lang="en-US" sz="1500" dirty="0"/>
          </a:p>
        </p:txBody>
      </p:sp>
      <p:sp>
        <p:nvSpPr>
          <p:cNvPr id="11" name="Text 9"/>
          <p:cNvSpPr/>
          <p:nvPr/>
        </p:nvSpPr>
        <p:spPr>
          <a:xfrm>
            <a:off x="502920" y="1920240"/>
            <a:ext cx="3794760" cy="2788920"/>
          </a:xfrm>
          <a:prstGeom prst="rect">
            <a:avLst/>
          </a:prstGeom>
          <a:noFill/>
          <a:ln/>
        </p:spPr>
        <p:txBody>
          <a:bodyPr wrap="square" lIns="0" tIns="0" rIns="0" bIns="0" rtlCol="0" anchor="t"/>
          <a:lstStyle/>
          <a:p>
            <a:pPr marL="342900" indent="-342900">
              <a:lnSpc>
                <a:spcPct val="150000"/>
              </a:lnSpc>
              <a:buSzPct val="100000"/>
              <a:buChar char="•"/>
            </a:pPr>
            <a:r>
              <a:rPr lang="en-US" sz="1300" dirty="0">
                <a:solidFill>
                  <a:srgbClr val="1A1A1A"/>
                </a:solidFill>
                <a:latin typeface="Noto Sans JP" pitchFamily="34" charset="0"/>
                <a:ea typeface="Noto Sans JP" pitchFamily="34" charset="-122"/>
                <a:cs typeface="Noto Sans JP" pitchFamily="34" charset="-120"/>
              </a:rPr>
              <a:t>検証 → 次の施策へ反映  3ヶ月以上 or 未反映</a:t>
            </a:r>
            <a:endParaRPr lang="en-US" sz="1300" dirty="0"/>
          </a:p>
          <a:p>
            <a:pPr marL="342900" indent="-342900">
              <a:lnSpc>
                <a:spcPct val="150000"/>
              </a:lnSpc>
              <a:buSzPct val="100000"/>
              <a:buChar char="•"/>
            </a:pPr>
            <a:endParaRPr lang="en-US" sz="1300" dirty="0"/>
          </a:p>
          <a:p>
            <a:pPr marL="342900" indent="-342900">
              <a:lnSpc>
                <a:spcPct val="150000"/>
              </a:lnSpc>
              <a:buSzPct val="100000"/>
              <a:buChar char="•"/>
            </a:pPr>
            <a:r>
              <a:rPr lang="en-US" sz="1300" dirty="0">
                <a:solidFill>
                  <a:srgbClr val="1A1A1A"/>
                </a:solidFill>
                <a:latin typeface="Noto Sans JP" pitchFamily="34" charset="0"/>
                <a:ea typeface="Noto Sans JP" pitchFamily="34" charset="-122"/>
                <a:cs typeface="Noto Sans JP" pitchFamily="34" charset="-120"/>
              </a:rPr>
              <a:t>開発要件が大きいまま着手すると、小さく検証する余地がない。効果が出るかわからないまま時間がかかってしまい、結果として施策の精度が上がらない悪循環となっている。</a:t>
            </a:r>
            <a:endParaRPr lang="en-US" sz="1300" dirty="0"/>
          </a:p>
        </p:txBody>
      </p:sp>
      <p:sp>
        <p:nvSpPr>
          <p:cNvPr id="12" name="Text 10"/>
          <p:cNvSpPr/>
          <p:nvPr/>
        </p:nvSpPr>
        <p:spPr>
          <a:xfrm>
            <a:off x="4434840" y="2770632"/>
            <a:ext cx="274320" cy="274320"/>
          </a:xfrm>
          <a:prstGeom prst="rect">
            <a:avLst/>
          </a:prstGeom>
          <a:noFill/>
          <a:ln/>
        </p:spPr>
        <p:txBody>
          <a:bodyPr wrap="square" lIns="0" tIns="0" rIns="0" bIns="0" rtlCol="0" anchor="ctr"/>
          <a:lstStyle/>
          <a:p>
            <a:pPr algn="ctr" indent="0" marL="0">
              <a:buNone/>
            </a:pPr>
            <a:r>
              <a:rPr lang="en-US" sz="1800" dirty="0">
                <a:solidFill>
                  <a:srgbClr val="FB5B01"/>
                </a:solidFill>
                <a:latin typeface="Arial" pitchFamily="34" charset="0"/>
                <a:ea typeface="Arial" pitchFamily="34" charset="-122"/>
                <a:cs typeface="Arial" pitchFamily="34" charset="-120"/>
              </a:rPr>
              <a:t>▶</a:t>
            </a:r>
            <a:endParaRPr lang="en-US" sz="1800" dirty="0"/>
          </a:p>
        </p:txBody>
      </p:sp>
      <p:sp>
        <p:nvSpPr>
          <p:cNvPr id="13" name="Shape 11"/>
          <p:cNvSpPr/>
          <p:nvPr/>
        </p:nvSpPr>
        <p:spPr>
          <a:xfrm>
            <a:off x="4709160" y="1417320"/>
            <a:ext cx="4069080" cy="3383280"/>
          </a:xfrm>
          <a:prstGeom prst="roundRect">
            <a:avLst>
              <a:gd name="adj" fmla="val 811"/>
            </a:avLst>
          </a:prstGeom>
          <a:solidFill>
            <a:srgbClr val="F2F2F2"/>
          </a:solidFill>
          <a:ln w="12700">
            <a:solidFill>
              <a:srgbClr val="00118F"/>
            </a:solidFill>
            <a:prstDash val="solid"/>
          </a:ln>
        </p:spPr>
      </p:sp>
      <p:sp>
        <p:nvSpPr>
          <p:cNvPr id="14" name="Text 12"/>
          <p:cNvSpPr/>
          <p:nvPr/>
        </p:nvSpPr>
        <p:spPr>
          <a:xfrm>
            <a:off x="4800600" y="1508760"/>
            <a:ext cx="3886200" cy="365760"/>
          </a:xfrm>
          <a:prstGeom prst="rect">
            <a:avLst/>
          </a:prstGeom>
          <a:noFill/>
          <a:ln/>
        </p:spPr>
        <p:txBody>
          <a:bodyPr wrap="square" lIns="0" tIns="0" rIns="0" bIns="0" rtlCol="0" anchor="ctr"/>
          <a:lstStyle/>
          <a:p>
            <a:pPr algn="ctr" indent="0" marL="0">
              <a:buNone/>
            </a:pPr>
            <a:r>
              <a:rPr lang="en-US" sz="1500" b="1" dirty="0">
                <a:solidFill>
                  <a:srgbClr val="00118F"/>
                </a:solidFill>
                <a:latin typeface="Noto Sans JP" pitchFamily="34" charset="0"/>
                <a:ea typeface="Noto Sans JP" pitchFamily="34" charset="-122"/>
                <a:cs typeface="Noto Sans JP" pitchFamily="34" charset="-120"/>
              </a:rPr>
              <a:t>理想状態</a:t>
            </a:r>
            <a:endParaRPr lang="en-US" sz="1500" dirty="0"/>
          </a:p>
        </p:txBody>
      </p:sp>
      <p:sp>
        <p:nvSpPr>
          <p:cNvPr id="15" name="Text 13"/>
          <p:cNvSpPr/>
          <p:nvPr/>
        </p:nvSpPr>
        <p:spPr>
          <a:xfrm>
            <a:off x="4846320" y="1920240"/>
            <a:ext cx="3794760" cy="2788920"/>
          </a:xfrm>
          <a:prstGeom prst="rect">
            <a:avLst/>
          </a:prstGeom>
          <a:noFill/>
          <a:ln/>
        </p:spPr>
        <p:txBody>
          <a:bodyPr wrap="square" lIns="0" tIns="0" rIns="0" bIns="0" rtlCol="0" anchor="t"/>
          <a:lstStyle/>
          <a:p>
            <a:pPr marL="342900" indent="-342900">
              <a:lnSpc>
                <a:spcPct val="150000"/>
              </a:lnSpc>
              <a:buSzPct val="100000"/>
              <a:buChar char="•"/>
            </a:pPr>
            <a:r>
              <a:rPr lang="en-US" sz="1300" dirty="0">
                <a:solidFill>
                  <a:srgbClr val="1A1A1A"/>
                </a:solidFill>
                <a:latin typeface="Noto Sans JP" pitchFamily="34" charset="0"/>
                <a:ea typeface="Noto Sans JP" pitchFamily="34" charset="-122"/>
                <a:cs typeface="Noto Sans JP" pitchFamily="34" charset="-120"/>
              </a:rPr>
              <a:t>検証 → 次の開発へ反映  平均 1ヶ月以内</a:t>
            </a:r>
            <a:endParaRPr lang="en-US" sz="1300" dirty="0"/>
          </a:p>
          <a:p>
            <a:pPr marL="342900" indent="-342900">
              <a:lnSpc>
                <a:spcPct val="150000"/>
              </a:lnSpc>
              <a:buSzPct val="100000"/>
              <a:buChar char="•"/>
            </a:pPr>
            <a:endParaRPr lang="en-US" sz="1300" dirty="0"/>
          </a:p>
          <a:p>
            <a:pPr marL="342900" indent="-342900">
              <a:lnSpc>
                <a:spcPct val="150000"/>
              </a:lnSpc>
              <a:buSzPct val="100000"/>
              <a:buChar char="•"/>
            </a:pPr>
            <a:r>
              <a:rPr lang="en-US" sz="1300" dirty="0">
                <a:solidFill>
                  <a:srgbClr val="1A1A1A"/>
                </a:solidFill>
                <a:latin typeface="Noto Sans JP" pitchFamily="34" charset="0"/>
                <a:ea typeface="Noto Sans JP" pitchFamily="34" charset="-122"/>
                <a:cs typeface="Noto Sans JP" pitchFamily="34" charset="-120"/>
              </a:rPr>
              <a:t>検証結果をもとに、効かない施策を早く止め、効く施策に人手を集中できる。同じリソースでも成果に繋がる仕事の比率が上がる。</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2026-04-16T00:23:37Z</dcterms:created>
  <dcterms:modified xsi:type="dcterms:W3CDTF">2026-04-16T00:23:37Z</dcterms:modified>
</cp:coreProperties>
</file>