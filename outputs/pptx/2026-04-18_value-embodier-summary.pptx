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Shape 2"/>
          <p:cNvSpPr/>
          <p:nvPr/>
        </p:nvSpPr>
        <p:spPr>
          <a:xfrm>
            <a:off x="0" y="0"/>
            <a:ext cx="9144000" cy="731520"/>
          </a:xfrm>
          <a:prstGeom prst="rect">
            <a:avLst/>
          </a:prstGeom>
          <a:solidFill>
            <a:srgbClr val="004098"/>
          </a:solidFill>
          <a:ln/>
        </p:spPr>
      </p:sp>
      <p:sp>
        <p:nvSpPr>
          <p:cNvPr id="5" name="Shape 3"/>
          <p:cNvSpPr/>
          <p:nvPr/>
        </p:nvSpPr>
        <p:spPr>
          <a:xfrm>
            <a:off x="548640" y="731520"/>
            <a:ext cx="1097280" cy="36576"/>
          </a:xfrm>
          <a:prstGeom prst="rect">
            <a:avLst/>
          </a:prstGeom>
          <a:solidFill>
            <a:srgbClr val="DC2626"/>
          </a:solidFill>
          <a:ln/>
        </p:spPr>
      </p:sp>
      <p:sp>
        <p:nvSpPr>
          <p:cNvPr id="6" name="Text 4"/>
          <p:cNvSpPr/>
          <p:nvPr/>
        </p:nvSpPr>
        <p:spPr>
          <a:xfrm>
            <a:off x="548640" y="1097280"/>
            <a:ext cx="8046720" cy="1463040"/>
          </a:xfrm>
          <a:prstGeom prst="rect">
            <a:avLst/>
          </a:prstGeom>
          <a:noFill/>
          <a:ln/>
        </p:spPr>
        <p:txBody>
          <a:bodyPr wrap="square" lIns="0" tIns="0" rIns="0" bIns="0" rtlCol="0" anchor="ctr"/>
          <a:lstStyle/>
          <a:p>
            <a:pPr algn="l" indent="0" marL="0">
              <a:lnSpc>
                <a:spcPct val="120000"/>
              </a:lnSpc>
              <a:buNone/>
            </a:pPr>
            <a:r>
              <a:rPr lang="en-US" sz="3600" b="1" dirty="0">
                <a:solidFill>
                  <a:srgbClr val="004098"/>
                </a:solidFill>
                <a:latin typeface="Meiryo" pitchFamily="34" charset="0"/>
                <a:ea typeface="Meiryo" pitchFamily="34" charset="-122"/>
                <a:cs typeface="Meiryo" pitchFamily="34" charset="-120"/>
              </a:rPr>
              <a:t>FY2025 Value体現者アンケート サマリー</a:t>
            </a:r>
            <a:endParaRPr lang="en-US" sz="3600" dirty="0"/>
          </a:p>
        </p:txBody>
      </p:sp>
      <p:sp>
        <p:nvSpPr>
          <p:cNvPr id="7" name="Text 5"/>
          <p:cNvSpPr/>
          <p:nvPr/>
        </p:nvSpPr>
        <p:spPr>
          <a:xfrm>
            <a:off x="548640" y="2651760"/>
            <a:ext cx="8046720" cy="457200"/>
          </a:xfrm>
          <a:prstGeom prst="rect">
            <a:avLst/>
          </a:prstGeom>
          <a:noFill/>
          <a:ln/>
        </p:spPr>
        <p:txBody>
          <a:bodyPr wrap="square" lIns="0" tIns="0" rIns="0" bIns="0" rtlCol="0" anchor="t"/>
          <a:lstStyle/>
          <a:p>
            <a:pPr algn="l" indent="0" marL="0">
              <a:buNone/>
            </a:pPr>
            <a:r>
              <a:rPr lang="en-US" sz="1600" dirty="0">
                <a:solidFill>
                  <a:srgbClr val="444466"/>
                </a:solidFill>
                <a:latin typeface="Meiryo" pitchFamily="34" charset="0"/>
                <a:ea typeface="Meiryo" pitchFamily="34" charset="-122"/>
                <a:cs typeface="Meiryo" pitchFamily="34" charset="-120"/>
              </a:rPr>
              <a:t>28名・82コメントから読み解く、FY2025のValue体現パターン</a:t>
            </a:r>
            <a:endParaRPr lang="en-US" sz="1600" dirty="0"/>
          </a:p>
        </p:txBody>
      </p:sp>
      <p:sp>
        <p:nvSpPr>
          <p:cNvPr id="8" name="Text 6"/>
          <p:cNvSpPr/>
          <p:nvPr/>
        </p:nvSpPr>
        <p:spPr>
          <a:xfrm>
            <a:off x="548640" y="3383280"/>
            <a:ext cx="3657600" cy="274320"/>
          </a:xfrm>
          <a:prstGeom prst="rect">
            <a:avLst/>
          </a:prstGeom>
          <a:noFill/>
          <a:ln/>
        </p:spPr>
        <p:txBody>
          <a:bodyPr wrap="square" rtlCol="0" anchor="ctr"/>
          <a:lstStyle/>
          <a:p>
            <a:pPr algn="l" indent="0" marL="0">
              <a:buNone/>
            </a:pPr>
            <a:r>
              <a:rPr lang="en-US" sz="1200" dirty="0">
                <a:solidFill>
                  <a:srgbClr val="444466"/>
                </a:solidFill>
                <a:latin typeface="Arial" pitchFamily="34" charset="0"/>
                <a:ea typeface="Arial" pitchFamily="34" charset="-122"/>
                <a:cs typeface="Arial" pitchFamily="34" charset="-120"/>
              </a:rPr>
              <a:t>2026-04-18</a:t>
            </a:r>
            <a:endParaRPr lang="en-US" sz="1200" dirty="0"/>
          </a:p>
        </p:txBody>
      </p:sp>
      <p:sp>
        <p:nvSpPr>
          <p:cNvPr id="9" name="Text 7"/>
          <p:cNvSpPr/>
          <p:nvPr/>
        </p:nvSpPr>
        <p:spPr>
          <a:xfrm>
            <a:off x="548640" y="3657600"/>
            <a:ext cx="3657600" cy="274320"/>
          </a:xfrm>
          <a:prstGeom prst="rect">
            <a:avLst/>
          </a:prstGeom>
          <a:noFill/>
          <a:ln/>
        </p:spPr>
        <p:txBody>
          <a:bodyPr wrap="square" rtlCol="0" anchor="ctr"/>
          <a:lstStyle/>
          <a:p>
            <a:pPr algn="l" indent="0" marL="0">
              <a:buNone/>
            </a:pPr>
            <a:r>
              <a:rPr lang="en-US" sz="1200" dirty="0">
                <a:solidFill>
                  <a:srgbClr val="444466"/>
                </a:solidFill>
                <a:latin typeface="Meiryo" pitchFamily="34" charset="0"/>
                <a:ea typeface="Meiryo" pitchFamily="34" charset="-122"/>
                <a:cs typeface="Meiryo" pitchFamily="34" charset="-120"/>
              </a:rPr>
              <a:t>デジタル/プロダクト開発</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デジタル/プロダクト開発  /  Value体現者サマリー</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Meiryo" pitchFamily="34" charset="0"/>
                <a:ea typeface="Meiryo" pitchFamily="34" charset="-122"/>
                <a:cs typeface="Meiryo" pitchFamily="34" charset="-120"/>
              </a:rPr>
              <a:t>28名・82件のコメントが集まり、3つのValueは現場で確かに体現されていた</a:t>
            </a:r>
            <a:endParaRPr lang="en-US" sz="22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sp>
        <p:nvSpPr>
          <p:cNvPr id="8" name="Shape 6"/>
          <p:cNvSpPr/>
          <p:nvPr/>
        </p:nvSpPr>
        <p:spPr>
          <a:xfrm>
            <a:off x="365760" y="1554480"/>
            <a:ext cx="2651760" cy="2194560"/>
          </a:xfrm>
          <a:prstGeom prst="roundRect">
            <a:avLst>
              <a:gd name="adj" fmla="val 1250"/>
            </a:avLst>
          </a:prstGeom>
          <a:solidFill>
            <a:srgbClr val="EEF3FA"/>
          </a:solidFill>
          <a:ln/>
          <a:effectLst>
            <a:outerShdw sx="100000" sy="100000" kx="0" ky="0" algn="bl" rotWithShape="0" blurRad="50800" dist="25400" dir="8100000">
              <a:srgbClr val="000000">
                <a:alpha val="8000"/>
              </a:srgbClr>
            </a:outerShdw>
          </a:effectLst>
        </p:spPr>
      </p:sp>
      <p:sp>
        <p:nvSpPr>
          <p:cNvPr id="9" name="Text 7"/>
          <p:cNvSpPr/>
          <p:nvPr/>
        </p:nvSpPr>
        <p:spPr>
          <a:xfrm>
            <a:off x="457200" y="1645920"/>
            <a:ext cx="2468880" cy="1097280"/>
          </a:xfrm>
          <a:prstGeom prst="rect">
            <a:avLst/>
          </a:prstGeom>
          <a:noFill/>
          <a:ln/>
        </p:spPr>
        <p:txBody>
          <a:bodyPr wrap="square" lIns="0" tIns="0" rIns="0" bIns="0" rtlCol="0" anchor="b"/>
          <a:lstStyle/>
          <a:p>
            <a:pPr algn="ctr" indent="0" marL="0">
              <a:buNone/>
            </a:pPr>
            <a:r>
              <a:rPr lang="en-US" sz="4400" b="1" dirty="0">
                <a:solidFill>
                  <a:srgbClr val="004098"/>
                </a:solidFill>
                <a:latin typeface="Arial" pitchFamily="34" charset="0"/>
                <a:ea typeface="Arial" pitchFamily="34" charset="-122"/>
                <a:cs typeface="Arial" pitchFamily="34" charset="-120"/>
              </a:rPr>
              <a:t>28</a:t>
            </a:r>
            <a:pPr algn="ctr" indent="0" marL="0">
              <a:buNone/>
            </a:pPr>
            <a:r>
              <a:rPr lang="en-US" sz="1600" dirty="0">
                <a:solidFill>
                  <a:srgbClr val="004098"/>
                </a:solidFill>
                <a:latin typeface="Arial" pitchFamily="34" charset="0"/>
                <a:ea typeface="Arial" pitchFamily="34" charset="-122"/>
                <a:cs typeface="Arial" pitchFamily="34" charset="-120"/>
              </a:rPr>
              <a:t>名</a:t>
            </a:r>
            <a:endParaRPr lang="en-US" sz="4400" dirty="0"/>
          </a:p>
        </p:txBody>
      </p:sp>
      <p:sp>
        <p:nvSpPr>
          <p:cNvPr id="10" name="Text 8"/>
          <p:cNvSpPr/>
          <p:nvPr/>
        </p:nvSpPr>
        <p:spPr>
          <a:xfrm>
            <a:off x="457200" y="2761488"/>
            <a:ext cx="2468880" cy="438912"/>
          </a:xfrm>
          <a:prstGeom prst="rect">
            <a:avLst/>
          </a:prstGeom>
          <a:noFill/>
          <a:ln/>
        </p:spPr>
        <p:txBody>
          <a:bodyPr wrap="square" lIns="0" tIns="0" rIns="0" bIns="0" rtlCol="0" anchor="ctr"/>
          <a:lstStyle/>
          <a:p>
            <a:pPr algn="ctr" indent="0" marL="0">
              <a:buNone/>
            </a:pPr>
            <a:r>
              <a:rPr lang="en-US" sz="1200" dirty="0">
                <a:solidFill>
                  <a:srgbClr val="444466"/>
                </a:solidFill>
                <a:latin typeface="Meiryo" pitchFamily="34" charset="0"/>
                <a:ea typeface="Meiryo" pitchFamily="34" charset="-122"/>
                <a:cs typeface="Meiryo" pitchFamily="34" charset="-120"/>
              </a:rPr>
              <a:t>体現者として名指しされたメンバー</a:t>
            </a:r>
            <a:endParaRPr lang="en-US" sz="1200" dirty="0"/>
          </a:p>
        </p:txBody>
      </p:sp>
      <p:sp>
        <p:nvSpPr>
          <p:cNvPr id="11" name="Shape 9"/>
          <p:cNvSpPr/>
          <p:nvPr/>
        </p:nvSpPr>
        <p:spPr>
          <a:xfrm>
            <a:off x="3246120" y="1554480"/>
            <a:ext cx="2651760" cy="2194560"/>
          </a:xfrm>
          <a:prstGeom prst="roundRect">
            <a:avLst>
              <a:gd name="adj" fmla="val 1250"/>
            </a:avLst>
          </a:prstGeom>
          <a:solidFill>
            <a:srgbClr val="EEF3FA"/>
          </a:solidFill>
          <a:ln/>
          <a:effectLst>
            <a:outerShdw sx="100000" sy="100000" kx="0" ky="0" algn="bl" rotWithShape="0" blurRad="50800" dist="25400" dir="8100000">
              <a:srgbClr val="000000">
                <a:alpha val="8000"/>
              </a:srgbClr>
            </a:outerShdw>
          </a:effectLst>
        </p:spPr>
      </p:sp>
      <p:sp>
        <p:nvSpPr>
          <p:cNvPr id="12" name="Text 10"/>
          <p:cNvSpPr/>
          <p:nvPr/>
        </p:nvSpPr>
        <p:spPr>
          <a:xfrm>
            <a:off x="3337560" y="1645920"/>
            <a:ext cx="2468880" cy="1097280"/>
          </a:xfrm>
          <a:prstGeom prst="rect">
            <a:avLst/>
          </a:prstGeom>
          <a:noFill/>
          <a:ln/>
        </p:spPr>
        <p:txBody>
          <a:bodyPr wrap="square" lIns="0" tIns="0" rIns="0" bIns="0" rtlCol="0" anchor="b"/>
          <a:lstStyle/>
          <a:p>
            <a:pPr algn="ctr" indent="0" marL="0">
              <a:buNone/>
            </a:pPr>
            <a:r>
              <a:rPr lang="en-US" sz="4400" b="1" dirty="0">
                <a:solidFill>
                  <a:srgbClr val="0891B2"/>
                </a:solidFill>
                <a:latin typeface="Arial" pitchFamily="34" charset="0"/>
                <a:ea typeface="Arial" pitchFamily="34" charset="-122"/>
                <a:cs typeface="Arial" pitchFamily="34" charset="-120"/>
              </a:rPr>
              <a:t>82</a:t>
            </a:r>
            <a:pPr algn="ctr" indent="0" marL="0">
              <a:buNone/>
            </a:pPr>
            <a:r>
              <a:rPr lang="en-US" sz="1600" dirty="0">
                <a:solidFill>
                  <a:srgbClr val="0891B2"/>
                </a:solidFill>
                <a:latin typeface="Arial" pitchFamily="34" charset="0"/>
                <a:ea typeface="Arial" pitchFamily="34" charset="-122"/>
                <a:cs typeface="Arial" pitchFamily="34" charset="-120"/>
              </a:rPr>
              <a:t>件</a:t>
            </a:r>
            <a:endParaRPr lang="en-US" sz="4400" dirty="0"/>
          </a:p>
        </p:txBody>
      </p:sp>
      <p:sp>
        <p:nvSpPr>
          <p:cNvPr id="13" name="Text 11"/>
          <p:cNvSpPr/>
          <p:nvPr/>
        </p:nvSpPr>
        <p:spPr>
          <a:xfrm>
            <a:off x="3337560" y="2761488"/>
            <a:ext cx="2468880" cy="438912"/>
          </a:xfrm>
          <a:prstGeom prst="rect">
            <a:avLst/>
          </a:prstGeom>
          <a:noFill/>
          <a:ln/>
        </p:spPr>
        <p:txBody>
          <a:bodyPr wrap="square" lIns="0" tIns="0" rIns="0" bIns="0" rtlCol="0" anchor="ctr"/>
          <a:lstStyle/>
          <a:p>
            <a:pPr algn="ctr" indent="0" marL="0">
              <a:buNone/>
            </a:pPr>
            <a:r>
              <a:rPr lang="en-US" sz="1200" dirty="0">
                <a:solidFill>
                  <a:srgbClr val="444466"/>
                </a:solidFill>
                <a:latin typeface="Meiryo" pitchFamily="34" charset="0"/>
                <a:ea typeface="Meiryo" pitchFamily="34" charset="-122"/>
                <a:cs typeface="Meiryo" pitchFamily="34" charset="-120"/>
              </a:rPr>
              <a:t>寄せられた称賛コメント総数</a:t>
            </a:r>
            <a:endParaRPr lang="en-US" sz="1200" dirty="0"/>
          </a:p>
        </p:txBody>
      </p:sp>
      <p:sp>
        <p:nvSpPr>
          <p:cNvPr id="14" name="Shape 12"/>
          <p:cNvSpPr/>
          <p:nvPr/>
        </p:nvSpPr>
        <p:spPr>
          <a:xfrm>
            <a:off x="6126480" y="1554480"/>
            <a:ext cx="2651760" cy="2194560"/>
          </a:xfrm>
          <a:prstGeom prst="roundRect">
            <a:avLst>
              <a:gd name="adj" fmla="val 1250"/>
            </a:avLst>
          </a:prstGeom>
          <a:solidFill>
            <a:srgbClr val="EEF3FA"/>
          </a:solidFill>
          <a:ln/>
          <a:effectLst>
            <a:outerShdw sx="100000" sy="100000" kx="0" ky="0" algn="bl" rotWithShape="0" blurRad="50800" dist="25400" dir="8100000">
              <a:srgbClr val="000000">
                <a:alpha val="8000"/>
              </a:srgbClr>
            </a:outerShdw>
          </a:effectLst>
        </p:spPr>
      </p:sp>
      <p:sp>
        <p:nvSpPr>
          <p:cNvPr id="15" name="Text 13"/>
          <p:cNvSpPr/>
          <p:nvPr/>
        </p:nvSpPr>
        <p:spPr>
          <a:xfrm>
            <a:off x="6217920" y="1645920"/>
            <a:ext cx="2468880" cy="1097280"/>
          </a:xfrm>
          <a:prstGeom prst="rect">
            <a:avLst/>
          </a:prstGeom>
          <a:noFill/>
          <a:ln/>
        </p:spPr>
        <p:txBody>
          <a:bodyPr wrap="square" lIns="0" tIns="0" rIns="0" bIns="0" rtlCol="0" anchor="b"/>
          <a:lstStyle/>
          <a:p>
            <a:pPr algn="ctr" indent="0" marL="0">
              <a:buNone/>
            </a:pPr>
            <a:r>
              <a:rPr lang="en-US" sz="4400" b="1" dirty="0">
                <a:solidFill>
                  <a:srgbClr val="F97316"/>
                </a:solidFill>
                <a:latin typeface="Arial" pitchFamily="34" charset="0"/>
                <a:ea typeface="Arial" pitchFamily="34" charset="-122"/>
                <a:cs typeface="Arial" pitchFamily="34" charset="-120"/>
              </a:rPr>
              <a:t>3</a:t>
            </a:r>
            <a:pPr algn="ctr" indent="0" marL="0">
              <a:buNone/>
            </a:pPr>
            <a:r>
              <a:rPr lang="en-US" sz="1600" dirty="0">
                <a:solidFill>
                  <a:srgbClr val="F97316"/>
                </a:solidFill>
                <a:latin typeface="Arial" pitchFamily="34" charset="0"/>
                <a:ea typeface="Arial" pitchFamily="34" charset="-122"/>
                <a:cs typeface="Arial" pitchFamily="34" charset="-120"/>
              </a:rPr>
              <a:t>Value</a:t>
            </a:r>
            <a:endParaRPr lang="en-US" sz="4400" dirty="0"/>
          </a:p>
        </p:txBody>
      </p:sp>
      <p:sp>
        <p:nvSpPr>
          <p:cNvPr id="16" name="Text 14"/>
          <p:cNvSpPr/>
          <p:nvPr/>
        </p:nvSpPr>
        <p:spPr>
          <a:xfrm>
            <a:off x="6217920" y="2761488"/>
            <a:ext cx="2468880" cy="438912"/>
          </a:xfrm>
          <a:prstGeom prst="rect">
            <a:avLst/>
          </a:prstGeom>
          <a:noFill/>
          <a:ln/>
        </p:spPr>
        <p:txBody>
          <a:bodyPr wrap="square" lIns="0" tIns="0" rIns="0" bIns="0" rtlCol="0" anchor="ctr"/>
          <a:lstStyle/>
          <a:p>
            <a:pPr algn="ctr" indent="0" marL="0">
              <a:buNone/>
            </a:pPr>
            <a:r>
              <a:rPr lang="en-US" sz="1200" dirty="0">
                <a:solidFill>
                  <a:srgbClr val="444466"/>
                </a:solidFill>
                <a:latin typeface="Meiryo" pitchFamily="34" charset="0"/>
                <a:ea typeface="Meiryo" pitchFamily="34" charset="-122"/>
                <a:cs typeface="Meiryo" pitchFamily="34" charset="-120"/>
              </a:rPr>
              <a:t>コメント分布にバランス偏りなし</a:t>
            </a:r>
            <a:endParaRPr lang="en-US" sz="1200" dirty="0"/>
          </a:p>
        </p:txBody>
      </p:sp>
      <p:sp>
        <p:nvSpPr>
          <p:cNvPr id="17" name="Text 15"/>
          <p:cNvSpPr/>
          <p:nvPr/>
        </p:nvSpPr>
        <p:spPr>
          <a:xfrm>
            <a:off x="365760" y="4709160"/>
            <a:ext cx="8412480" cy="274320"/>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データソース: FY2025 Value体現者アンケート（自由記述コメント）。重複コメントは人数カウントに含めず、総件数にのみ反映。</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全体サマリー  /  Value別コメント分布</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Meiryo" pitchFamily="34" charset="0"/>
                <a:ea typeface="Meiryo" pitchFamily="34" charset="-122"/>
                <a:cs typeface="Meiryo" pitchFamily="34" charset="-120"/>
              </a:rPr>
              <a:t>3つのValueはほぼ均等に言及され、組織として偏りなく体現されている</a:t>
            </a:r>
            <a:endParaRPr lang="en-US" sz="22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sp>
        <p:nvSpPr>
          <p:cNvPr id="8" name="Text 6"/>
          <p:cNvSpPr/>
          <p:nvPr/>
        </p:nvSpPr>
        <p:spPr>
          <a:xfrm>
            <a:off x="365760" y="1554480"/>
            <a:ext cx="1828800" cy="777240"/>
          </a:xfrm>
          <a:prstGeom prst="rect">
            <a:avLst/>
          </a:prstGeom>
          <a:noFill/>
          <a:ln/>
        </p:spPr>
        <p:txBody>
          <a:bodyPr wrap="square" lIns="0" tIns="0" rIns="0" bIns="0" rtlCol="0" anchor="ctr"/>
          <a:lstStyle/>
          <a:p>
            <a:pPr algn="l" indent="0" marL="0">
              <a:buNone/>
            </a:pPr>
            <a:r>
              <a:rPr lang="en-US" sz="1400" b="1" dirty="0">
                <a:solidFill>
                  <a:srgbClr val="1A1A2E"/>
                </a:solidFill>
                <a:latin typeface="Meiryo" pitchFamily="34" charset="0"/>
                <a:ea typeface="Meiryo" pitchFamily="34" charset="-122"/>
                <a:cs typeface="Meiryo" pitchFamily="34" charset="-120"/>
              </a:rPr>
              <a:t>お客さま起点</a:t>
            </a:r>
            <a:endParaRPr lang="en-US" sz="1400" dirty="0"/>
          </a:p>
        </p:txBody>
      </p:sp>
      <p:sp>
        <p:nvSpPr>
          <p:cNvPr id="9" name="Shape 7"/>
          <p:cNvSpPr/>
          <p:nvPr/>
        </p:nvSpPr>
        <p:spPr>
          <a:xfrm>
            <a:off x="2286000" y="1748790"/>
            <a:ext cx="5029200" cy="388620"/>
          </a:xfrm>
          <a:prstGeom prst="rect">
            <a:avLst/>
          </a:prstGeom>
          <a:solidFill>
            <a:srgbClr val="F8FAFC"/>
          </a:solidFill>
          <a:ln w="6350">
            <a:solidFill>
              <a:srgbClr val="CADCFC"/>
            </a:solidFill>
            <a:prstDash val="solid"/>
          </a:ln>
        </p:spPr>
      </p:sp>
      <p:sp>
        <p:nvSpPr>
          <p:cNvPr id="10" name="Shape 8"/>
          <p:cNvSpPr/>
          <p:nvPr/>
        </p:nvSpPr>
        <p:spPr>
          <a:xfrm>
            <a:off x="2286000" y="1748790"/>
            <a:ext cx="4693920" cy="388620"/>
          </a:xfrm>
          <a:prstGeom prst="rect">
            <a:avLst/>
          </a:prstGeom>
          <a:solidFill>
            <a:srgbClr val="2563EB"/>
          </a:solidFill>
          <a:ln w="12700">
            <a:solidFill>
              <a:srgbClr val="2563EB"/>
            </a:solidFill>
            <a:prstDash val="solid"/>
          </a:ln>
        </p:spPr>
      </p:sp>
      <p:sp>
        <p:nvSpPr>
          <p:cNvPr id="11" name="Text 9"/>
          <p:cNvSpPr/>
          <p:nvPr/>
        </p:nvSpPr>
        <p:spPr>
          <a:xfrm>
            <a:off x="7452360" y="1554480"/>
            <a:ext cx="1371600" cy="777240"/>
          </a:xfrm>
          <a:prstGeom prst="rect">
            <a:avLst/>
          </a:prstGeom>
          <a:noFill/>
          <a:ln/>
        </p:spPr>
        <p:txBody>
          <a:bodyPr wrap="square" lIns="0" tIns="0" rIns="0" bIns="0" rtlCol="0" anchor="ctr"/>
          <a:lstStyle/>
          <a:p>
            <a:pPr algn="l" indent="0" marL="0">
              <a:buNone/>
            </a:pPr>
            <a:r>
              <a:rPr lang="en-US" sz="1600" b="1" dirty="0">
                <a:solidFill>
                  <a:srgbClr val="2563EB"/>
                </a:solidFill>
                <a:latin typeface="Arial" pitchFamily="34" charset="0"/>
                <a:ea typeface="Arial" pitchFamily="34" charset="-122"/>
                <a:cs typeface="Arial" pitchFamily="34" charset="-120"/>
              </a:rPr>
              <a:t>28 件</a:t>
            </a:r>
            <a:endParaRPr lang="en-US" sz="1600" dirty="0"/>
          </a:p>
        </p:txBody>
      </p:sp>
      <p:sp>
        <p:nvSpPr>
          <p:cNvPr id="12" name="Text 10"/>
          <p:cNvSpPr/>
          <p:nvPr/>
        </p:nvSpPr>
        <p:spPr>
          <a:xfrm>
            <a:off x="365760" y="2651760"/>
            <a:ext cx="1828800" cy="777240"/>
          </a:xfrm>
          <a:prstGeom prst="rect">
            <a:avLst/>
          </a:prstGeom>
          <a:noFill/>
          <a:ln/>
        </p:spPr>
        <p:txBody>
          <a:bodyPr wrap="square" lIns="0" tIns="0" rIns="0" bIns="0" rtlCol="0" anchor="ctr"/>
          <a:lstStyle/>
          <a:p>
            <a:pPr algn="l" indent="0" marL="0">
              <a:buNone/>
            </a:pPr>
            <a:r>
              <a:rPr lang="en-US" sz="1400" b="1" dirty="0">
                <a:solidFill>
                  <a:srgbClr val="1A1A2E"/>
                </a:solidFill>
                <a:latin typeface="Meiryo" pitchFamily="34" charset="0"/>
                <a:ea typeface="Meiryo" pitchFamily="34" charset="-122"/>
                <a:cs typeface="Meiryo" pitchFamily="34" charset="-120"/>
              </a:rPr>
              <a:t>圧倒的当事者意識</a:t>
            </a:r>
            <a:endParaRPr lang="en-US" sz="1400" dirty="0"/>
          </a:p>
        </p:txBody>
      </p:sp>
      <p:sp>
        <p:nvSpPr>
          <p:cNvPr id="13" name="Shape 11"/>
          <p:cNvSpPr/>
          <p:nvPr/>
        </p:nvSpPr>
        <p:spPr>
          <a:xfrm>
            <a:off x="2286000" y="2846070"/>
            <a:ext cx="5029200" cy="388620"/>
          </a:xfrm>
          <a:prstGeom prst="rect">
            <a:avLst/>
          </a:prstGeom>
          <a:solidFill>
            <a:srgbClr val="F8FAFC"/>
          </a:solidFill>
          <a:ln w="6350">
            <a:solidFill>
              <a:srgbClr val="CADCFC"/>
            </a:solidFill>
            <a:prstDash val="solid"/>
          </a:ln>
        </p:spPr>
      </p:sp>
      <p:sp>
        <p:nvSpPr>
          <p:cNvPr id="14" name="Shape 12"/>
          <p:cNvSpPr/>
          <p:nvPr/>
        </p:nvSpPr>
        <p:spPr>
          <a:xfrm>
            <a:off x="2286000" y="2846070"/>
            <a:ext cx="4358640" cy="388620"/>
          </a:xfrm>
          <a:prstGeom prst="rect">
            <a:avLst/>
          </a:prstGeom>
          <a:solidFill>
            <a:srgbClr val="0891B2"/>
          </a:solidFill>
          <a:ln w="12700">
            <a:solidFill>
              <a:srgbClr val="0891B2"/>
            </a:solidFill>
            <a:prstDash val="solid"/>
          </a:ln>
        </p:spPr>
      </p:sp>
      <p:sp>
        <p:nvSpPr>
          <p:cNvPr id="15" name="Text 13"/>
          <p:cNvSpPr/>
          <p:nvPr/>
        </p:nvSpPr>
        <p:spPr>
          <a:xfrm>
            <a:off x="7452360" y="2651760"/>
            <a:ext cx="1371600" cy="777240"/>
          </a:xfrm>
          <a:prstGeom prst="rect">
            <a:avLst/>
          </a:prstGeom>
          <a:noFill/>
          <a:ln/>
        </p:spPr>
        <p:txBody>
          <a:bodyPr wrap="square" lIns="0" tIns="0" rIns="0" bIns="0" rtlCol="0" anchor="ctr"/>
          <a:lstStyle/>
          <a:p>
            <a:pPr algn="l" indent="0" marL="0">
              <a:buNone/>
            </a:pPr>
            <a:r>
              <a:rPr lang="en-US" sz="1600" b="1" dirty="0">
                <a:solidFill>
                  <a:srgbClr val="0891B2"/>
                </a:solidFill>
                <a:latin typeface="Arial" pitchFamily="34" charset="0"/>
                <a:ea typeface="Arial" pitchFamily="34" charset="-122"/>
                <a:cs typeface="Arial" pitchFamily="34" charset="-120"/>
              </a:rPr>
              <a:t>26 件</a:t>
            </a:r>
            <a:endParaRPr lang="en-US" sz="1600" dirty="0"/>
          </a:p>
        </p:txBody>
      </p:sp>
      <p:sp>
        <p:nvSpPr>
          <p:cNvPr id="16" name="Text 14"/>
          <p:cNvSpPr/>
          <p:nvPr/>
        </p:nvSpPr>
        <p:spPr>
          <a:xfrm>
            <a:off x="365760" y="3749040"/>
            <a:ext cx="1828800" cy="777240"/>
          </a:xfrm>
          <a:prstGeom prst="rect">
            <a:avLst/>
          </a:prstGeom>
          <a:noFill/>
          <a:ln/>
        </p:spPr>
        <p:txBody>
          <a:bodyPr wrap="square" lIns="0" tIns="0" rIns="0" bIns="0" rtlCol="0" anchor="ctr"/>
          <a:lstStyle/>
          <a:p>
            <a:pPr algn="l" indent="0" marL="0">
              <a:buNone/>
            </a:pPr>
            <a:r>
              <a:rPr lang="en-US" sz="1400" b="1" dirty="0">
                <a:solidFill>
                  <a:srgbClr val="1A1A2E"/>
                </a:solidFill>
                <a:latin typeface="Meiryo" pitchFamily="34" charset="0"/>
                <a:ea typeface="Meiryo" pitchFamily="34" charset="-122"/>
                <a:cs typeface="Meiryo" pitchFamily="34" charset="-120"/>
              </a:rPr>
              <a:t>感謝と尊敬</a:t>
            </a:r>
            <a:endParaRPr lang="en-US" sz="1400" dirty="0"/>
          </a:p>
        </p:txBody>
      </p:sp>
      <p:sp>
        <p:nvSpPr>
          <p:cNvPr id="17" name="Shape 15"/>
          <p:cNvSpPr/>
          <p:nvPr/>
        </p:nvSpPr>
        <p:spPr>
          <a:xfrm>
            <a:off x="2286000" y="3943350"/>
            <a:ext cx="5029200" cy="388620"/>
          </a:xfrm>
          <a:prstGeom prst="rect">
            <a:avLst/>
          </a:prstGeom>
          <a:solidFill>
            <a:srgbClr val="F8FAFC"/>
          </a:solidFill>
          <a:ln w="6350">
            <a:solidFill>
              <a:srgbClr val="CADCFC"/>
            </a:solidFill>
            <a:prstDash val="solid"/>
          </a:ln>
        </p:spPr>
      </p:sp>
      <p:sp>
        <p:nvSpPr>
          <p:cNvPr id="18" name="Shape 16"/>
          <p:cNvSpPr/>
          <p:nvPr/>
        </p:nvSpPr>
        <p:spPr>
          <a:xfrm>
            <a:off x="2286000" y="3943350"/>
            <a:ext cx="4693920" cy="388620"/>
          </a:xfrm>
          <a:prstGeom prst="rect">
            <a:avLst/>
          </a:prstGeom>
          <a:solidFill>
            <a:srgbClr val="F97316"/>
          </a:solidFill>
          <a:ln w="12700">
            <a:solidFill>
              <a:srgbClr val="F97316"/>
            </a:solidFill>
            <a:prstDash val="solid"/>
          </a:ln>
        </p:spPr>
      </p:sp>
      <p:sp>
        <p:nvSpPr>
          <p:cNvPr id="19" name="Text 17"/>
          <p:cNvSpPr/>
          <p:nvPr/>
        </p:nvSpPr>
        <p:spPr>
          <a:xfrm>
            <a:off x="7452360" y="3749040"/>
            <a:ext cx="1371600" cy="777240"/>
          </a:xfrm>
          <a:prstGeom prst="rect">
            <a:avLst/>
          </a:prstGeom>
          <a:noFill/>
          <a:ln/>
        </p:spPr>
        <p:txBody>
          <a:bodyPr wrap="square" lIns="0" tIns="0" rIns="0" bIns="0" rtlCol="0" anchor="ctr"/>
          <a:lstStyle/>
          <a:p>
            <a:pPr algn="l" indent="0" marL="0">
              <a:buNone/>
            </a:pPr>
            <a:r>
              <a:rPr lang="en-US" sz="1600" b="1" dirty="0">
                <a:solidFill>
                  <a:srgbClr val="F97316"/>
                </a:solidFill>
                <a:latin typeface="Arial" pitchFamily="34" charset="0"/>
                <a:ea typeface="Arial" pitchFamily="34" charset="-122"/>
                <a:cs typeface="Arial" pitchFamily="34" charset="-120"/>
              </a:rPr>
              <a:t>28 件</a:t>
            </a:r>
            <a:endParaRPr lang="en-US" sz="1600" dirty="0"/>
          </a:p>
        </p:txBody>
      </p:sp>
      <p:sp>
        <p:nvSpPr>
          <p:cNvPr id="20" name="Shape 18"/>
          <p:cNvSpPr/>
          <p:nvPr/>
        </p:nvSpPr>
        <p:spPr>
          <a:xfrm>
            <a:off x="365760" y="4572000"/>
            <a:ext cx="8412480" cy="365760"/>
          </a:xfrm>
          <a:prstGeom prst="roundRect">
            <a:avLst>
              <a:gd name="adj" fmla="val 7500"/>
            </a:avLst>
          </a:prstGeom>
          <a:solidFill>
            <a:srgbClr val="EEF3FA"/>
          </a:solidFill>
          <a:ln w="12700">
            <a:solidFill>
              <a:srgbClr val="004098"/>
            </a:solidFill>
            <a:prstDash val="solid"/>
          </a:ln>
        </p:spPr>
      </p:sp>
      <p:sp>
        <p:nvSpPr>
          <p:cNvPr id="21" name="Text 19"/>
          <p:cNvSpPr/>
          <p:nvPr/>
        </p:nvSpPr>
        <p:spPr>
          <a:xfrm>
            <a:off x="502920" y="4572000"/>
            <a:ext cx="8138160" cy="365760"/>
          </a:xfrm>
          <a:prstGeom prst="rect">
            <a:avLst/>
          </a:prstGeom>
          <a:noFill/>
          <a:ln/>
        </p:spPr>
        <p:txBody>
          <a:bodyPr wrap="square" lIns="0" tIns="0" rIns="0" bIns="0" rtlCol="0" anchor="ctr"/>
          <a:lstStyle/>
          <a:p>
            <a:pPr algn="l" indent="0" marL="0">
              <a:lnSpc>
                <a:spcPct val="140000"/>
              </a:lnSpc>
              <a:buNone/>
            </a:pPr>
            <a:r>
              <a:rPr lang="en-US" sz="1200" dirty="0">
                <a:solidFill>
                  <a:srgbClr val="004098"/>
                </a:solidFill>
                <a:latin typeface="Meiryo" pitchFamily="34" charset="0"/>
                <a:ea typeface="Meiryo" pitchFamily="34" charset="-122"/>
                <a:cs typeface="Meiryo" pitchFamily="34" charset="-120"/>
              </a:rPr>
              <a:t>3 Value が同水準で言及されたのは、単一の突出した強みではなく、組織文化として根付いている兆候</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全体サマリー  /  上位体現者</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Meiryo" pitchFamily="34" charset="0"/>
                <a:ea typeface="Meiryo" pitchFamily="34" charset="-122"/>
                <a:cs typeface="Meiryo" pitchFamily="34" charset="-120"/>
              </a:rPr>
              <a:t>福田美桜さんが全Valueで突出、特に「感謝と尊敬」13件は組織の羅針盤的存在を示す</a:t>
            </a:r>
            <a:endParaRPr lang="en-US" sz="22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8412480" cy="914400"/>
        </p:xfrm>
        <a:graphic>
          <a:graphicData uri="http://schemas.openxmlformats.org/drawingml/2006/table">
            <a:tbl>
              <a:tblPr/>
              <a:tblGrid>
                <a:gridCol w="731520"/>
                <a:gridCol w="2194560"/>
                <a:gridCol w="1371600"/>
                <a:gridCol w="1371600"/>
                <a:gridCol w="1371600"/>
                <a:gridCol w="1371600"/>
              </a:tblGrid>
              <a:tr h="411480">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順位</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氏名</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お客さま起点</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当事者意識</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感謝と尊敬</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合計</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4098"/>
                    </a:solidFill>
                  </a:tcPr>
                </a:tc>
              </a:tr>
              <a:tr h="411480">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福田美桜さん</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7</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13</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25</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r>
              <a:tr h="411480">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磯野祐輝さん</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r>
              <a:tr h="411480">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長友理桜さん</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r>
              <a:tr h="411480">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西田恵美さん</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r>
              <a:tr h="411480">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相川さん</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F0F2F5"/>
                      </a:solidFill>
                      <a:prstDash val="solid"/>
                      <a:round/>
                      <a:headEnd type="none" w="med" len="med"/>
                      <a:tailEnd type="none" w="med" len="med"/>
                    </a:lnB>
                  </a:tcPr>
                </a:tc>
              </a:tr>
              <a:tr h="411480">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中道礼香さん</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A1A2E"/>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r>
            </a:tbl>
          </a:graphicData>
        </a:graphic>
      </p:graphicFrame>
      <p:sp>
        <p:nvSpPr>
          <p:cNvPr id="9" name="Shape 6"/>
          <p:cNvSpPr/>
          <p:nvPr/>
        </p:nvSpPr>
        <p:spPr>
          <a:xfrm>
            <a:off x="365760" y="4297680"/>
            <a:ext cx="8412480" cy="594360"/>
          </a:xfrm>
          <a:prstGeom prst="roundRect">
            <a:avLst>
              <a:gd name="adj" fmla="val 4615"/>
            </a:avLst>
          </a:prstGeom>
          <a:solidFill>
            <a:srgbClr val="F0FDF4"/>
          </a:solidFill>
          <a:ln w="12700">
            <a:solidFill>
              <a:srgbClr val="059669"/>
            </a:solidFill>
            <a:prstDash val="solid"/>
          </a:ln>
        </p:spPr>
      </p:sp>
      <p:sp>
        <p:nvSpPr>
          <p:cNvPr id="10" name="Text 7"/>
          <p:cNvSpPr/>
          <p:nvPr/>
        </p:nvSpPr>
        <p:spPr>
          <a:xfrm>
            <a:off x="502920" y="4297680"/>
            <a:ext cx="8138160" cy="594360"/>
          </a:xfrm>
          <a:prstGeom prst="rect">
            <a:avLst/>
          </a:prstGeom>
          <a:noFill/>
          <a:ln/>
        </p:spPr>
        <p:txBody>
          <a:bodyPr wrap="square" lIns="0" tIns="0" rIns="0" bIns="0" rtlCol="0" anchor="ctr"/>
          <a:lstStyle/>
          <a:p>
            <a:pPr algn="l" indent="0" marL="0">
              <a:lnSpc>
                <a:spcPct val="140000"/>
              </a:lnSpc>
              <a:buNone/>
            </a:pPr>
            <a:r>
              <a:rPr lang="en-US" sz="1200" dirty="0">
                <a:solidFill>
                  <a:srgbClr val="065F46"/>
                </a:solidFill>
                <a:latin typeface="Meiryo" pitchFamily="34" charset="0"/>
                <a:ea typeface="Meiryo" pitchFamily="34" charset="-122"/>
                <a:cs typeface="Meiryo" pitchFamily="34" charset="-120"/>
              </a:rPr>
              <a:t>福田さんは25件のうち「感謝と尊敬」が13件と過半。多くのステークホルダーを束ねるPO職として、尊重と言語化を軸に組織を動かしていることが可視化された</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Value別の体現パターン  /  お客さま起点</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Meiryo" pitchFamily="34" charset="0"/>
                <a:ea typeface="Meiryo" pitchFamily="34" charset="-122"/>
                <a:cs typeface="Meiryo" pitchFamily="34" charset="-120"/>
              </a:rPr>
              <a:t>「お客さま起点」は〈声を聞く→価値を定義する→段階的に届ける〉の3ステップで体現されている</a:t>
            </a:r>
            <a:endParaRPr lang="en-US" sz="22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sp>
        <p:nvSpPr>
          <p:cNvPr id="8" name="Shape 6"/>
          <p:cNvSpPr/>
          <p:nvPr/>
        </p:nvSpPr>
        <p:spPr>
          <a:xfrm>
            <a:off x="365760" y="1280160"/>
            <a:ext cx="2529840" cy="1645920"/>
          </a:xfrm>
          <a:prstGeom prst="roundRect">
            <a:avLst>
              <a:gd name="adj" fmla="val 1667"/>
            </a:avLst>
          </a:prstGeom>
          <a:solidFill>
            <a:srgbClr val="EEF3FA"/>
          </a:solidFill>
          <a:ln w="19050">
            <a:solidFill>
              <a:srgbClr val="2563EB"/>
            </a:solidFill>
            <a:prstDash val="solid"/>
          </a:ln>
        </p:spPr>
      </p:sp>
      <p:sp>
        <p:nvSpPr>
          <p:cNvPr id="9" name="Text 7"/>
          <p:cNvSpPr/>
          <p:nvPr/>
        </p:nvSpPr>
        <p:spPr>
          <a:xfrm>
            <a:off x="438912" y="1353312"/>
            <a:ext cx="2383536" cy="576072"/>
          </a:xfrm>
          <a:prstGeom prst="rect">
            <a:avLst/>
          </a:prstGeom>
          <a:noFill/>
          <a:ln/>
        </p:spPr>
        <p:txBody>
          <a:bodyPr wrap="square" lIns="0" tIns="0" rIns="0" bIns="0" rtlCol="0" anchor="ctr"/>
          <a:lstStyle/>
          <a:p>
            <a:pPr algn="ctr" indent="0" marL="0">
              <a:buNone/>
            </a:pPr>
            <a:r>
              <a:rPr lang="en-US" sz="1300" b="1" dirty="0">
                <a:solidFill>
                  <a:srgbClr val="2563EB"/>
                </a:solidFill>
                <a:latin typeface="Meiryo" pitchFamily="34" charset="0"/>
                <a:ea typeface="Meiryo" pitchFamily="34" charset="-122"/>
                <a:cs typeface="Meiryo" pitchFamily="34" charset="-120"/>
              </a:rPr>
              <a:t>1. 声を聞く</a:t>
            </a:r>
            <a:endParaRPr lang="en-US" sz="1300" dirty="0"/>
          </a:p>
        </p:txBody>
      </p:sp>
      <p:sp>
        <p:nvSpPr>
          <p:cNvPr id="10" name="Text 8"/>
          <p:cNvSpPr/>
          <p:nvPr/>
        </p:nvSpPr>
        <p:spPr>
          <a:xfrm>
            <a:off x="438912" y="1938528"/>
            <a:ext cx="2383536" cy="905256"/>
          </a:xfrm>
          <a:prstGeom prst="rect">
            <a:avLst/>
          </a:prstGeom>
          <a:noFill/>
          <a:ln/>
        </p:spPr>
        <p:txBody>
          <a:bodyPr wrap="square" lIns="0" tIns="0" rIns="0" bIns="0" rtlCol="0" anchor="t"/>
          <a:lstStyle/>
          <a:p>
            <a:pPr algn="l" indent="0" marL="0">
              <a:lnSpc>
                <a:spcPct val="140000"/>
              </a:lnSpc>
              <a:buNone/>
            </a:pPr>
            <a:r>
              <a:rPr lang="en-US" sz="1100" dirty="0">
                <a:solidFill>
                  <a:srgbClr val="1A1A2E"/>
                </a:solidFill>
                <a:latin typeface="Meiryo" pitchFamily="34" charset="0"/>
                <a:ea typeface="Meiryo" pitchFamily="34" charset="-122"/>
                <a:cs typeface="Meiryo" pitchFamily="34" charset="-120"/>
              </a:rPr>
              <a:t>ユーザーインタビュー・問い合わせ・行動データを起点に課題を発見する</a:t>
            </a:r>
            <a:endParaRPr lang="en-US" sz="1100" dirty="0"/>
          </a:p>
        </p:txBody>
      </p:sp>
      <p:sp>
        <p:nvSpPr>
          <p:cNvPr id="11" name="Text 9"/>
          <p:cNvSpPr/>
          <p:nvPr/>
        </p:nvSpPr>
        <p:spPr>
          <a:xfrm>
            <a:off x="2987040" y="1773936"/>
            <a:ext cx="228600" cy="658368"/>
          </a:xfrm>
          <a:prstGeom prst="rect">
            <a:avLst/>
          </a:prstGeom>
          <a:noFill/>
          <a:ln/>
        </p:spPr>
        <p:txBody>
          <a:bodyPr wrap="square" lIns="0" tIns="0" rIns="0" bIns="0" rtlCol="0" anchor="ctr"/>
          <a:lstStyle/>
          <a:p>
            <a:pPr algn="ctr" indent="0" marL="0">
              <a:buNone/>
            </a:pPr>
            <a:r>
              <a:rPr lang="en-US" sz="1600" dirty="0">
                <a:solidFill>
                  <a:srgbClr val="444466"/>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3307080" y="1280160"/>
            <a:ext cx="2529840" cy="1645920"/>
          </a:xfrm>
          <a:prstGeom prst="roundRect">
            <a:avLst>
              <a:gd name="adj" fmla="val 1667"/>
            </a:avLst>
          </a:prstGeom>
          <a:solidFill>
            <a:srgbClr val="EEF3FA"/>
          </a:solidFill>
          <a:ln w="19050">
            <a:solidFill>
              <a:srgbClr val="0891B2"/>
            </a:solidFill>
            <a:prstDash val="solid"/>
          </a:ln>
        </p:spPr>
      </p:sp>
      <p:sp>
        <p:nvSpPr>
          <p:cNvPr id="13" name="Text 11"/>
          <p:cNvSpPr/>
          <p:nvPr/>
        </p:nvSpPr>
        <p:spPr>
          <a:xfrm>
            <a:off x="3380232" y="1353312"/>
            <a:ext cx="2383536" cy="576072"/>
          </a:xfrm>
          <a:prstGeom prst="rect">
            <a:avLst/>
          </a:prstGeom>
          <a:noFill/>
          <a:ln/>
        </p:spPr>
        <p:txBody>
          <a:bodyPr wrap="square" lIns="0" tIns="0" rIns="0" bIns="0" rtlCol="0" anchor="ctr"/>
          <a:lstStyle/>
          <a:p>
            <a:pPr algn="ctr" indent="0" marL="0">
              <a:buNone/>
            </a:pPr>
            <a:r>
              <a:rPr lang="en-US" sz="1300" b="1" dirty="0">
                <a:solidFill>
                  <a:srgbClr val="0891B2"/>
                </a:solidFill>
                <a:latin typeface="Meiryo" pitchFamily="34" charset="0"/>
                <a:ea typeface="Meiryo" pitchFamily="34" charset="-122"/>
                <a:cs typeface="Meiryo" pitchFamily="34" charset="-120"/>
              </a:rPr>
              <a:t>2. 価値を定義する</a:t>
            </a:r>
            <a:endParaRPr lang="en-US" sz="1300" dirty="0"/>
          </a:p>
        </p:txBody>
      </p:sp>
      <p:sp>
        <p:nvSpPr>
          <p:cNvPr id="14" name="Text 12"/>
          <p:cNvSpPr/>
          <p:nvPr/>
        </p:nvSpPr>
        <p:spPr>
          <a:xfrm>
            <a:off x="3380232" y="1938528"/>
            <a:ext cx="2383536" cy="905256"/>
          </a:xfrm>
          <a:prstGeom prst="rect">
            <a:avLst/>
          </a:prstGeom>
          <a:noFill/>
          <a:ln/>
        </p:spPr>
        <p:txBody>
          <a:bodyPr wrap="square" lIns="0" tIns="0" rIns="0" bIns="0" rtlCol="0" anchor="t"/>
          <a:lstStyle/>
          <a:p>
            <a:pPr algn="l" indent="0" marL="0">
              <a:lnSpc>
                <a:spcPct val="140000"/>
              </a:lnSpc>
              <a:buNone/>
            </a:pPr>
            <a:r>
              <a:rPr lang="en-US" sz="1100" dirty="0">
                <a:solidFill>
                  <a:srgbClr val="1A1A2E"/>
                </a:solidFill>
                <a:latin typeface="Meiryo" pitchFamily="34" charset="0"/>
                <a:ea typeface="Meiryo" pitchFamily="34" charset="-122"/>
                <a:cs typeface="Meiryo" pitchFamily="34" charset="-120"/>
              </a:rPr>
              <a:t>社内要望を並べるだけで終わらず、顧客価値と優先順位を考え抜く</a:t>
            </a:r>
            <a:endParaRPr lang="en-US" sz="1100" dirty="0"/>
          </a:p>
        </p:txBody>
      </p:sp>
      <p:sp>
        <p:nvSpPr>
          <p:cNvPr id="15" name="Text 13"/>
          <p:cNvSpPr/>
          <p:nvPr/>
        </p:nvSpPr>
        <p:spPr>
          <a:xfrm>
            <a:off x="5928360" y="1773936"/>
            <a:ext cx="228600" cy="658368"/>
          </a:xfrm>
          <a:prstGeom prst="rect">
            <a:avLst/>
          </a:prstGeom>
          <a:noFill/>
          <a:ln/>
        </p:spPr>
        <p:txBody>
          <a:bodyPr wrap="square" lIns="0" tIns="0" rIns="0" bIns="0" rtlCol="0" anchor="ctr"/>
          <a:lstStyle/>
          <a:p>
            <a:pPr algn="ctr" indent="0" marL="0">
              <a:buNone/>
            </a:pPr>
            <a:r>
              <a:rPr lang="en-US" sz="1600" dirty="0">
                <a:solidFill>
                  <a:srgbClr val="444466"/>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6248400" y="1280160"/>
            <a:ext cx="2529840" cy="1645920"/>
          </a:xfrm>
          <a:prstGeom prst="roundRect">
            <a:avLst>
              <a:gd name="adj" fmla="val 1667"/>
            </a:avLst>
          </a:prstGeom>
          <a:solidFill>
            <a:srgbClr val="EEF3FA"/>
          </a:solidFill>
          <a:ln w="19050">
            <a:solidFill>
              <a:srgbClr val="DC2626"/>
            </a:solidFill>
            <a:prstDash val="solid"/>
          </a:ln>
        </p:spPr>
      </p:sp>
      <p:sp>
        <p:nvSpPr>
          <p:cNvPr id="17" name="Text 15"/>
          <p:cNvSpPr/>
          <p:nvPr/>
        </p:nvSpPr>
        <p:spPr>
          <a:xfrm>
            <a:off x="6321552" y="1353312"/>
            <a:ext cx="2383536" cy="576072"/>
          </a:xfrm>
          <a:prstGeom prst="rect">
            <a:avLst/>
          </a:prstGeom>
          <a:noFill/>
          <a:ln/>
        </p:spPr>
        <p:txBody>
          <a:bodyPr wrap="square" lIns="0" tIns="0" rIns="0" bIns="0" rtlCol="0" anchor="ctr"/>
          <a:lstStyle/>
          <a:p>
            <a:pPr algn="ctr" indent="0" marL="0">
              <a:buNone/>
            </a:pPr>
            <a:r>
              <a:rPr lang="en-US" sz="1300" b="1" dirty="0">
                <a:solidFill>
                  <a:srgbClr val="DC2626"/>
                </a:solidFill>
                <a:latin typeface="Meiryo" pitchFamily="34" charset="0"/>
                <a:ea typeface="Meiryo" pitchFamily="34" charset="-122"/>
                <a:cs typeface="Meiryo" pitchFamily="34" charset="-120"/>
              </a:rPr>
              <a:t>3. 段階的に届ける</a:t>
            </a:r>
            <a:endParaRPr lang="en-US" sz="1300" dirty="0"/>
          </a:p>
        </p:txBody>
      </p:sp>
      <p:sp>
        <p:nvSpPr>
          <p:cNvPr id="18" name="Text 16"/>
          <p:cNvSpPr/>
          <p:nvPr/>
        </p:nvSpPr>
        <p:spPr>
          <a:xfrm>
            <a:off x="6321552" y="1938528"/>
            <a:ext cx="2383536" cy="905256"/>
          </a:xfrm>
          <a:prstGeom prst="rect">
            <a:avLst/>
          </a:prstGeom>
          <a:noFill/>
          <a:ln/>
        </p:spPr>
        <p:txBody>
          <a:bodyPr wrap="square" lIns="0" tIns="0" rIns="0" bIns="0" rtlCol="0" anchor="t"/>
          <a:lstStyle/>
          <a:p>
            <a:pPr algn="l" indent="0" marL="0">
              <a:lnSpc>
                <a:spcPct val="140000"/>
              </a:lnSpc>
              <a:buNone/>
            </a:pPr>
            <a:r>
              <a:rPr lang="en-US" sz="1100" dirty="0">
                <a:solidFill>
                  <a:srgbClr val="1A1A2E"/>
                </a:solidFill>
                <a:latin typeface="Meiryo" pitchFamily="34" charset="0"/>
                <a:ea typeface="Meiryo" pitchFamily="34" charset="-122"/>
                <a:cs typeface="Meiryo" pitchFamily="34" charset="-120"/>
              </a:rPr>
              <a:t>分割提供・段階リリースで小さく速く価値を届ける仕組みを作る</a:t>
            </a:r>
            <a:endParaRPr lang="en-US" sz="1100" dirty="0"/>
          </a:p>
        </p:txBody>
      </p:sp>
      <p:sp>
        <p:nvSpPr>
          <p:cNvPr id="19" name="Text 17"/>
          <p:cNvSpPr/>
          <p:nvPr/>
        </p:nvSpPr>
        <p:spPr>
          <a:xfrm>
            <a:off x="365760" y="3246120"/>
            <a:ext cx="8412480" cy="274320"/>
          </a:xfrm>
          <a:prstGeom prst="rect">
            <a:avLst/>
          </a:prstGeom>
          <a:noFill/>
          <a:ln/>
        </p:spPr>
        <p:txBody>
          <a:bodyPr wrap="square" lIns="0" tIns="0" rIns="0" bIns="0" rtlCol="0" anchor="ctr"/>
          <a:lstStyle/>
          <a:p>
            <a:pPr algn="l" indent="0" marL="0">
              <a:buNone/>
            </a:pPr>
            <a:r>
              <a:rPr lang="en-US" sz="1100" b="1" dirty="0">
                <a:solidFill>
                  <a:srgbClr val="004098"/>
                </a:solidFill>
                <a:latin typeface="Meiryo" pitchFamily="34" charset="0"/>
                <a:ea typeface="Meiryo" pitchFamily="34" charset="-122"/>
                <a:cs typeface="Meiryo" pitchFamily="34" charset="-120"/>
              </a:rPr>
              <a:t>代表コメント</a:t>
            </a:r>
            <a:endParaRPr lang="en-US" sz="1100" dirty="0"/>
          </a:p>
        </p:txBody>
      </p:sp>
      <p:sp>
        <p:nvSpPr>
          <p:cNvPr id="20" name="Shape 18"/>
          <p:cNvSpPr/>
          <p:nvPr/>
        </p:nvSpPr>
        <p:spPr>
          <a:xfrm>
            <a:off x="365760" y="3566160"/>
            <a:ext cx="8412480" cy="1005840"/>
          </a:xfrm>
          <a:prstGeom prst="roundRect">
            <a:avLst>
              <a:gd name="adj" fmla="val 2727"/>
            </a:avLst>
          </a:prstGeom>
          <a:solidFill>
            <a:srgbClr val="EEF3FA"/>
          </a:solidFill>
          <a:ln w="12700">
            <a:solidFill>
              <a:srgbClr val="004098"/>
            </a:solidFill>
            <a:prstDash val="solid"/>
          </a:ln>
        </p:spPr>
      </p:sp>
      <p:sp>
        <p:nvSpPr>
          <p:cNvPr id="21" name="Text 19"/>
          <p:cNvSpPr/>
          <p:nvPr/>
        </p:nvSpPr>
        <p:spPr>
          <a:xfrm>
            <a:off x="502920" y="3566160"/>
            <a:ext cx="8138160" cy="1005840"/>
          </a:xfrm>
          <a:prstGeom prst="rect">
            <a:avLst/>
          </a:prstGeom>
          <a:noFill/>
          <a:ln/>
        </p:spPr>
        <p:txBody>
          <a:bodyPr wrap="square" lIns="0" tIns="0" rIns="0" bIns="0" rtlCol="0" anchor="ctr"/>
          <a:lstStyle/>
          <a:p>
            <a:pPr algn="l" indent="0" marL="0">
              <a:lnSpc>
                <a:spcPct val="140000"/>
              </a:lnSpc>
              <a:buNone/>
            </a:pPr>
            <a:r>
              <a:rPr lang="en-US" sz="1200" dirty="0">
                <a:solidFill>
                  <a:srgbClr val="004098"/>
                </a:solidFill>
                <a:latin typeface="Meiryo" pitchFamily="34" charset="0"/>
                <a:ea typeface="Meiryo" pitchFamily="34" charset="-122"/>
                <a:cs typeface="Meiryo" pitchFamily="34" charset="-120"/>
              </a:rPr>
              <a:t>「Kraken直連携では、当社都合で移行を完了することにとどまらず、その先のお客さま体験まで見据えて、ステークホルダーとの調整や発信をされている」— 福田さんへのコメントより</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Value別の体現パターン  /  圧倒的当事者意識</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Meiryo" pitchFamily="34" charset="0"/>
                <a:ea typeface="Meiryo" pitchFamily="34" charset="-122"/>
                <a:cs typeface="Meiryo" pitchFamily="34" charset="-120"/>
              </a:rPr>
              <a:t>「圧倒的当事者意識」は〈役割越境・忖度なき意見・率先対応〉の3本柱で現れている</a:t>
            </a:r>
            <a:endParaRPr lang="en-US" sz="22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sp>
        <p:nvSpPr>
          <p:cNvPr id="8" name="Shape 6"/>
          <p:cNvSpPr/>
          <p:nvPr/>
        </p:nvSpPr>
        <p:spPr>
          <a:xfrm>
            <a:off x="365760" y="1280160"/>
            <a:ext cx="2651760" cy="1920240"/>
          </a:xfrm>
          <a:prstGeom prst="roundRect">
            <a:avLst>
              <a:gd name="adj" fmla="val 1429"/>
            </a:avLst>
          </a:prstGeom>
          <a:solidFill>
            <a:srgbClr val="EEF3FA"/>
          </a:solidFill>
          <a:ln/>
          <a:effectLst>
            <a:outerShdw sx="100000" sy="100000" kx="0" ky="0" algn="bl" rotWithShape="0" blurRad="50800" dist="25400" dir="8100000">
              <a:srgbClr val="000000">
                <a:alpha val="8000"/>
              </a:srgbClr>
            </a:outerShdw>
          </a:effectLst>
        </p:spPr>
      </p:sp>
      <p:sp>
        <p:nvSpPr>
          <p:cNvPr id="9" name="Shape 7"/>
          <p:cNvSpPr/>
          <p:nvPr/>
        </p:nvSpPr>
        <p:spPr>
          <a:xfrm>
            <a:off x="384048" y="1280160"/>
            <a:ext cx="2615184" cy="54864"/>
          </a:xfrm>
          <a:prstGeom prst="rect">
            <a:avLst/>
          </a:prstGeom>
          <a:solidFill>
            <a:srgbClr val="2563EB"/>
          </a:solidFill>
          <a:ln/>
        </p:spPr>
      </p:sp>
      <p:sp>
        <p:nvSpPr>
          <p:cNvPr id="10" name="Text 8"/>
          <p:cNvSpPr/>
          <p:nvPr/>
        </p:nvSpPr>
        <p:spPr>
          <a:xfrm>
            <a:off x="502920" y="1417320"/>
            <a:ext cx="2377440" cy="365760"/>
          </a:xfrm>
          <a:prstGeom prst="rect">
            <a:avLst/>
          </a:prstGeom>
          <a:noFill/>
          <a:ln/>
        </p:spPr>
        <p:txBody>
          <a:bodyPr wrap="square" lIns="0" tIns="0" rIns="0" bIns="0" rtlCol="0" anchor="t"/>
          <a:lstStyle/>
          <a:p>
            <a:pPr algn="l" indent="0" marL="0">
              <a:buNone/>
            </a:pPr>
            <a:r>
              <a:rPr lang="en-US" sz="1400" b="1" dirty="0">
                <a:solidFill>
                  <a:srgbClr val="2563EB"/>
                </a:solidFill>
                <a:latin typeface="Meiryo" pitchFamily="34" charset="0"/>
                <a:ea typeface="Meiryo" pitchFamily="34" charset="-122"/>
                <a:cs typeface="Meiryo" pitchFamily="34" charset="-120"/>
              </a:rPr>
              <a:t>役割越境</a:t>
            </a:r>
            <a:endParaRPr lang="en-US" sz="1400" dirty="0"/>
          </a:p>
        </p:txBody>
      </p:sp>
      <p:sp>
        <p:nvSpPr>
          <p:cNvPr id="11" name="Text 9"/>
          <p:cNvSpPr/>
          <p:nvPr/>
        </p:nvSpPr>
        <p:spPr>
          <a:xfrm>
            <a:off x="502920" y="1783080"/>
            <a:ext cx="2377440" cy="1280160"/>
          </a:xfrm>
          <a:prstGeom prst="rect">
            <a:avLst/>
          </a:prstGeom>
          <a:noFill/>
          <a:ln/>
        </p:spPr>
        <p:txBody>
          <a:bodyPr wrap="square" lIns="0" tIns="0" rIns="0" bIns="0" rtlCol="0" anchor="t"/>
          <a:lstStyle/>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POが技術に踏み込み、Engがビジネスに染み出す。自分の役割以上にチームのために動く姿勢</a:t>
            </a:r>
            <a:endParaRPr lang="en-US" sz="1300" dirty="0"/>
          </a:p>
        </p:txBody>
      </p:sp>
      <p:sp>
        <p:nvSpPr>
          <p:cNvPr id="12" name="Shape 10"/>
          <p:cNvSpPr/>
          <p:nvPr/>
        </p:nvSpPr>
        <p:spPr>
          <a:xfrm>
            <a:off x="3246120" y="1280160"/>
            <a:ext cx="2651760" cy="1920240"/>
          </a:xfrm>
          <a:prstGeom prst="roundRect">
            <a:avLst>
              <a:gd name="adj" fmla="val 1429"/>
            </a:avLst>
          </a:prstGeom>
          <a:solidFill>
            <a:srgbClr val="EEF3FA"/>
          </a:solidFill>
          <a:ln/>
          <a:effectLst>
            <a:outerShdw sx="100000" sy="100000" kx="0" ky="0" algn="bl" rotWithShape="0" blurRad="50800" dist="25400" dir="8100000">
              <a:srgbClr val="000000">
                <a:alpha val="8000"/>
              </a:srgbClr>
            </a:outerShdw>
          </a:effectLst>
        </p:spPr>
      </p:sp>
      <p:sp>
        <p:nvSpPr>
          <p:cNvPr id="13" name="Shape 11"/>
          <p:cNvSpPr/>
          <p:nvPr/>
        </p:nvSpPr>
        <p:spPr>
          <a:xfrm>
            <a:off x="3264408" y="1280160"/>
            <a:ext cx="2615184" cy="54864"/>
          </a:xfrm>
          <a:prstGeom prst="rect">
            <a:avLst/>
          </a:prstGeom>
          <a:solidFill>
            <a:srgbClr val="0891B2"/>
          </a:solidFill>
          <a:ln/>
        </p:spPr>
      </p:sp>
      <p:sp>
        <p:nvSpPr>
          <p:cNvPr id="14" name="Text 12"/>
          <p:cNvSpPr/>
          <p:nvPr/>
        </p:nvSpPr>
        <p:spPr>
          <a:xfrm>
            <a:off x="3383280" y="1417320"/>
            <a:ext cx="2377440" cy="365760"/>
          </a:xfrm>
          <a:prstGeom prst="rect">
            <a:avLst/>
          </a:prstGeom>
          <a:noFill/>
          <a:ln/>
        </p:spPr>
        <p:txBody>
          <a:bodyPr wrap="square" lIns="0" tIns="0" rIns="0" bIns="0" rtlCol="0" anchor="t"/>
          <a:lstStyle/>
          <a:p>
            <a:pPr algn="l" indent="0" marL="0">
              <a:buNone/>
            </a:pPr>
            <a:r>
              <a:rPr lang="en-US" sz="1400" b="1" dirty="0">
                <a:solidFill>
                  <a:srgbClr val="0891B2"/>
                </a:solidFill>
                <a:latin typeface="Meiryo" pitchFamily="34" charset="0"/>
                <a:ea typeface="Meiryo" pitchFamily="34" charset="-122"/>
                <a:cs typeface="Meiryo" pitchFamily="34" charset="-120"/>
              </a:rPr>
              <a:t>忖度なき意見</a:t>
            </a:r>
            <a:endParaRPr lang="en-US" sz="1400" dirty="0"/>
          </a:p>
        </p:txBody>
      </p:sp>
      <p:sp>
        <p:nvSpPr>
          <p:cNvPr id="15" name="Text 13"/>
          <p:cNvSpPr/>
          <p:nvPr/>
        </p:nvSpPr>
        <p:spPr>
          <a:xfrm>
            <a:off x="3383280" y="1783080"/>
            <a:ext cx="2377440" cy="1280160"/>
          </a:xfrm>
          <a:prstGeom prst="rect">
            <a:avLst/>
          </a:prstGeom>
          <a:noFill/>
          <a:ln/>
        </p:spPr>
        <p:txBody>
          <a:bodyPr wrap="square" lIns="0" tIns="0" rIns="0" bIns="0" rtlCol="0" anchor="t"/>
          <a:lstStyle/>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入社直後でも遠慮せず発言。理想に近づけるために、1つの解に固執せず全力で選択肢を出し切る</a:t>
            </a:r>
            <a:endParaRPr lang="en-US" sz="1300" dirty="0"/>
          </a:p>
        </p:txBody>
      </p:sp>
      <p:sp>
        <p:nvSpPr>
          <p:cNvPr id="16" name="Shape 14"/>
          <p:cNvSpPr/>
          <p:nvPr/>
        </p:nvSpPr>
        <p:spPr>
          <a:xfrm>
            <a:off x="6126480" y="1280160"/>
            <a:ext cx="2651760" cy="1920240"/>
          </a:xfrm>
          <a:prstGeom prst="roundRect">
            <a:avLst>
              <a:gd name="adj" fmla="val 1429"/>
            </a:avLst>
          </a:prstGeom>
          <a:solidFill>
            <a:srgbClr val="EEF3FA"/>
          </a:solidFill>
          <a:ln/>
          <a:effectLst>
            <a:outerShdw sx="100000" sy="100000" kx="0" ky="0" algn="bl" rotWithShape="0" blurRad="50800" dist="25400" dir="8100000">
              <a:srgbClr val="000000">
                <a:alpha val="8000"/>
              </a:srgbClr>
            </a:outerShdw>
          </a:effectLst>
        </p:spPr>
      </p:sp>
      <p:sp>
        <p:nvSpPr>
          <p:cNvPr id="17" name="Shape 15"/>
          <p:cNvSpPr/>
          <p:nvPr/>
        </p:nvSpPr>
        <p:spPr>
          <a:xfrm>
            <a:off x="6144768" y="1280160"/>
            <a:ext cx="2615184" cy="54864"/>
          </a:xfrm>
          <a:prstGeom prst="rect">
            <a:avLst/>
          </a:prstGeom>
          <a:solidFill>
            <a:srgbClr val="F97316"/>
          </a:solidFill>
          <a:ln/>
        </p:spPr>
      </p:sp>
      <p:sp>
        <p:nvSpPr>
          <p:cNvPr id="18" name="Text 16"/>
          <p:cNvSpPr/>
          <p:nvPr/>
        </p:nvSpPr>
        <p:spPr>
          <a:xfrm>
            <a:off x="6263640" y="1417320"/>
            <a:ext cx="2377440" cy="365760"/>
          </a:xfrm>
          <a:prstGeom prst="rect">
            <a:avLst/>
          </a:prstGeom>
          <a:noFill/>
          <a:ln/>
        </p:spPr>
        <p:txBody>
          <a:bodyPr wrap="square" lIns="0" tIns="0" rIns="0" bIns="0" rtlCol="0" anchor="t"/>
          <a:lstStyle/>
          <a:p>
            <a:pPr algn="l" indent="0" marL="0">
              <a:buNone/>
            </a:pPr>
            <a:r>
              <a:rPr lang="en-US" sz="1400" b="1" dirty="0">
                <a:solidFill>
                  <a:srgbClr val="F97316"/>
                </a:solidFill>
                <a:latin typeface="Meiryo" pitchFamily="34" charset="0"/>
                <a:ea typeface="Meiryo" pitchFamily="34" charset="-122"/>
                <a:cs typeface="Meiryo" pitchFamily="34" charset="-120"/>
              </a:rPr>
              <a:t>率先対応</a:t>
            </a:r>
            <a:endParaRPr lang="en-US" sz="1400" dirty="0"/>
          </a:p>
        </p:txBody>
      </p:sp>
      <p:sp>
        <p:nvSpPr>
          <p:cNvPr id="19" name="Text 17"/>
          <p:cNvSpPr/>
          <p:nvPr/>
        </p:nvSpPr>
        <p:spPr>
          <a:xfrm>
            <a:off x="6263640" y="1783080"/>
            <a:ext cx="2377440" cy="1280160"/>
          </a:xfrm>
          <a:prstGeom prst="rect">
            <a:avLst/>
          </a:prstGeom>
          <a:noFill/>
          <a:ln/>
        </p:spPr>
        <p:txBody>
          <a:bodyPr wrap="square" lIns="0" tIns="0" rIns="0" bIns="0" rtlCol="0" anchor="t"/>
          <a:lstStyle/>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インシデント・障害時に真っ先に動き、PBIの「なぜやるのか」を追求してより良い実現方法を提案する</a:t>
            </a:r>
            <a:endParaRPr lang="en-US" sz="1300" dirty="0"/>
          </a:p>
        </p:txBody>
      </p:sp>
      <p:sp>
        <p:nvSpPr>
          <p:cNvPr id="20" name="Text 18"/>
          <p:cNvSpPr/>
          <p:nvPr/>
        </p:nvSpPr>
        <p:spPr>
          <a:xfrm>
            <a:off x="365760" y="3429000"/>
            <a:ext cx="8412480" cy="274320"/>
          </a:xfrm>
          <a:prstGeom prst="rect">
            <a:avLst/>
          </a:prstGeom>
          <a:noFill/>
          <a:ln/>
        </p:spPr>
        <p:txBody>
          <a:bodyPr wrap="square" lIns="0" tIns="0" rIns="0" bIns="0" rtlCol="0" anchor="ctr"/>
          <a:lstStyle/>
          <a:p>
            <a:pPr algn="l" indent="0" marL="0">
              <a:buNone/>
            </a:pPr>
            <a:r>
              <a:rPr lang="en-US" sz="1100" b="1" dirty="0">
                <a:solidFill>
                  <a:srgbClr val="004098"/>
                </a:solidFill>
                <a:latin typeface="Meiryo" pitchFamily="34" charset="0"/>
                <a:ea typeface="Meiryo" pitchFamily="34" charset="-122"/>
                <a:cs typeface="Meiryo" pitchFamily="34" charset="-120"/>
              </a:rPr>
              <a:t>代表コメント</a:t>
            </a:r>
            <a:endParaRPr lang="en-US" sz="1100" dirty="0"/>
          </a:p>
        </p:txBody>
      </p:sp>
      <p:sp>
        <p:nvSpPr>
          <p:cNvPr id="21" name="Shape 19"/>
          <p:cNvSpPr/>
          <p:nvPr/>
        </p:nvSpPr>
        <p:spPr>
          <a:xfrm>
            <a:off x="365760" y="3749040"/>
            <a:ext cx="8412480" cy="914400"/>
          </a:xfrm>
          <a:prstGeom prst="roundRect">
            <a:avLst>
              <a:gd name="adj" fmla="val 3000"/>
            </a:avLst>
          </a:prstGeom>
          <a:solidFill>
            <a:srgbClr val="EEF3FA"/>
          </a:solidFill>
          <a:ln w="12700">
            <a:solidFill>
              <a:srgbClr val="004098"/>
            </a:solidFill>
            <a:prstDash val="solid"/>
          </a:ln>
        </p:spPr>
      </p:sp>
      <p:sp>
        <p:nvSpPr>
          <p:cNvPr id="22" name="Text 20"/>
          <p:cNvSpPr/>
          <p:nvPr/>
        </p:nvSpPr>
        <p:spPr>
          <a:xfrm>
            <a:off x="502920" y="3749040"/>
            <a:ext cx="8138160" cy="914400"/>
          </a:xfrm>
          <a:prstGeom prst="rect">
            <a:avLst/>
          </a:prstGeom>
          <a:noFill/>
          <a:ln/>
        </p:spPr>
        <p:txBody>
          <a:bodyPr wrap="square" lIns="0" tIns="0" rIns="0" bIns="0" rtlCol="0" anchor="ctr"/>
          <a:lstStyle/>
          <a:p>
            <a:pPr algn="l" indent="0" marL="0">
              <a:lnSpc>
                <a:spcPct val="140000"/>
              </a:lnSpc>
              <a:buNone/>
            </a:pPr>
            <a:r>
              <a:rPr lang="en-US" sz="1200" dirty="0">
                <a:solidFill>
                  <a:srgbClr val="004098"/>
                </a:solidFill>
                <a:latin typeface="Meiryo" pitchFamily="34" charset="0"/>
                <a:ea typeface="Meiryo" pitchFamily="34" charset="-122"/>
                <a:cs typeface="Meiryo" pitchFamily="34" charset="-120"/>
              </a:rPr>
              <a:t>「POという立場でありながら、システム開発を強く自分事として捉え、技術的な内容にもご自身で目を向けながら進めていらっしゃる」— 福田さんへのコメントより</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Value別の体現パターン  /  感謝と尊敬</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Meiryo" pitchFamily="34" charset="0"/>
                <a:ea typeface="Meiryo" pitchFamily="34" charset="-122"/>
                <a:cs typeface="Meiryo" pitchFamily="34" charset="-120"/>
              </a:rPr>
              <a:t>「感謝と尊敬」は〈意見対立時の尊重〉と〈言語化されたフィードバック〉として静かに効いている</a:t>
            </a:r>
            <a:endParaRPr lang="en-US" sz="22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sp>
        <p:nvSpPr>
          <p:cNvPr id="8" name="Shape 6"/>
          <p:cNvSpPr/>
          <p:nvPr/>
        </p:nvSpPr>
        <p:spPr>
          <a:xfrm>
            <a:off x="365760" y="1280160"/>
            <a:ext cx="4023360" cy="1920240"/>
          </a:xfrm>
          <a:prstGeom prst="roundRect">
            <a:avLst>
              <a:gd name="adj" fmla="val 1429"/>
            </a:avLst>
          </a:prstGeom>
          <a:solidFill>
            <a:srgbClr val="EEF3FA"/>
          </a:solidFill>
          <a:ln/>
          <a:effectLst>
            <a:outerShdw sx="100000" sy="100000" kx="0" ky="0" algn="bl" rotWithShape="0" blurRad="50800" dist="25400" dir="8100000">
              <a:srgbClr val="000000">
                <a:alpha val="8000"/>
              </a:srgbClr>
            </a:outerShdw>
          </a:effectLst>
        </p:spPr>
      </p:sp>
      <p:sp>
        <p:nvSpPr>
          <p:cNvPr id="9" name="Shape 7"/>
          <p:cNvSpPr/>
          <p:nvPr/>
        </p:nvSpPr>
        <p:spPr>
          <a:xfrm>
            <a:off x="384048" y="1280160"/>
            <a:ext cx="3986784" cy="54864"/>
          </a:xfrm>
          <a:prstGeom prst="rect">
            <a:avLst/>
          </a:prstGeom>
          <a:solidFill>
            <a:srgbClr val="2563EB"/>
          </a:solidFill>
          <a:ln/>
        </p:spPr>
      </p:sp>
      <p:sp>
        <p:nvSpPr>
          <p:cNvPr id="10" name="Text 8"/>
          <p:cNvSpPr/>
          <p:nvPr/>
        </p:nvSpPr>
        <p:spPr>
          <a:xfrm>
            <a:off x="502920" y="1417320"/>
            <a:ext cx="3749040" cy="365760"/>
          </a:xfrm>
          <a:prstGeom prst="rect">
            <a:avLst/>
          </a:prstGeom>
          <a:noFill/>
          <a:ln/>
        </p:spPr>
        <p:txBody>
          <a:bodyPr wrap="square" lIns="0" tIns="0" rIns="0" bIns="0" rtlCol="0" anchor="t"/>
          <a:lstStyle/>
          <a:p>
            <a:pPr algn="l" indent="0" marL="0">
              <a:buNone/>
            </a:pPr>
            <a:r>
              <a:rPr lang="en-US" sz="1400" b="1" dirty="0">
                <a:solidFill>
                  <a:srgbClr val="2563EB"/>
                </a:solidFill>
                <a:latin typeface="Meiryo" pitchFamily="34" charset="0"/>
                <a:ea typeface="Meiryo" pitchFamily="34" charset="-122"/>
                <a:cs typeface="Meiryo" pitchFamily="34" charset="-120"/>
              </a:rPr>
              <a:t>意見対立時の尊重</a:t>
            </a:r>
            <a:endParaRPr lang="en-US" sz="1400" dirty="0"/>
          </a:p>
        </p:txBody>
      </p:sp>
      <p:sp>
        <p:nvSpPr>
          <p:cNvPr id="11" name="Text 9"/>
          <p:cNvSpPr/>
          <p:nvPr/>
        </p:nvSpPr>
        <p:spPr>
          <a:xfrm>
            <a:off x="502920" y="1783080"/>
            <a:ext cx="3749040" cy="1280160"/>
          </a:xfrm>
          <a:prstGeom prst="rect">
            <a:avLst/>
          </a:prstGeom>
          <a:noFill/>
          <a:ln/>
        </p:spPr>
        <p:txBody>
          <a:bodyPr wrap="square" lIns="0" tIns="0" rIns="0" bIns="0" rtlCol="0" anchor="t"/>
          <a:lstStyle/>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異なる意見に反発せず、一人ひとりの話を聞き、感謝を述べてから自分の意見を話し始める。利害が違う相手の考えを理解しようとする姿勢</a:t>
            </a:r>
            <a:endParaRPr lang="en-US" sz="1300" dirty="0"/>
          </a:p>
        </p:txBody>
      </p:sp>
      <p:sp>
        <p:nvSpPr>
          <p:cNvPr id="12" name="Shape 10"/>
          <p:cNvSpPr/>
          <p:nvPr/>
        </p:nvSpPr>
        <p:spPr>
          <a:xfrm>
            <a:off x="4754880" y="1280160"/>
            <a:ext cx="4023360" cy="1920240"/>
          </a:xfrm>
          <a:prstGeom prst="roundRect">
            <a:avLst>
              <a:gd name="adj" fmla="val 1429"/>
            </a:avLst>
          </a:prstGeom>
          <a:solidFill>
            <a:srgbClr val="EEF3FA"/>
          </a:solidFill>
          <a:ln/>
          <a:effectLst>
            <a:outerShdw sx="100000" sy="100000" kx="0" ky="0" algn="bl" rotWithShape="0" blurRad="50800" dist="25400" dir="8100000">
              <a:srgbClr val="000000">
                <a:alpha val="8000"/>
              </a:srgbClr>
            </a:outerShdw>
          </a:effectLst>
        </p:spPr>
      </p:sp>
      <p:sp>
        <p:nvSpPr>
          <p:cNvPr id="13" name="Shape 11"/>
          <p:cNvSpPr/>
          <p:nvPr/>
        </p:nvSpPr>
        <p:spPr>
          <a:xfrm>
            <a:off x="4773168" y="1280160"/>
            <a:ext cx="3986784" cy="54864"/>
          </a:xfrm>
          <a:prstGeom prst="rect">
            <a:avLst/>
          </a:prstGeom>
          <a:solidFill>
            <a:srgbClr val="F97316"/>
          </a:solidFill>
          <a:ln/>
        </p:spPr>
      </p:sp>
      <p:sp>
        <p:nvSpPr>
          <p:cNvPr id="14" name="Text 12"/>
          <p:cNvSpPr/>
          <p:nvPr/>
        </p:nvSpPr>
        <p:spPr>
          <a:xfrm>
            <a:off x="4892040" y="1417320"/>
            <a:ext cx="3749040" cy="365760"/>
          </a:xfrm>
          <a:prstGeom prst="rect">
            <a:avLst/>
          </a:prstGeom>
          <a:noFill/>
          <a:ln/>
        </p:spPr>
        <p:txBody>
          <a:bodyPr wrap="square" lIns="0" tIns="0" rIns="0" bIns="0" rtlCol="0" anchor="t"/>
          <a:lstStyle/>
          <a:p>
            <a:pPr algn="l" indent="0" marL="0">
              <a:buNone/>
            </a:pPr>
            <a:r>
              <a:rPr lang="en-US" sz="1400" b="1" dirty="0">
                <a:solidFill>
                  <a:srgbClr val="F97316"/>
                </a:solidFill>
                <a:latin typeface="Meiryo" pitchFamily="34" charset="0"/>
                <a:ea typeface="Meiryo" pitchFamily="34" charset="-122"/>
                <a:cs typeface="Meiryo" pitchFamily="34" charset="-120"/>
              </a:rPr>
              <a:t>言語化されたフィードバック</a:t>
            </a:r>
            <a:endParaRPr lang="en-US" sz="1400" dirty="0"/>
          </a:p>
        </p:txBody>
      </p:sp>
      <p:sp>
        <p:nvSpPr>
          <p:cNvPr id="15" name="Text 13"/>
          <p:cNvSpPr/>
          <p:nvPr/>
        </p:nvSpPr>
        <p:spPr>
          <a:xfrm>
            <a:off x="4892040" y="1783080"/>
            <a:ext cx="3749040" cy="1280160"/>
          </a:xfrm>
          <a:prstGeom prst="rect">
            <a:avLst/>
          </a:prstGeom>
          <a:noFill/>
          <a:ln/>
        </p:spPr>
        <p:txBody>
          <a:bodyPr wrap="square" lIns="0" tIns="0" rIns="0" bIns="0" rtlCol="0" anchor="t"/>
          <a:lstStyle/>
          <a:p>
            <a:pPr algn="l" indent="0" marL="0">
              <a:lnSpc>
                <a:spcPct val="150000"/>
              </a:lnSpc>
              <a:buNone/>
            </a:pPr>
            <a:r>
              <a:rPr lang="en-US" sz="1300" dirty="0">
                <a:solidFill>
                  <a:srgbClr val="1A1A2E"/>
                </a:solidFill>
                <a:latin typeface="Meiryo" pitchFamily="34" charset="0"/>
                <a:ea typeface="Meiryo" pitchFamily="34" charset="-122"/>
                <a:cs typeface="Meiryo" pitchFamily="34" charset="-120"/>
              </a:rPr>
              <a:t>「言わなくても伝わる」で済ませず、褒めも含めて相手へ積極的に言葉で伝える。先人や関係部署にも敬意を払う</a:t>
            </a:r>
            <a:endParaRPr lang="en-US" sz="1300" dirty="0"/>
          </a:p>
        </p:txBody>
      </p:sp>
      <p:sp>
        <p:nvSpPr>
          <p:cNvPr id="16" name="Text 14"/>
          <p:cNvSpPr/>
          <p:nvPr/>
        </p:nvSpPr>
        <p:spPr>
          <a:xfrm>
            <a:off x="365760" y="3429000"/>
            <a:ext cx="8412480" cy="274320"/>
          </a:xfrm>
          <a:prstGeom prst="rect">
            <a:avLst/>
          </a:prstGeom>
          <a:noFill/>
          <a:ln/>
        </p:spPr>
        <p:txBody>
          <a:bodyPr wrap="square" lIns="0" tIns="0" rIns="0" bIns="0" rtlCol="0" anchor="ctr"/>
          <a:lstStyle/>
          <a:p>
            <a:pPr algn="l" indent="0" marL="0">
              <a:buNone/>
            </a:pPr>
            <a:r>
              <a:rPr lang="en-US" sz="1100" b="1" dirty="0">
                <a:solidFill>
                  <a:srgbClr val="004098"/>
                </a:solidFill>
                <a:latin typeface="Meiryo" pitchFamily="34" charset="0"/>
                <a:ea typeface="Meiryo" pitchFamily="34" charset="-122"/>
                <a:cs typeface="Meiryo" pitchFamily="34" charset="-120"/>
              </a:rPr>
              <a:t>代表コメント</a:t>
            </a:r>
            <a:endParaRPr lang="en-US" sz="1100" dirty="0"/>
          </a:p>
        </p:txBody>
      </p:sp>
      <p:sp>
        <p:nvSpPr>
          <p:cNvPr id="17" name="Shape 15"/>
          <p:cNvSpPr/>
          <p:nvPr/>
        </p:nvSpPr>
        <p:spPr>
          <a:xfrm>
            <a:off x="365760" y="3749040"/>
            <a:ext cx="8412480" cy="914400"/>
          </a:xfrm>
          <a:prstGeom prst="roundRect">
            <a:avLst>
              <a:gd name="adj" fmla="val 3000"/>
            </a:avLst>
          </a:prstGeom>
          <a:solidFill>
            <a:srgbClr val="EEF3FA"/>
          </a:solidFill>
          <a:ln w="12700">
            <a:solidFill>
              <a:srgbClr val="004098"/>
            </a:solidFill>
            <a:prstDash val="solid"/>
          </a:ln>
        </p:spPr>
      </p:sp>
      <p:sp>
        <p:nvSpPr>
          <p:cNvPr id="18" name="Text 16"/>
          <p:cNvSpPr/>
          <p:nvPr/>
        </p:nvSpPr>
        <p:spPr>
          <a:xfrm>
            <a:off x="502920" y="3749040"/>
            <a:ext cx="8138160" cy="914400"/>
          </a:xfrm>
          <a:prstGeom prst="rect">
            <a:avLst/>
          </a:prstGeom>
          <a:noFill/>
          <a:ln/>
        </p:spPr>
        <p:txBody>
          <a:bodyPr wrap="square" lIns="0" tIns="0" rIns="0" bIns="0" rtlCol="0" anchor="ctr"/>
          <a:lstStyle/>
          <a:p>
            <a:pPr algn="l" indent="0" marL="0">
              <a:lnSpc>
                <a:spcPct val="140000"/>
              </a:lnSpc>
              <a:buNone/>
            </a:pPr>
            <a:r>
              <a:rPr lang="en-US" sz="1200" dirty="0">
                <a:solidFill>
                  <a:srgbClr val="004098"/>
                </a:solidFill>
                <a:latin typeface="Meiryo" pitchFamily="34" charset="0"/>
                <a:ea typeface="Meiryo" pitchFamily="34" charset="-122"/>
                <a:cs typeface="Meiryo" pitchFamily="34" charset="-120"/>
              </a:rPr>
              <a:t>「EKS脱却PJは、先人にも敬意を払いつつ事業としてベストな選択をする必要があり、感謝と尊敬がないと成しえなかった」— 高野さん・荒井さんへのコメントより</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インサイト  /  Valueを横断する体現者像</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Meiryo" pitchFamily="34" charset="0"/>
                <a:ea typeface="Meiryo" pitchFamily="34" charset="-122"/>
                <a:cs typeface="Meiryo" pitchFamily="34" charset="-120"/>
              </a:rPr>
              <a:t>3つのValueを横断する体現者像は「越境 × 顧客起点 × 対話」の3点セットである</a:t>
            </a:r>
            <a:endParaRPr lang="en-US" sz="22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sp>
        <p:nvSpPr>
          <p:cNvPr id="8" name="Shape 6"/>
          <p:cNvSpPr/>
          <p:nvPr/>
        </p:nvSpPr>
        <p:spPr>
          <a:xfrm>
            <a:off x="365760" y="1325880"/>
            <a:ext cx="2651760" cy="2103120"/>
          </a:xfrm>
          <a:prstGeom prst="roundRect">
            <a:avLst>
              <a:gd name="adj" fmla="val 1304"/>
            </a:avLst>
          </a:prstGeom>
          <a:solidFill>
            <a:srgbClr val="EEF3FA"/>
          </a:solidFill>
          <a:ln w="19050">
            <a:solidFill>
              <a:srgbClr val="2563EB"/>
            </a:solidFill>
            <a:prstDash val="solid"/>
          </a:ln>
        </p:spPr>
      </p:sp>
      <p:sp>
        <p:nvSpPr>
          <p:cNvPr id="9" name="Text 7"/>
          <p:cNvSpPr/>
          <p:nvPr/>
        </p:nvSpPr>
        <p:spPr>
          <a:xfrm>
            <a:off x="457200" y="1508760"/>
            <a:ext cx="2468880" cy="594360"/>
          </a:xfrm>
          <a:prstGeom prst="rect">
            <a:avLst/>
          </a:prstGeom>
          <a:noFill/>
          <a:ln/>
        </p:spPr>
        <p:txBody>
          <a:bodyPr wrap="square" lIns="0" tIns="0" rIns="0" bIns="0" rtlCol="0" anchor="ctr"/>
          <a:lstStyle/>
          <a:p>
            <a:pPr algn="ctr" indent="0" marL="0">
              <a:buNone/>
            </a:pPr>
            <a:r>
              <a:rPr lang="en-US" sz="2600" b="1" dirty="0">
                <a:solidFill>
                  <a:srgbClr val="2563EB"/>
                </a:solidFill>
                <a:latin typeface="Meiryo" pitchFamily="34" charset="0"/>
                <a:ea typeface="Meiryo" pitchFamily="34" charset="-122"/>
                <a:cs typeface="Meiryo" pitchFamily="34" charset="-120"/>
              </a:rPr>
              <a:t>越境</a:t>
            </a:r>
            <a:endParaRPr lang="en-US" sz="2600" dirty="0"/>
          </a:p>
        </p:txBody>
      </p:sp>
      <p:sp>
        <p:nvSpPr>
          <p:cNvPr id="10" name="Text 8"/>
          <p:cNvSpPr/>
          <p:nvPr/>
        </p:nvSpPr>
        <p:spPr>
          <a:xfrm>
            <a:off x="457200" y="2148840"/>
            <a:ext cx="2468880" cy="320040"/>
          </a:xfrm>
          <a:prstGeom prst="rect">
            <a:avLst/>
          </a:prstGeom>
          <a:noFill/>
          <a:ln/>
        </p:spPr>
        <p:txBody>
          <a:bodyPr wrap="square" lIns="0" tIns="0" rIns="0" bIns="0" rtlCol="0" anchor="ctr"/>
          <a:lstStyle/>
          <a:p>
            <a:pPr algn="ctr" indent="0" marL="0">
              <a:buNone/>
            </a:pPr>
            <a:r>
              <a:rPr lang="en-US" sz="1100" dirty="0">
                <a:solidFill>
                  <a:srgbClr val="444466"/>
                </a:solidFill>
                <a:latin typeface="Meiryo" pitchFamily="34" charset="0"/>
                <a:ea typeface="Meiryo" pitchFamily="34" charset="-122"/>
                <a:cs typeface="Meiryo" pitchFamily="34" charset="-120"/>
              </a:rPr>
              <a:t>= 当事者意識</a:t>
            </a:r>
            <a:endParaRPr lang="en-US" sz="1100" dirty="0"/>
          </a:p>
        </p:txBody>
      </p:sp>
      <p:sp>
        <p:nvSpPr>
          <p:cNvPr id="11" name="Text 9"/>
          <p:cNvSpPr/>
          <p:nvPr/>
        </p:nvSpPr>
        <p:spPr>
          <a:xfrm>
            <a:off x="548640" y="2514600"/>
            <a:ext cx="2286000" cy="822960"/>
          </a:xfrm>
          <a:prstGeom prst="rect">
            <a:avLst/>
          </a:prstGeom>
          <a:noFill/>
          <a:ln/>
        </p:spPr>
        <p:txBody>
          <a:bodyPr wrap="square" lIns="0" tIns="0" rIns="0" bIns="0" rtlCol="0" anchor="t"/>
          <a:lstStyle/>
          <a:p>
            <a:pPr algn="l" indent="0" marL="0">
              <a:lnSpc>
                <a:spcPct val="140000"/>
              </a:lnSpc>
              <a:buNone/>
            </a:pPr>
            <a:r>
              <a:rPr lang="en-US" sz="1200" dirty="0">
                <a:solidFill>
                  <a:srgbClr val="1A1A2E"/>
                </a:solidFill>
                <a:latin typeface="Meiryo" pitchFamily="34" charset="0"/>
                <a:ea typeface="Meiryo" pitchFamily="34" charset="-122"/>
                <a:cs typeface="Meiryo" pitchFamily="34" charset="-120"/>
              </a:rPr>
              <a:t>役割・職種・立場を越えて、事業成果のために自分ごと化する</a:t>
            </a:r>
            <a:endParaRPr lang="en-US" sz="1200" dirty="0"/>
          </a:p>
        </p:txBody>
      </p:sp>
      <p:sp>
        <p:nvSpPr>
          <p:cNvPr id="12" name="Shape 10"/>
          <p:cNvSpPr/>
          <p:nvPr/>
        </p:nvSpPr>
        <p:spPr>
          <a:xfrm>
            <a:off x="3246120" y="1325880"/>
            <a:ext cx="2651760" cy="2103120"/>
          </a:xfrm>
          <a:prstGeom prst="roundRect">
            <a:avLst>
              <a:gd name="adj" fmla="val 1304"/>
            </a:avLst>
          </a:prstGeom>
          <a:solidFill>
            <a:srgbClr val="EEF3FA"/>
          </a:solidFill>
          <a:ln w="19050">
            <a:solidFill>
              <a:srgbClr val="0891B2"/>
            </a:solidFill>
            <a:prstDash val="solid"/>
          </a:ln>
        </p:spPr>
      </p:sp>
      <p:sp>
        <p:nvSpPr>
          <p:cNvPr id="13" name="Text 11"/>
          <p:cNvSpPr/>
          <p:nvPr/>
        </p:nvSpPr>
        <p:spPr>
          <a:xfrm>
            <a:off x="3337560" y="1508760"/>
            <a:ext cx="2468880" cy="594360"/>
          </a:xfrm>
          <a:prstGeom prst="rect">
            <a:avLst/>
          </a:prstGeom>
          <a:noFill/>
          <a:ln/>
        </p:spPr>
        <p:txBody>
          <a:bodyPr wrap="square" lIns="0" tIns="0" rIns="0" bIns="0" rtlCol="0" anchor="ctr"/>
          <a:lstStyle/>
          <a:p>
            <a:pPr algn="ctr" indent="0" marL="0">
              <a:buNone/>
            </a:pPr>
            <a:r>
              <a:rPr lang="en-US" sz="2600" b="1" dirty="0">
                <a:solidFill>
                  <a:srgbClr val="0891B2"/>
                </a:solidFill>
                <a:latin typeface="Meiryo" pitchFamily="34" charset="0"/>
                <a:ea typeface="Meiryo" pitchFamily="34" charset="-122"/>
                <a:cs typeface="Meiryo" pitchFamily="34" charset="-120"/>
              </a:rPr>
              <a:t>顧客起点</a:t>
            </a:r>
            <a:endParaRPr lang="en-US" sz="2600" dirty="0"/>
          </a:p>
        </p:txBody>
      </p:sp>
      <p:sp>
        <p:nvSpPr>
          <p:cNvPr id="14" name="Text 12"/>
          <p:cNvSpPr/>
          <p:nvPr/>
        </p:nvSpPr>
        <p:spPr>
          <a:xfrm>
            <a:off x="3337560" y="2148840"/>
            <a:ext cx="2468880" cy="320040"/>
          </a:xfrm>
          <a:prstGeom prst="rect">
            <a:avLst/>
          </a:prstGeom>
          <a:noFill/>
          <a:ln/>
        </p:spPr>
        <p:txBody>
          <a:bodyPr wrap="square" lIns="0" tIns="0" rIns="0" bIns="0" rtlCol="0" anchor="ctr"/>
          <a:lstStyle/>
          <a:p>
            <a:pPr algn="ctr" indent="0" marL="0">
              <a:buNone/>
            </a:pPr>
            <a:r>
              <a:rPr lang="en-US" sz="1100" dirty="0">
                <a:solidFill>
                  <a:srgbClr val="444466"/>
                </a:solidFill>
                <a:latin typeface="Meiryo" pitchFamily="34" charset="0"/>
                <a:ea typeface="Meiryo" pitchFamily="34" charset="-122"/>
                <a:cs typeface="Meiryo" pitchFamily="34" charset="-120"/>
              </a:rPr>
              <a:t>= お客さま起点</a:t>
            </a:r>
            <a:endParaRPr lang="en-US" sz="1100" dirty="0"/>
          </a:p>
        </p:txBody>
      </p:sp>
      <p:sp>
        <p:nvSpPr>
          <p:cNvPr id="15" name="Text 13"/>
          <p:cNvSpPr/>
          <p:nvPr/>
        </p:nvSpPr>
        <p:spPr>
          <a:xfrm>
            <a:off x="3429000" y="2514600"/>
            <a:ext cx="2286000" cy="822960"/>
          </a:xfrm>
          <a:prstGeom prst="rect">
            <a:avLst/>
          </a:prstGeom>
          <a:noFill/>
          <a:ln/>
        </p:spPr>
        <p:txBody>
          <a:bodyPr wrap="square" lIns="0" tIns="0" rIns="0" bIns="0" rtlCol="0" anchor="t"/>
          <a:lstStyle/>
          <a:p>
            <a:pPr algn="l" indent="0" marL="0">
              <a:lnSpc>
                <a:spcPct val="140000"/>
              </a:lnSpc>
              <a:buNone/>
            </a:pPr>
            <a:r>
              <a:rPr lang="en-US" sz="1200" dirty="0">
                <a:solidFill>
                  <a:srgbClr val="1A1A2E"/>
                </a:solidFill>
                <a:latin typeface="Meiryo" pitchFamily="34" charset="0"/>
                <a:ea typeface="Meiryo" pitchFamily="34" charset="-122"/>
                <a:cs typeface="Meiryo" pitchFamily="34" charset="-120"/>
              </a:rPr>
              <a:t>声を聞き、価値を定義し、段階的に届ける型を持っている</a:t>
            </a:r>
            <a:endParaRPr lang="en-US" sz="1200" dirty="0"/>
          </a:p>
        </p:txBody>
      </p:sp>
      <p:sp>
        <p:nvSpPr>
          <p:cNvPr id="16" name="Shape 14"/>
          <p:cNvSpPr/>
          <p:nvPr/>
        </p:nvSpPr>
        <p:spPr>
          <a:xfrm>
            <a:off x="6126480" y="1325880"/>
            <a:ext cx="2651760" cy="2103120"/>
          </a:xfrm>
          <a:prstGeom prst="roundRect">
            <a:avLst>
              <a:gd name="adj" fmla="val 1304"/>
            </a:avLst>
          </a:prstGeom>
          <a:solidFill>
            <a:srgbClr val="EEF3FA"/>
          </a:solidFill>
          <a:ln w="19050">
            <a:solidFill>
              <a:srgbClr val="F97316"/>
            </a:solidFill>
            <a:prstDash val="solid"/>
          </a:ln>
        </p:spPr>
      </p:sp>
      <p:sp>
        <p:nvSpPr>
          <p:cNvPr id="17" name="Text 15"/>
          <p:cNvSpPr/>
          <p:nvPr/>
        </p:nvSpPr>
        <p:spPr>
          <a:xfrm>
            <a:off x="6217920" y="1508760"/>
            <a:ext cx="2468880" cy="594360"/>
          </a:xfrm>
          <a:prstGeom prst="rect">
            <a:avLst/>
          </a:prstGeom>
          <a:noFill/>
          <a:ln/>
        </p:spPr>
        <p:txBody>
          <a:bodyPr wrap="square" lIns="0" tIns="0" rIns="0" bIns="0" rtlCol="0" anchor="ctr"/>
          <a:lstStyle/>
          <a:p>
            <a:pPr algn="ctr" indent="0" marL="0">
              <a:buNone/>
            </a:pPr>
            <a:r>
              <a:rPr lang="en-US" sz="2600" b="1" dirty="0">
                <a:solidFill>
                  <a:srgbClr val="F97316"/>
                </a:solidFill>
                <a:latin typeface="Meiryo" pitchFamily="34" charset="0"/>
                <a:ea typeface="Meiryo" pitchFamily="34" charset="-122"/>
                <a:cs typeface="Meiryo" pitchFamily="34" charset="-120"/>
              </a:rPr>
              <a:t>対話</a:t>
            </a:r>
            <a:endParaRPr lang="en-US" sz="2600" dirty="0"/>
          </a:p>
        </p:txBody>
      </p:sp>
      <p:sp>
        <p:nvSpPr>
          <p:cNvPr id="18" name="Text 16"/>
          <p:cNvSpPr/>
          <p:nvPr/>
        </p:nvSpPr>
        <p:spPr>
          <a:xfrm>
            <a:off x="6217920" y="2148840"/>
            <a:ext cx="2468880" cy="320040"/>
          </a:xfrm>
          <a:prstGeom prst="rect">
            <a:avLst/>
          </a:prstGeom>
          <a:noFill/>
          <a:ln/>
        </p:spPr>
        <p:txBody>
          <a:bodyPr wrap="square" lIns="0" tIns="0" rIns="0" bIns="0" rtlCol="0" anchor="ctr"/>
          <a:lstStyle/>
          <a:p>
            <a:pPr algn="ctr" indent="0" marL="0">
              <a:buNone/>
            </a:pPr>
            <a:r>
              <a:rPr lang="en-US" sz="1100" dirty="0">
                <a:solidFill>
                  <a:srgbClr val="444466"/>
                </a:solidFill>
                <a:latin typeface="Meiryo" pitchFamily="34" charset="0"/>
                <a:ea typeface="Meiryo" pitchFamily="34" charset="-122"/>
                <a:cs typeface="Meiryo" pitchFamily="34" charset="-120"/>
              </a:rPr>
              <a:t>= 感謝と尊敬</a:t>
            </a:r>
            <a:endParaRPr lang="en-US" sz="1100" dirty="0"/>
          </a:p>
        </p:txBody>
      </p:sp>
      <p:sp>
        <p:nvSpPr>
          <p:cNvPr id="19" name="Text 17"/>
          <p:cNvSpPr/>
          <p:nvPr/>
        </p:nvSpPr>
        <p:spPr>
          <a:xfrm>
            <a:off x="6309360" y="2514600"/>
            <a:ext cx="2286000" cy="822960"/>
          </a:xfrm>
          <a:prstGeom prst="rect">
            <a:avLst/>
          </a:prstGeom>
          <a:noFill/>
          <a:ln/>
        </p:spPr>
        <p:txBody>
          <a:bodyPr wrap="square" lIns="0" tIns="0" rIns="0" bIns="0" rtlCol="0" anchor="t"/>
          <a:lstStyle/>
          <a:p>
            <a:pPr algn="l" indent="0" marL="0">
              <a:lnSpc>
                <a:spcPct val="140000"/>
              </a:lnSpc>
              <a:buNone/>
            </a:pPr>
            <a:r>
              <a:rPr lang="en-US" sz="1200" dirty="0">
                <a:solidFill>
                  <a:srgbClr val="1A1A2E"/>
                </a:solidFill>
                <a:latin typeface="Meiryo" pitchFamily="34" charset="0"/>
                <a:ea typeface="Meiryo" pitchFamily="34" charset="-122"/>
                <a:cs typeface="Meiryo" pitchFamily="34" charset="-120"/>
              </a:rPr>
              <a:t>意見対立を尊重で解き、フィードバックを言葉にして渡す</a:t>
            </a:r>
            <a:endParaRPr lang="en-US" sz="1200" dirty="0"/>
          </a:p>
        </p:txBody>
      </p:sp>
      <p:sp>
        <p:nvSpPr>
          <p:cNvPr id="20" name="Shape 18"/>
          <p:cNvSpPr/>
          <p:nvPr/>
        </p:nvSpPr>
        <p:spPr>
          <a:xfrm>
            <a:off x="365760" y="3749040"/>
            <a:ext cx="8412480" cy="914400"/>
          </a:xfrm>
          <a:prstGeom prst="roundRect">
            <a:avLst>
              <a:gd name="adj" fmla="val 3000"/>
            </a:avLst>
          </a:prstGeom>
          <a:solidFill>
            <a:srgbClr val="F0FDF4"/>
          </a:solidFill>
          <a:ln w="12700">
            <a:solidFill>
              <a:srgbClr val="059669"/>
            </a:solidFill>
            <a:prstDash val="solid"/>
          </a:ln>
        </p:spPr>
      </p:sp>
      <p:sp>
        <p:nvSpPr>
          <p:cNvPr id="21" name="Text 19"/>
          <p:cNvSpPr/>
          <p:nvPr/>
        </p:nvSpPr>
        <p:spPr>
          <a:xfrm>
            <a:off x="502920" y="3749040"/>
            <a:ext cx="8138160" cy="914400"/>
          </a:xfrm>
          <a:prstGeom prst="rect">
            <a:avLst/>
          </a:prstGeom>
          <a:noFill/>
          <a:ln/>
        </p:spPr>
        <p:txBody>
          <a:bodyPr wrap="square" lIns="0" tIns="0" rIns="0" bIns="0" rtlCol="0" anchor="ctr"/>
          <a:lstStyle/>
          <a:p>
            <a:pPr algn="l" indent="0" marL="0">
              <a:lnSpc>
                <a:spcPct val="140000"/>
              </a:lnSpc>
              <a:buNone/>
            </a:pPr>
            <a:r>
              <a:rPr lang="en-US" sz="1200" dirty="0">
                <a:solidFill>
                  <a:srgbClr val="065F46"/>
                </a:solidFill>
                <a:latin typeface="Meiryo" pitchFamily="34" charset="0"/>
                <a:ea typeface="Meiryo" pitchFamily="34" charset="-122"/>
                <a:cs typeface="Meiryo" pitchFamily="34" charset="-120"/>
              </a:rPr>
              <a:t>福田さんが3軸すべてで評価された事実が、この仮説の強い裏付け。Value体現は「どれか1つ」ではなく「3つ同時」に現れる</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sp>
      <p:sp>
        <p:nvSpPr>
          <p:cNvPr id="4" name="Text 2"/>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444466"/>
                </a:solidFill>
                <a:latin typeface="Meiryo" pitchFamily="34" charset="0"/>
                <a:ea typeface="Meiryo" pitchFamily="34" charset="-122"/>
                <a:cs typeface="Meiryo" pitchFamily="34" charset="-120"/>
              </a:rPr>
              <a:t>まとめ  /  次の一手</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sp>
      <p:sp>
        <p:nvSpPr>
          <p:cNvPr id="6" name="Text 4"/>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Meiryo" pitchFamily="34" charset="0"/>
                <a:ea typeface="Meiryo" pitchFamily="34" charset="-122"/>
                <a:cs typeface="Meiryo" pitchFamily="34" charset="-120"/>
              </a:rPr>
              <a:t>体現パターンを型化し、来期のValueブック・評価・1on1の実運用に組み込む</a:t>
            </a:r>
            <a:endParaRPr lang="en-US" sz="2200" dirty="0"/>
          </a:p>
        </p:txBody>
      </p:sp>
      <p:sp>
        <p:nvSpPr>
          <p:cNvPr id="7" name="Shape 5"/>
          <p:cNvSpPr/>
          <p:nvPr/>
        </p:nvSpPr>
        <p:spPr>
          <a:xfrm>
            <a:off x="0" y="1051560"/>
            <a:ext cx="9144000" cy="9144"/>
          </a:xfrm>
          <a:prstGeom prst="rect">
            <a:avLst/>
          </a:prstGeom>
          <a:solidFill>
            <a:srgbClr val="CADCFC"/>
          </a:solidFill>
          <a:ln w="12700">
            <a:solidFill>
              <a:srgbClr val="CADCFC"/>
            </a:solidFill>
            <a:prstDash val="solid"/>
          </a:ln>
        </p:spPr>
      </p:sp>
      <p:sp>
        <p:nvSpPr>
          <p:cNvPr id="8" name="Shape 6"/>
          <p:cNvSpPr/>
          <p:nvPr/>
        </p:nvSpPr>
        <p:spPr>
          <a:xfrm>
            <a:off x="365760" y="1234440"/>
            <a:ext cx="2779776" cy="3200400"/>
          </a:xfrm>
          <a:prstGeom prst="roundRect">
            <a:avLst>
              <a:gd name="adj" fmla="val 658"/>
            </a:avLst>
          </a:prstGeom>
          <a:solidFill>
            <a:srgbClr val="2563EB"/>
          </a:solidFill>
          <a:ln/>
        </p:spPr>
      </p:sp>
      <p:sp>
        <p:nvSpPr>
          <p:cNvPr id="9" name="Text 7"/>
          <p:cNvSpPr/>
          <p:nvPr/>
        </p:nvSpPr>
        <p:spPr>
          <a:xfrm>
            <a:off x="365760" y="1289304"/>
            <a:ext cx="2779776"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STEP 1</a:t>
            </a:r>
            <a:endParaRPr lang="en-US" sz="1000" dirty="0"/>
          </a:p>
        </p:txBody>
      </p:sp>
      <p:sp>
        <p:nvSpPr>
          <p:cNvPr id="10" name="Text 8"/>
          <p:cNvSpPr/>
          <p:nvPr/>
        </p:nvSpPr>
        <p:spPr>
          <a:xfrm>
            <a:off x="438912" y="1527048"/>
            <a:ext cx="2633472" cy="896112"/>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体現パターンの型化</a:t>
            </a:r>
            <a:endParaRPr lang="en-US" sz="1400" dirty="0"/>
          </a:p>
        </p:txBody>
      </p:sp>
      <p:sp>
        <p:nvSpPr>
          <p:cNvPr id="11" name="Text 9"/>
          <p:cNvSpPr/>
          <p:nvPr/>
        </p:nvSpPr>
        <p:spPr>
          <a:xfrm>
            <a:off x="438912" y="2423160"/>
            <a:ext cx="2633472" cy="1938528"/>
          </a:xfrm>
          <a:prstGeom prst="rect">
            <a:avLst/>
          </a:prstGeom>
          <a:noFill/>
          <a:ln/>
        </p:spPr>
        <p:txBody>
          <a:bodyPr wrap="square" lIns="0" tIns="0" rIns="0" bIns="0" rtlCol="0" anchor="t"/>
          <a:lstStyle/>
          <a:p>
            <a:pPr algn="ctr" indent="0" marL="0">
              <a:lnSpc>
                <a:spcPct val="130000"/>
              </a:lnSpc>
              <a:buNone/>
            </a:pPr>
            <a:r>
              <a:rPr lang="en-US" sz="1100" dirty="0">
                <a:solidFill>
                  <a:srgbClr val="FFFFFF"/>
                </a:solidFill>
                <a:latin typeface="Meiryo" pitchFamily="34" charset="0"/>
                <a:ea typeface="Meiryo" pitchFamily="34" charset="-122"/>
                <a:cs typeface="Meiryo" pitchFamily="34" charset="-120"/>
              </a:rPr>
              <a:t>各Valueの「型」（声を聞く→価値定義→段階提供／越境×意見×率先／尊重×言語化）を1ページにまとめてValueブック化する　[担当: デジタル/プロダクト開発  期限: 2026-05-31]</a:t>
            </a:r>
            <a:endParaRPr lang="en-US" sz="1100" dirty="0"/>
          </a:p>
        </p:txBody>
      </p:sp>
      <p:sp>
        <p:nvSpPr>
          <p:cNvPr id="12" name="Shape 10"/>
          <p:cNvSpPr/>
          <p:nvPr/>
        </p:nvSpPr>
        <p:spPr>
          <a:xfrm>
            <a:off x="3182112" y="1234440"/>
            <a:ext cx="2779776" cy="3200400"/>
          </a:xfrm>
          <a:prstGeom prst="roundRect">
            <a:avLst>
              <a:gd name="adj" fmla="val 658"/>
            </a:avLst>
          </a:prstGeom>
          <a:solidFill>
            <a:srgbClr val="0891B2"/>
          </a:solidFill>
          <a:ln/>
        </p:spPr>
      </p:sp>
      <p:sp>
        <p:nvSpPr>
          <p:cNvPr id="13" name="Text 11"/>
          <p:cNvSpPr/>
          <p:nvPr/>
        </p:nvSpPr>
        <p:spPr>
          <a:xfrm>
            <a:off x="3182112" y="1289304"/>
            <a:ext cx="2779776"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STEP 2</a:t>
            </a:r>
            <a:endParaRPr lang="en-US" sz="1000" dirty="0"/>
          </a:p>
        </p:txBody>
      </p:sp>
      <p:sp>
        <p:nvSpPr>
          <p:cNvPr id="14" name="Text 12"/>
          <p:cNvSpPr/>
          <p:nvPr/>
        </p:nvSpPr>
        <p:spPr>
          <a:xfrm>
            <a:off x="3255264" y="1527048"/>
            <a:ext cx="2633472" cy="896112"/>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1on1・評価での活用</a:t>
            </a:r>
            <a:endParaRPr lang="en-US" sz="1400" dirty="0"/>
          </a:p>
        </p:txBody>
      </p:sp>
      <p:sp>
        <p:nvSpPr>
          <p:cNvPr id="15" name="Text 13"/>
          <p:cNvSpPr/>
          <p:nvPr/>
        </p:nvSpPr>
        <p:spPr>
          <a:xfrm>
            <a:off x="3255264" y="2423160"/>
            <a:ext cx="2633472" cy="1938528"/>
          </a:xfrm>
          <a:prstGeom prst="rect">
            <a:avLst/>
          </a:prstGeom>
          <a:noFill/>
          <a:ln/>
        </p:spPr>
        <p:txBody>
          <a:bodyPr wrap="square" lIns="0" tIns="0" rIns="0" bIns="0" rtlCol="0" anchor="t"/>
          <a:lstStyle/>
          <a:p>
            <a:pPr algn="ctr" indent="0" marL="0">
              <a:lnSpc>
                <a:spcPct val="130000"/>
              </a:lnSpc>
              <a:buNone/>
            </a:pPr>
            <a:r>
              <a:rPr lang="en-US" sz="1100" dirty="0">
                <a:solidFill>
                  <a:srgbClr val="FFFFFF"/>
                </a:solidFill>
                <a:latin typeface="Meiryo" pitchFamily="34" charset="0"/>
                <a:ea typeface="Meiryo" pitchFamily="34" charset="-122"/>
                <a:cs typeface="Meiryo" pitchFamily="34" charset="-120"/>
              </a:rPr>
              <a:t>期末評価とマネージャー1on1で「Valueの型」をチェックリスト化。体現者のエピソードを社内で語り継げる仕組みにする　[担当: マネジメント層  期限: 来期 Q1 中]</a:t>
            </a:r>
            <a:endParaRPr lang="en-US" sz="1100" dirty="0"/>
          </a:p>
        </p:txBody>
      </p:sp>
      <p:sp>
        <p:nvSpPr>
          <p:cNvPr id="16" name="Shape 14"/>
          <p:cNvSpPr/>
          <p:nvPr/>
        </p:nvSpPr>
        <p:spPr>
          <a:xfrm>
            <a:off x="5998464" y="1234440"/>
            <a:ext cx="2779776" cy="3200400"/>
          </a:xfrm>
          <a:prstGeom prst="roundRect">
            <a:avLst>
              <a:gd name="adj" fmla="val 658"/>
            </a:avLst>
          </a:prstGeom>
          <a:solidFill>
            <a:srgbClr val="DC2626"/>
          </a:solidFill>
          <a:ln/>
        </p:spPr>
      </p:sp>
      <p:sp>
        <p:nvSpPr>
          <p:cNvPr id="17" name="Text 15"/>
          <p:cNvSpPr/>
          <p:nvPr/>
        </p:nvSpPr>
        <p:spPr>
          <a:xfrm>
            <a:off x="5998464" y="1289304"/>
            <a:ext cx="2779776"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STEP 3</a:t>
            </a:r>
            <a:endParaRPr lang="en-US" sz="1000" dirty="0"/>
          </a:p>
        </p:txBody>
      </p:sp>
      <p:sp>
        <p:nvSpPr>
          <p:cNvPr id="18" name="Text 16"/>
          <p:cNvSpPr/>
          <p:nvPr/>
        </p:nvSpPr>
        <p:spPr>
          <a:xfrm>
            <a:off x="6071616" y="1527048"/>
            <a:ext cx="2633472" cy="896112"/>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トップ体現者ヒアリング</a:t>
            </a:r>
            <a:endParaRPr lang="en-US" sz="1400" dirty="0"/>
          </a:p>
        </p:txBody>
      </p:sp>
      <p:sp>
        <p:nvSpPr>
          <p:cNvPr id="19" name="Text 17"/>
          <p:cNvSpPr/>
          <p:nvPr/>
        </p:nvSpPr>
        <p:spPr>
          <a:xfrm>
            <a:off x="6071616" y="2423160"/>
            <a:ext cx="2633472" cy="1938528"/>
          </a:xfrm>
          <a:prstGeom prst="rect">
            <a:avLst/>
          </a:prstGeom>
          <a:noFill/>
          <a:ln/>
        </p:spPr>
        <p:txBody>
          <a:bodyPr wrap="square" lIns="0" tIns="0" rIns="0" bIns="0" rtlCol="0" anchor="t"/>
          <a:lstStyle/>
          <a:p>
            <a:pPr algn="ctr" indent="0" marL="0">
              <a:lnSpc>
                <a:spcPct val="130000"/>
              </a:lnSpc>
              <a:buNone/>
            </a:pPr>
            <a:r>
              <a:rPr lang="en-US" sz="1100" dirty="0">
                <a:solidFill>
                  <a:srgbClr val="FFFFFF"/>
                </a:solidFill>
                <a:latin typeface="Meiryo" pitchFamily="34" charset="0"/>
                <a:ea typeface="Meiryo" pitchFamily="34" charset="-122"/>
                <a:cs typeface="Meiryo" pitchFamily="34" charset="-120"/>
              </a:rPr>
              <a:t>福田さんほか全Value型を体現するメンバーに、行動原理・判断基準・失敗談をヒアリング。型を「暗黙知→形式知」に変換する　[担当: 要決定  期限: 2026-06-30]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FY2025 Value体現者アンケート サマリー</dc:title>
  <dc:subject>PptxGenJS Presentation</dc:subject>
  <dc:creator>PptxGenJS</dc:creator>
  <cp:lastModifiedBy>PptxGenJS</cp:lastModifiedBy>
  <cp:revision>1</cp:revision>
  <dcterms:created xsi:type="dcterms:W3CDTF">2026-04-18T14:07:26Z</dcterms:created>
  <dcterms:modified xsi:type="dcterms:W3CDTF">2026-04-18T14:07:26Z</dcterms:modified>
</cp:coreProperties>
</file>