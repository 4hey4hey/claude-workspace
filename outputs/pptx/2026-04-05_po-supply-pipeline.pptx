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118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B5B0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PO体制の設計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中長期の体制づくりにおけるPO育成と配置の方針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2026-04-05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デリバリーマネジメントチーム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体制づくり ＞ PO供給パイプライン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mTGは3〜5年かけてプラットフォームに進化させる。体制もそれに合わせて設計する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1794510" cy="146304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 w="19050">
            <a:solidFill>
              <a:srgbClr val="264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07592"/>
            <a:ext cx="164820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A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14会員統合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51710" y="1673352"/>
            <a:ext cx="228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71750" y="1234440"/>
            <a:ext cx="1794510" cy="146304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 w="19050">
            <a:solidFill>
              <a:srgbClr val="6F2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4902" y="1307592"/>
            <a:ext cx="164820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23D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Kraken移行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57700" y="1673352"/>
            <a:ext cx="228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77740" y="1234440"/>
            <a:ext cx="1794510" cy="146304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 w="19050">
            <a:solidFill>
              <a:srgbClr val="1D8B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0892" y="1307592"/>
            <a:ext cx="164820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8B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EA基盤接続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63690" y="1673352"/>
            <a:ext cx="228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83730" y="1234440"/>
            <a:ext cx="1794510" cy="146304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 w="19050">
            <a:solidFill>
              <a:srgbClr val="E2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6882" y="1307592"/>
            <a:ext cx="164820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51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MS化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内製化体制のゴールは打席数を増やして成果を出し続けること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体制づくり ＞ PO供給パイプライン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打席数＝チーム数×スピード×ムダ打ちしない。3要素すべてにPOが関わる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529840" cy="1280160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 w="19050">
            <a:solidFill>
              <a:srgbClr val="264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07592"/>
            <a:ext cx="2383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A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746504"/>
            <a:ext cx="2383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並列で回せる施策の数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87040" y="1618488"/>
            <a:ext cx="228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07080" y="1234440"/>
            <a:ext cx="2529840" cy="1280160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 w="19050">
            <a:solidFill>
              <a:srgbClr val="6F2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0232" y="1307592"/>
            <a:ext cx="2383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23D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スピード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0232" y="1746504"/>
            <a:ext cx="2383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1施策のリードタイム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28360" y="1618488"/>
            <a:ext cx="228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8400" y="1234440"/>
            <a:ext cx="2529840" cy="1280160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 w="19050">
            <a:solidFill>
              <a:srgbClr val="1D8B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1552" y="1307592"/>
            <a:ext cx="2383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8B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ムダ打ちしない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1552" y="1746504"/>
            <a:ext cx="2383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手戻り・やり直しの排除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697480"/>
            <a:ext cx="8412480" cy="731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3つの役割が打席数に直結する: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64A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エンジニア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→ スピード（技術力・自動化）　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6F23D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SM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→ チーム数（自律チームの立ち上げ）　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D8B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→ ムダ打ちしない（スコープ判断・優先順位）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520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POがチーム数・スピード・ムダ打ちしない全てに関わる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体制づくり ＞ PO供給パイプライン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4チームあるが施策を打ち切れるのはNaikistだけ。POだけ供給の仕組みがない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377440"/>
                <a:gridCol w="2377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チーム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SM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PO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チーム安定度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Naikist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堤さん（SM補佐）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福田さん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CT安定 ✅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Fluppuccino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中道さん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伊藤さん（PO候補）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CT未安定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Discovery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長島さん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森さん（兼務）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CT未安定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Guardians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不在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迫田さん暫定→室山さん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開発リソース削減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3200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エンジニア・SMは供給設計あり。POが最大のボトルネック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体制づくり ＞ PO供給パイプライン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PO不在だと投資がムダになる。人を増やしても構造は変わらない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840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アンチパターン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結果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大きい要件をそのまま着手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手戻り1〜3週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不確実なまま全部作る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リリース直前に手戻り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スコープ膨張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予定通り終わらない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前提未整理で着手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ムダな開発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PO判断待ち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進まない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小さく分割し検証しながら進める判断者＝POが必要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体制づくり ＞ PO供給パイプライン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Krakenで実際に起きた：5ヶ月遅延・カスタマイズ肥大・影響額14.9億円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4114800" cy="1787652"/>
          </a:xfrm>
          <a:prstGeom prst="roundRect">
            <a:avLst>
              <a:gd name="adj" fmla="val 153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188720"/>
            <a:ext cx="4078224" cy="54864"/>
          </a:xfrm>
          <a:prstGeom prst="rect">
            <a:avLst/>
          </a:prstGeom>
          <a:solidFill>
            <a:srgbClr val="264AF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4A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大きいまま着手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384048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仕様変更が噴出し、見積もりが破綻した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1787652"/>
          </a:xfrm>
          <a:prstGeom prst="roundRect">
            <a:avLst>
              <a:gd name="adj" fmla="val 153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188720"/>
            <a:ext cx="4078224" cy="54864"/>
          </a:xfrm>
          <a:prstGeom prst="rect">
            <a:avLst/>
          </a:prstGeom>
          <a:solidFill>
            <a:srgbClr val="6F23D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F23D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やらない判断が不在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691640"/>
            <a:ext cx="384048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カスタマイズが多発し、開発規模が際限なく膨張した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59252"/>
            <a:ext cx="4114800" cy="1787652"/>
          </a:xfrm>
          <a:prstGeom prst="roundRect">
            <a:avLst>
              <a:gd name="adj" fmla="val 153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159252"/>
            <a:ext cx="4078224" cy="54864"/>
          </a:xfrm>
          <a:prstGeom prst="rect">
            <a:avLst/>
          </a:prstGeom>
          <a:solidFill>
            <a:srgbClr val="1D8B5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964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8B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検証なしで進行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662172"/>
            <a:ext cx="384048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リスクが顕在化し、5ヶ月の遅延が発生した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9252"/>
            <a:ext cx="4114800" cy="1787652"/>
          </a:xfrm>
          <a:prstGeom prst="roundRect">
            <a:avLst>
              <a:gd name="adj" fmla="val 153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3159252"/>
            <a:ext cx="4078224" cy="54864"/>
          </a:xfrm>
          <a:prstGeom prst="rect">
            <a:avLst/>
          </a:prstGeom>
          <a:solidFill>
            <a:srgbClr val="E2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964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51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学習ループなし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662172"/>
            <a:ext cx="384048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計画引き直しを繰り返し、影響額14.9億円に到達した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エンジニアの技術力ではなく判断の構造が弱かった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体制づくり ＞ PO供給パイプライン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PO候補にはドメイン知識・SH調整・判断経験・信頼・段取り力の5条件が必要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4846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#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条件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Krakenで欠けていたもの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業務ドメイン知識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ギャップ見積もれず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SH調整経験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カスタマイズ止まらず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判断の経験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計画引き直し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エンジニアとの信頼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リスク検証なし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段取り力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体制混乱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Krakenで欠けていたものから逆算した条件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体制づくり ＞ PO供給パイプライン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調達は内部登用を最優先。外部採用はスピードを上げたい場合に併用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840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方針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いつ選ぶか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強み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内部登用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最優先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業務知識・信頼あり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外部採用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内部にいない場合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即戦力だがドメイン知識ゼロ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ジュニア育成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中長期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2年かけて育てる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inet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難しい枠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異動リスク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業務知識と信頼が既にある人が最も立ち上がりが速い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体制づくり ＞ PO供給パイプライン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PO配置方針：Naikist基準チーム、Fluppuccino・Discovery・Guardiansに段階配置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チーム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現状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方針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Naikist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福田さん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基準チーム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Fluppuccino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伊藤さんPO候補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段階的に権限拡大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Discovery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森さん兼務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Ready定義導入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Guardians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迫田さん暫定→室山さん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PO候補化検討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4チーム全てにPO機能を安定化させる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体制づくり ＞ PO供給パイプライン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ジュニアは施策を1本任せる業務アサインで2年かけてPOに育てる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779776" cy="2560320"/>
          </a:xfrm>
          <a:prstGeom prst="roundRect">
            <a:avLst>
              <a:gd name="adj" fmla="val 714"/>
            </a:avLst>
          </a:prstGeom>
          <a:solidFill>
            <a:srgbClr val="264AF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527048"/>
            <a:ext cx="2633472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1年目: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施策を1本回す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" y="2243938"/>
            <a:ext cx="2633472" cy="147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POがメンターとして伴走し判断の型をフィードバック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1234440"/>
            <a:ext cx="2779776" cy="2560320"/>
          </a:xfrm>
          <a:prstGeom prst="roundRect">
            <a:avLst>
              <a:gd name="adj" fmla="val 714"/>
            </a:avLst>
          </a:prstGeom>
          <a:solidFill>
            <a:srgbClr val="6F23D0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55264" y="1527048"/>
            <a:ext cx="2633472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2年目前半: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ペアPO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55264" y="2243938"/>
            <a:ext cx="2633472" cy="147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育成フレームに乗り段階的にPO化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1234440"/>
            <a:ext cx="2779776" cy="2560320"/>
          </a:xfrm>
          <a:prstGeom prst="roundRect">
            <a:avLst>
              <a:gd name="adj" fmla="val 714"/>
            </a:avLst>
          </a:prstGeom>
          <a:solidFill>
            <a:srgbClr val="1D8B56"/>
          </a:solidFill>
          <a:ln/>
        </p:spPr>
      </p:sp>
      <p:sp>
        <p:nvSpPr>
          <p:cNvPr id="17" name="Text 15"/>
          <p:cNvSpPr/>
          <p:nvPr/>
        </p:nvSpPr>
        <p:spPr>
          <a:xfrm>
            <a:off x="5998464" y="128930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71616" y="1527048"/>
            <a:ext cx="2633472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2年目後半: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独り立ち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71616" y="2243938"/>
            <a:ext cx="2633472" cy="147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チームのPOとして自律的に判断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育成と打席数の拡大が両立する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体制づくり ＞ PO供給パイプライン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PO育成は既存POペア×Odd-e支援の2本柱。既存PO自身も底上げされる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4069080" cy="2560320"/>
          </a:xfrm>
          <a:prstGeom prst="roundRect">
            <a:avLst>
              <a:gd name="adj" fmla="val 1071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258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既存POとのペア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3794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判断の型を体験する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段階的に権限を拡大する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PO負荷が下がる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B5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069080" cy="2560320"/>
          </a:xfrm>
          <a:prstGeom prst="roundRect">
            <a:avLst>
              <a:gd name="adj" fmla="val 1071"/>
            </a:avLst>
          </a:prstGeom>
          <a:solidFill>
            <a:srgbClr val="F2F2F2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258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Odd-e支援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794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判断の質にフィードバック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候補者との1on1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既存POも底上げされる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SM育成と同じ構造をPOにも作る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118F"/>
          </a:solidFill>
          <a:ln w="12700">
            <a:solidFill>
              <a:srgbClr val="0011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FY26 体制づくり ＞ PO供給パイプライン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室山さんはKraken業務知識・SH調整・Guardiansとの協働が揃い最も適任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適性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根拠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1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業務知識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Kraken1年の実績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PO的スキル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要件整理・ディレクション・SH調整・前職PM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ネットワーク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エネ事とのパイプ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エンジニア関係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Guardiansと協働済み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本人もプロダクト開発側へのシフトを志向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PO体制の設計 — 中長期の体制づくりにおけるPO育成と配置の方針</dc:title>
  <dc:subject>PptxGenJS Presentation</dc:subject>
  <dc:creator>PptxGenJS</dc:creator>
  <cp:lastModifiedBy>PptxGenJS</cp:lastModifiedBy>
  <cp:revision>1</cp:revision>
  <dcterms:created xsi:type="dcterms:W3CDTF">2026-04-05T13:09:30Z</dcterms:created>
  <dcterms:modified xsi:type="dcterms:W3CDTF">2026-04-05T13:09:30Z</dcterms:modified>
</cp:coreProperties>
</file>