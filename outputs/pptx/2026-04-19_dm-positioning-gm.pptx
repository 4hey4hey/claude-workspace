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デリバリーマネジメントチーム FY26方針 ／ 位置づけ</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1800" b="1" dirty="0">
                <a:solidFill>
                  <a:srgbClr val="1A1A2E"/>
                </a:solidFill>
                <a:latin typeface="Meiryo" pitchFamily="34" charset="0"/>
                <a:ea typeface="Meiryo" pitchFamily="34" charset="-122"/>
                <a:cs typeface="Meiryo" pitchFamily="34" charset="-120"/>
              </a:rPr>
              <a:t>DMチームは、4プロダクトの事業成果を支える条件整備の責任組織として機能する</a:t>
            </a:r>
            <a:endParaRPr lang="en-US" sz="18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Shape 6"/>
          <p:cNvSpPr/>
          <p:nvPr/>
        </p:nvSpPr>
        <p:spPr>
          <a:xfrm>
            <a:off x="365760" y="1234440"/>
            <a:ext cx="2000250" cy="1143000"/>
          </a:xfrm>
          <a:prstGeom prst="roundRect">
            <a:avLst>
              <a:gd name="adj" fmla="val 2400"/>
            </a:avLst>
          </a:prstGeom>
          <a:solidFill>
            <a:srgbClr val="EEF3FA"/>
          </a:solidFill>
          <a:ln/>
          <a:effectLst>
            <a:outerShdw sx="100000" sy="100000" kx="0" ky="0" algn="bl" rotWithShape="0" blurRad="50800" dist="25400" dir="8100000">
              <a:srgbClr val="000000">
                <a:alpha val="8000"/>
              </a:srgbClr>
            </a:outerShdw>
          </a:effectLst>
        </p:spPr>
      </p:sp>
      <p:sp>
        <p:nvSpPr>
          <p:cNvPr id="9" name="Shape 7"/>
          <p:cNvSpPr/>
          <p:nvPr/>
        </p:nvSpPr>
        <p:spPr>
          <a:xfrm>
            <a:off x="384048" y="1234440"/>
            <a:ext cx="1963674" cy="54864"/>
          </a:xfrm>
          <a:prstGeom prst="rect">
            <a:avLst/>
          </a:prstGeom>
          <a:solidFill>
            <a:srgbClr val="004098"/>
          </a:solidFill>
          <a:ln/>
        </p:spPr>
      </p:sp>
      <p:sp>
        <p:nvSpPr>
          <p:cNvPr id="10" name="Text 8"/>
          <p:cNvSpPr/>
          <p:nvPr/>
        </p:nvSpPr>
        <p:spPr>
          <a:xfrm>
            <a:off x="502920" y="1371600"/>
            <a:ext cx="1725930" cy="365760"/>
          </a:xfrm>
          <a:prstGeom prst="rect">
            <a:avLst/>
          </a:prstGeom>
          <a:noFill/>
          <a:ln/>
        </p:spPr>
        <p:txBody>
          <a:bodyPr wrap="square" lIns="0" tIns="0" rIns="0" bIns="0" rtlCol="0" anchor="t"/>
          <a:lstStyle/>
          <a:p>
            <a:pPr algn="l" indent="0" marL="0">
              <a:buNone/>
            </a:pPr>
            <a:r>
              <a:rPr lang="en-US" sz="1400" b="1" dirty="0">
                <a:solidFill>
                  <a:srgbClr val="004098"/>
                </a:solidFill>
                <a:latin typeface="Meiryo" pitchFamily="34" charset="0"/>
                <a:ea typeface="Meiryo" pitchFamily="34" charset="-122"/>
                <a:cs typeface="Meiryo" pitchFamily="34" charset="-120"/>
              </a:rPr>
              <a:t>myTOKYOGAS（片山TL）</a:t>
            </a:r>
            <a:endParaRPr lang="en-US" sz="1400" dirty="0"/>
          </a:p>
        </p:txBody>
      </p:sp>
      <p:sp>
        <p:nvSpPr>
          <p:cNvPr id="11" name="Text 9"/>
          <p:cNvSpPr/>
          <p:nvPr/>
        </p:nvSpPr>
        <p:spPr>
          <a:xfrm>
            <a:off x="502920" y="1737360"/>
            <a:ext cx="1725930" cy="50292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事業成果責任</a:t>
            </a:r>
            <a:endParaRPr lang="en-US" sz="1300" dirty="0"/>
          </a:p>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会員数・送客・熱狂顧客獲得</a:t>
            </a:r>
            <a:endParaRPr lang="en-US" sz="1300" dirty="0"/>
          </a:p>
        </p:txBody>
      </p:sp>
      <p:sp>
        <p:nvSpPr>
          <p:cNvPr id="12" name="Shape 10"/>
          <p:cNvSpPr/>
          <p:nvPr/>
        </p:nvSpPr>
        <p:spPr>
          <a:xfrm>
            <a:off x="2503170" y="1234440"/>
            <a:ext cx="2000250" cy="1143000"/>
          </a:xfrm>
          <a:prstGeom prst="roundRect">
            <a:avLst>
              <a:gd name="adj" fmla="val 2400"/>
            </a:avLst>
          </a:prstGeom>
          <a:solidFill>
            <a:srgbClr val="EEF3FA"/>
          </a:solidFill>
          <a:ln/>
          <a:effectLst>
            <a:outerShdw sx="100000" sy="100000" kx="0" ky="0" algn="bl" rotWithShape="0" blurRad="50800" dist="25400" dir="8100000">
              <a:srgbClr val="000000">
                <a:alpha val="8000"/>
              </a:srgbClr>
            </a:outerShdw>
          </a:effectLst>
        </p:spPr>
      </p:sp>
      <p:sp>
        <p:nvSpPr>
          <p:cNvPr id="13" name="Shape 11"/>
          <p:cNvSpPr/>
          <p:nvPr/>
        </p:nvSpPr>
        <p:spPr>
          <a:xfrm>
            <a:off x="2521458" y="1234440"/>
            <a:ext cx="1963674" cy="54864"/>
          </a:xfrm>
          <a:prstGeom prst="rect">
            <a:avLst/>
          </a:prstGeom>
          <a:solidFill>
            <a:srgbClr val="004098"/>
          </a:solidFill>
          <a:ln/>
        </p:spPr>
      </p:sp>
      <p:sp>
        <p:nvSpPr>
          <p:cNvPr id="14" name="Text 12"/>
          <p:cNvSpPr/>
          <p:nvPr/>
        </p:nvSpPr>
        <p:spPr>
          <a:xfrm>
            <a:off x="2640330" y="1371600"/>
            <a:ext cx="1725930" cy="365760"/>
          </a:xfrm>
          <a:prstGeom prst="rect">
            <a:avLst/>
          </a:prstGeom>
          <a:noFill/>
          <a:ln/>
        </p:spPr>
        <p:txBody>
          <a:bodyPr wrap="square" lIns="0" tIns="0" rIns="0" bIns="0" rtlCol="0" anchor="t"/>
          <a:lstStyle/>
          <a:p>
            <a:pPr algn="l" indent="0" marL="0">
              <a:buNone/>
            </a:pPr>
            <a:r>
              <a:rPr lang="en-US" sz="1400" b="1" dirty="0">
                <a:solidFill>
                  <a:srgbClr val="004098"/>
                </a:solidFill>
                <a:latin typeface="Meiryo" pitchFamily="34" charset="0"/>
                <a:ea typeface="Meiryo" pitchFamily="34" charset="-122"/>
                <a:cs typeface="Meiryo" pitchFamily="34" charset="-120"/>
              </a:rPr>
              <a:t>Kraken（基幹）（髙松TL）</a:t>
            </a:r>
            <a:endParaRPr lang="en-US" sz="1400" dirty="0"/>
          </a:p>
        </p:txBody>
      </p:sp>
      <p:sp>
        <p:nvSpPr>
          <p:cNvPr id="15" name="Text 13"/>
          <p:cNvSpPr/>
          <p:nvPr/>
        </p:nvSpPr>
        <p:spPr>
          <a:xfrm>
            <a:off x="2640330" y="1737360"/>
            <a:ext cx="1725930" cy="50292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事業成果責任</a:t>
            </a:r>
            <a:endParaRPr lang="en-US" sz="1300" dirty="0"/>
          </a:p>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基幹刷新の価値提供</a:t>
            </a:r>
            <a:endParaRPr lang="en-US" sz="1300" dirty="0"/>
          </a:p>
        </p:txBody>
      </p:sp>
      <p:sp>
        <p:nvSpPr>
          <p:cNvPr id="16" name="Shape 14"/>
          <p:cNvSpPr/>
          <p:nvPr/>
        </p:nvSpPr>
        <p:spPr>
          <a:xfrm>
            <a:off x="4640580" y="1234440"/>
            <a:ext cx="2000250" cy="1143000"/>
          </a:xfrm>
          <a:prstGeom prst="roundRect">
            <a:avLst>
              <a:gd name="adj" fmla="val 2400"/>
            </a:avLst>
          </a:prstGeom>
          <a:solidFill>
            <a:srgbClr val="EEF3FA"/>
          </a:solidFill>
          <a:ln/>
          <a:effectLst>
            <a:outerShdw sx="100000" sy="100000" kx="0" ky="0" algn="bl" rotWithShape="0" blurRad="50800" dist="25400" dir="8100000">
              <a:srgbClr val="000000">
                <a:alpha val="8000"/>
              </a:srgbClr>
            </a:outerShdw>
          </a:effectLst>
        </p:spPr>
      </p:sp>
      <p:sp>
        <p:nvSpPr>
          <p:cNvPr id="17" name="Shape 15"/>
          <p:cNvSpPr/>
          <p:nvPr/>
        </p:nvSpPr>
        <p:spPr>
          <a:xfrm>
            <a:off x="4658868" y="1234440"/>
            <a:ext cx="1963674" cy="54864"/>
          </a:xfrm>
          <a:prstGeom prst="rect">
            <a:avLst/>
          </a:prstGeom>
          <a:solidFill>
            <a:srgbClr val="004098"/>
          </a:solidFill>
          <a:ln/>
        </p:spPr>
      </p:sp>
      <p:sp>
        <p:nvSpPr>
          <p:cNvPr id="18" name="Text 16"/>
          <p:cNvSpPr/>
          <p:nvPr/>
        </p:nvSpPr>
        <p:spPr>
          <a:xfrm>
            <a:off x="4777740" y="1371600"/>
            <a:ext cx="1725930" cy="365760"/>
          </a:xfrm>
          <a:prstGeom prst="rect">
            <a:avLst/>
          </a:prstGeom>
          <a:noFill/>
          <a:ln/>
        </p:spPr>
        <p:txBody>
          <a:bodyPr wrap="square" lIns="0" tIns="0" rIns="0" bIns="0" rtlCol="0" anchor="t"/>
          <a:lstStyle/>
          <a:p>
            <a:pPr algn="l" indent="0" marL="0">
              <a:buNone/>
            </a:pPr>
            <a:r>
              <a:rPr lang="en-US" sz="1400" b="1" dirty="0">
                <a:solidFill>
                  <a:srgbClr val="004098"/>
                </a:solidFill>
                <a:latin typeface="Meiryo" pitchFamily="34" charset="0"/>
                <a:ea typeface="Meiryo" pitchFamily="34" charset="-122"/>
                <a:cs typeface="Meiryo" pitchFamily="34" charset="-120"/>
              </a:rPr>
              <a:t>Kraken連携PJ（柏木TL）</a:t>
            </a:r>
            <a:endParaRPr lang="en-US" sz="1400" dirty="0"/>
          </a:p>
        </p:txBody>
      </p:sp>
      <p:sp>
        <p:nvSpPr>
          <p:cNvPr id="19" name="Text 17"/>
          <p:cNvSpPr/>
          <p:nvPr/>
        </p:nvSpPr>
        <p:spPr>
          <a:xfrm>
            <a:off x="4777740" y="1737360"/>
            <a:ext cx="1725930" cy="50292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事業成果責任</a:t>
            </a:r>
            <a:endParaRPr lang="en-US" sz="1300" dirty="0"/>
          </a:p>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連携プロジェクトの価値提供</a:t>
            </a:r>
            <a:endParaRPr lang="en-US" sz="1300" dirty="0"/>
          </a:p>
        </p:txBody>
      </p:sp>
      <p:sp>
        <p:nvSpPr>
          <p:cNvPr id="20" name="Shape 18"/>
          <p:cNvSpPr/>
          <p:nvPr/>
        </p:nvSpPr>
        <p:spPr>
          <a:xfrm>
            <a:off x="6777990" y="1234440"/>
            <a:ext cx="2000250" cy="1143000"/>
          </a:xfrm>
          <a:prstGeom prst="roundRect">
            <a:avLst>
              <a:gd name="adj" fmla="val 2400"/>
            </a:avLst>
          </a:prstGeom>
          <a:solidFill>
            <a:srgbClr val="EEF3FA"/>
          </a:solidFill>
          <a:ln/>
          <a:effectLst>
            <a:outerShdw sx="100000" sy="100000" kx="0" ky="0" algn="bl" rotWithShape="0" blurRad="50800" dist="25400" dir="8100000">
              <a:srgbClr val="000000">
                <a:alpha val="8000"/>
              </a:srgbClr>
            </a:outerShdw>
          </a:effectLst>
        </p:spPr>
      </p:sp>
      <p:sp>
        <p:nvSpPr>
          <p:cNvPr id="21" name="Shape 19"/>
          <p:cNvSpPr/>
          <p:nvPr/>
        </p:nvSpPr>
        <p:spPr>
          <a:xfrm>
            <a:off x="6796278" y="1234440"/>
            <a:ext cx="1963674" cy="54864"/>
          </a:xfrm>
          <a:prstGeom prst="rect">
            <a:avLst/>
          </a:prstGeom>
          <a:solidFill>
            <a:srgbClr val="004098"/>
          </a:solidFill>
          <a:ln/>
        </p:spPr>
      </p:sp>
      <p:sp>
        <p:nvSpPr>
          <p:cNvPr id="22" name="Text 20"/>
          <p:cNvSpPr/>
          <p:nvPr/>
        </p:nvSpPr>
        <p:spPr>
          <a:xfrm>
            <a:off x="6915150" y="1371600"/>
            <a:ext cx="1725930" cy="365760"/>
          </a:xfrm>
          <a:prstGeom prst="rect">
            <a:avLst/>
          </a:prstGeom>
          <a:noFill/>
          <a:ln/>
        </p:spPr>
        <p:txBody>
          <a:bodyPr wrap="square" lIns="0" tIns="0" rIns="0" bIns="0" rtlCol="0" anchor="t"/>
          <a:lstStyle/>
          <a:p>
            <a:pPr algn="l" indent="0" marL="0">
              <a:buNone/>
            </a:pPr>
            <a:r>
              <a:rPr lang="en-US" sz="1400" b="1" dirty="0">
                <a:solidFill>
                  <a:srgbClr val="004098"/>
                </a:solidFill>
                <a:latin typeface="Meiryo" pitchFamily="34" charset="0"/>
                <a:ea typeface="Meiryo" pitchFamily="34" charset="-122"/>
                <a:cs typeface="Meiryo" pitchFamily="34" charset="-120"/>
              </a:rPr>
              <a:t>EA（湯浅PdM）</a:t>
            </a:r>
            <a:endParaRPr lang="en-US" sz="1400" dirty="0"/>
          </a:p>
        </p:txBody>
      </p:sp>
      <p:sp>
        <p:nvSpPr>
          <p:cNvPr id="23" name="Text 21"/>
          <p:cNvSpPr/>
          <p:nvPr/>
        </p:nvSpPr>
        <p:spPr>
          <a:xfrm>
            <a:off x="6915150" y="1737360"/>
            <a:ext cx="1725930" cy="50292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事業成果責任</a:t>
            </a:r>
            <a:endParaRPr lang="en-US" sz="1300" dirty="0"/>
          </a:p>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EA構想の具現化</a:t>
            </a:r>
            <a:endParaRPr lang="en-US" sz="1300" dirty="0"/>
          </a:p>
        </p:txBody>
      </p:sp>
      <p:sp>
        <p:nvSpPr>
          <p:cNvPr id="24" name="Shape 22"/>
          <p:cNvSpPr/>
          <p:nvPr/>
        </p:nvSpPr>
        <p:spPr>
          <a:xfrm>
            <a:off x="365760" y="2514600"/>
            <a:ext cx="8412480" cy="1234440"/>
          </a:xfrm>
          <a:prstGeom prst="roundRect">
            <a:avLst>
              <a:gd name="adj" fmla="val 2222"/>
            </a:avLst>
          </a:prstGeom>
          <a:solidFill>
            <a:srgbClr val="F8FAFC"/>
          </a:solidFill>
          <a:ln w="9525">
            <a:solidFill>
              <a:srgbClr val="CADCFC"/>
            </a:solidFill>
            <a:prstDash val="solid"/>
          </a:ln>
        </p:spPr>
      </p:sp>
      <p:sp>
        <p:nvSpPr>
          <p:cNvPr id="25" name="Text 23"/>
          <p:cNvSpPr/>
          <p:nvPr/>
        </p:nvSpPr>
        <p:spPr>
          <a:xfrm>
            <a:off x="548640" y="2606040"/>
            <a:ext cx="8046720" cy="292608"/>
          </a:xfrm>
          <a:prstGeom prst="rect">
            <a:avLst/>
          </a:prstGeom>
          <a:noFill/>
          <a:ln/>
        </p:spPr>
        <p:txBody>
          <a:bodyPr wrap="square" lIns="0" tIns="0" rIns="0" bIns="0" rtlCol="0" anchor="ctr"/>
          <a:lstStyle/>
          <a:p>
            <a:pPr algn="l" indent="0" marL="0">
              <a:buNone/>
            </a:pPr>
            <a:r>
              <a:rPr lang="en-US" sz="1300" b="1" dirty="0">
                <a:solidFill>
                  <a:srgbClr val="004098"/>
                </a:solidFill>
                <a:latin typeface="Meiryo" pitchFamily="34" charset="0"/>
                <a:ea typeface="Meiryo" pitchFamily="34" charset="-122"/>
                <a:cs typeface="Meiryo" pitchFamily="34" charset="-120"/>
              </a:rPr>
              <a:t>なぜこの位置づけか ─ 責任分界の論理</a:t>
            </a:r>
            <a:endParaRPr lang="en-US" sz="1300" dirty="0"/>
          </a:p>
        </p:txBody>
      </p:sp>
      <p:sp>
        <p:nvSpPr>
          <p:cNvPr id="26" name="Text 24"/>
          <p:cNvSpPr/>
          <p:nvPr/>
        </p:nvSpPr>
        <p:spPr>
          <a:xfrm>
            <a:off x="548640" y="2898648"/>
            <a:ext cx="8046720" cy="777240"/>
          </a:xfrm>
          <a:prstGeom prst="rect">
            <a:avLst/>
          </a:prstGeom>
          <a:noFill/>
          <a:ln/>
        </p:spPr>
        <p:txBody>
          <a:bodyPr wrap="square" lIns="0" tIns="0" rIns="0" bIns="0" rtlCol="0" anchor="t"/>
          <a:lstStyle/>
          <a:p>
            <a:pPr algn="l" indent="0" marL="0">
              <a:lnSpc>
                <a:spcPct val="145000"/>
              </a:lnSpc>
              <a:buNone/>
            </a:pPr>
            <a:r>
              <a:rPr lang="en-US" sz="1100" dirty="0">
                <a:solidFill>
                  <a:srgbClr val="1A1A2E"/>
                </a:solidFill>
                <a:latin typeface="Meiryo" pitchFamily="34" charset="0"/>
                <a:ea typeface="Meiryo" pitchFamily="34" charset="-122"/>
                <a:cs typeface="Meiryo" pitchFamily="34" charset="-120"/>
              </a:rPr>
              <a:t>各プロダクトの事業成果（会員数・送客・熱狂顧客など）は、顧客接点が個別である以上、現場に近いプロダクト責任者が判断の主権を持つのが最適である。
</a:t>
            </a:r>
            <a:pPr algn="l" indent="0" marL="0">
              <a:lnSpc>
                <a:spcPct val="145000"/>
              </a:lnSpc>
              <a:buNone/>
            </a:pPr>
            <a:r>
              <a:rPr lang="en-US" sz="1100" dirty="0">
                <a:solidFill>
                  <a:srgbClr val="1A1A2E"/>
                </a:solidFill>
                <a:latin typeface="Meiryo" pitchFamily="34" charset="0"/>
                <a:ea typeface="Meiryo" pitchFamily="34" charset="-122"/>
                <a:cs typeface="Meiryo" pitchFamily="34" charset="-120"/>
              </a:rPr>
              <a:t>一方、デリバリーライン品質（入口品質・フロー効率・学習ループなど）は4プロダクトに共通する構造課題であり、個別最適ではなく横断で整備することで規模の経済が効く。
</a:t>
            </a:r>
            <a:pPr algn="l" indent="0" marL="0">
              <a:lnSpc>
                <a:spcPct val="145000"/>
              </a:lnSpc>
              <a:buNone/>
            </a:pPr>
            <a:r>
              <a:rPr lang="en-US" sz="1100" b="1" dirty="0">
                <a:solidFill>
                  <a:srgbClr val="1A1A2E"/>
                </a:solidFill>
                <a:latin typeface="Meiryo" pitchFamily="34" charset="0"/>
                <a:ea typeface="Meiryo" pitchFamily="34" charset="-122"/>
                <a:cs typeface="Meiryo" pitchFamily="34" charset="-120"/>
              </a:rPr>
              <a:t>この分担により、プロダクト責任者は事業判断に専念でき、DMチームは横断のデリバリー品質向上に集中できる。結果として4プロダクト全体の投資効率が最大化する。</a:t>
            </a:r>
            <a:endParaRPr lang="en-US" sz="1100" dirty="0"/>
          </a:p>
        </p:txBody>
      </p:sp>
      <p:sp>
        <p:nvSpPr>
          <p:cNvPr id="27" name="Shape 25"/>
          <p:cNvSpPr/>
          <p:nvPr/>
        </p:nvSpPr>
        <p:spPr>
          <a:xfrm>
            <a:off x="365760" y="3858768"/>
            <a:ext cx="8412480" cy="1078992"/>
          </a:xfrm>
          <a:prstGeom prst="roundRect">
            <a:avLst>
              <a:gd name="adj" fmla="val 2542"/>
            </a:avLst>
          </a:prstGeom>
          <a:solidFill>
            <a:srgbClr val="EEF3FA"/>
          </a:solidFill>
          <a:ln w="19050">
            <a:solidFill>
              <a:srgbClr val="004098"/>
            </a:solidFill>
            <a:prstDash val="solid"/>
          </a:ln>
        </p:spPr>
      </p:sp>
      <p:sp>
        <p:nvSpPr>
          <p:cNvPr id="28" name="Shape 26"/>
          <p:cNvSpPr/>
          <p:nvPr/>
        </p:nvSpPr>
        <p:spPr>
          <a:xfrm>
            <a:off x="384048" y="3858768"/>
            <a:ext cx="8375904" cy="292608"/>
          </a:xfrm>
          <a:prstGeom prst="rect">
            <a:avLst/>
          </a:prstGeom>
          <a:solidFill>
            <a:srgbClr val="004098"/>
          </a:solidFill>
          <a:ln w="12700">
            <a:solidFill>
              <a:srgbClr val="004098"/>
            </a:solidFill>
            <a:prstDash val="solid"/>
          </a:ln>
        </p:spPr>
      </p:sp>
      <p:sp>
        <p:nvSpPr>
          <p:cNvPr id="29" name="Text 27"/>
          <p:cNvSpPr/>
          <p:nvPr/>
        </p:nvSpPr>
        <p:spPr>
          <a:xfrm>
            <a:off x="548640" y="3858768"/>
            <a:ext cx="822960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Meiryo" pitchFamily="34" charset="0"/>
                <a:ea typeface="Meiryo" pitchFamily="34" charset="-122"/>
                <a:cs typeface="Meiryo" pitchFamily="34" charset="-120"/>
              </a:rPr>
              <a:t>デリバリーマネジメントチーム ─ 4プロダクト共通基盤</a:t>
            </a:r>
            <a:endParaRPr lang="en-US" sz="1100" dirty="0"/>
          </a:p>
        </p:txBody>
      </p:sp>
      <p:sp>
        <p:nvSpPr>
          <p:cNvPr id="30" name="Text 28"/>
          <p:cNvSpPr/>
          <p:nvPr/>
        </p:nvSpPr>
        <p:spPr>
          <a:xfrm>
            <a:off x="548640" y="4206240"/>
            <a:ext cx="8046720" cy="694944"/>
          </a:xfrm>
          <a:prstGeom prst="rect">
            <a:avLst/>
          </a:prstGeom>
          <a:noFill/>
          <a:ln/>
        </p:spPr>
        <p:txBody>
          <a:bodyPr wrap="square" lIns="0" tIns="0" rIns="0" bIns="0" rtlCol="0" anchor="ctr"/>
          <a:lstStyle/>
          <a:p>
            <a:pPr algn="l" indent="0" marL="0">
              <a:lnSpc>
                <a:spcPct val="140000"/>
              </a:lnSpc>
              <a:buNone/>
            </a:pPr>
            <a:r>
              <a:rPr lang="en-US" sz="1200" b="1" dirty="0">
                <a:solidFill>
                  <a:srgbClr val="004098"/>
                </a:solidFill>
                <a:latin typeface="Meiryo" pitchFamily="34" charset="0"/>
                <a:ea typeface="Meiryo" pitchFamily="34" charset="-122"/>
                <a:cs typeface="Meiryo" pitchFamily="34" charset="-120"/>
              </a:rPr>
              <a:t>条件整備責任：デリバリーライン品質　</a:t>
            </a:r>
            <a:pPr algn="l" indent="0" marL="0">
              <a:lnSpc>
                <a:spcPct val="140000"/>
              </a:lnSpc>
              <a:buNone/>
            </a:pPr>
            <a:r>
              <a:rPr lang="en-US" sz="1100" dirty="0">
                <a:solidFill>
                  <a:srgbClr val="1A1A2E"/>
                </a:solidFill>
                <a:latin typeface="Meiryo" pitchFamily="34" charset="0"/>
                <a:ea typeface="Meiryo" pitchFamily="34" charset="-122"/>
                <a:cs typeface="Meiryo" pitchFamily="34" charset="-120"/>
              </a:rPr>
              <a:t>入口品質 ／ フロー効率 ／ 学習ループ ／ チーム健全性 ／ チーフ育成</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FY26方針 ／ 貢献の構造</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1800" b="1" dirty="0">
                <a:solidFill>
                  <a:srgbClr val="1A1A2E"/>
                </a:solidFill>
                <a:latin typeface="Meiryo" pitchFamily="34" charset="0"/>
                <a:ea typeface="Meiryo" pitchFamily="34" charset="-122"/>
                <a:cs typeface="Meiryo" pitchFamily="34" charset="-120"/>
              </a:rPr>
              <a:t>DMの5KRは因果を通じてmyTOKYOGASの事業成果に接続する</a:t>
            </a:r>
            <a:endParaRPr lang="en-US" sz="18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737360"/>
                <a:gridCol w="1828800"/>
                <a:gridCol w="2743200"/>
                <a:gridCol w="2103120"/>
              </a:tblGrid>
              <a:tr h="566928">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DMのKR</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中間効果</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myTOKYOGASへの効き方</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接続するmTG側KR</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r>
              <a:tr h="566928">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挑戦KR1</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入口品質</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仕様起因手戻りの削減</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リリース本数の余力拡大、POの判断リードタイム短縮</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会員数・熱狂顧客KR</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566928">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挑戦KR2</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フロー効率</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サイクルタイム短縮</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事業仮説の検証サイクル加速、予測精度の向上</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仮説検証速度</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566928">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挑戦KR3</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学習ループ</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投資判断の質向上</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mTG事業側（片山TL）月次FBで検証→次投資判断へ</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★事業側外部検証の窓</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566928">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基盤KR1</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チーム健全性</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持続可能性の維持</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長期投資ロードマップの完走、燃え尽きリスクの低減</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ロードマップ完走率</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566928">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基盤KR2</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チーフ育成</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スケール可能性の確保</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PO／SM供給ラインの拡張、来年度以降の組織拡大基盤</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組織成長速度</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9" name="Text 6"/>
          <p:cNvSpPr/>
          <p:nvPr/>
        </p:nvSpPr>
        <p:spPr>
          <a:xfrm>
            <a:off x="365760" y="4617720"/>
            <a:ext cx="8412480" cy="274320"/>
          </a:xfrm>
          <a:prstGeom prst="rect">
            <a:avLst/>
          </a:prstGeom>
          <a:noFill/>
          <a:ln/>
        </p:spPr>
        <p:txBody>
          <a:bodyPr wrap="square" lIns="0" tIns="0" rIns="0" bIns="0" rtlCol="0" anchor="ctr"/>
          <a:lstStyle/>
          <a:p>
            <a:pPr algn="l" indent="0" marL="0">
              <a:buNone/>
            </a:pPr>
            <a:r>
              <a:rPr lang="en-US" sz="900" i="1" dirty="0">
                <a:solidFill>
                  <a:srgbClr val="444466"/>
                </a:solidFill>
                <a:latin typeface="Meiryo" pitchFamily="34" charset="0"/>
                <a:ea typeface="Meiryo" pitchFamily="34" charset="-122"/>
                <a:cs typeface="Meiryo" pitchFamily="34" charset="-120"/>
              </a:rPr>
              <a:t>※ 受発注関係を避ける運用原則（Why同席／NO権限／先回り投資／共同学習／価値判断関与）は、プロダクト責任者との握りで別途宣言する。</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FY26方針 ／ 承認依頼</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1800" b="1" dirty="0">
                <a:solidFill>
                  <a:srgbClr val="1A1A2E"/>
                </a:solidFill>
                <a:latin typeface="Meiryo" pitchFamily="34" charset="0"/>
                <a:ea typeface="Meiryo" pitchFamily="34" charset="-122"/>
                <a:cs typeface="Meiryo" pitchFamily="34" charset="-120"/>
              </a:rPr>
              <a:t>この位置づけで進めることを承認いただき、Q1末までにKR数値をセットする</a:t>
            </a:r>
            <a:endParaRPr lang="en-US" sz="18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Shape 6"/>
          <p:cNvSpPr/>
          <p:nvPr/>
        </p:nvSpPr>
        <p:spPr>
          <a:xfrm>
            <a:off x="365760" y="1234440"/>
            <a:ext cx="8412480" cy="914400"/>
          </a:xfrm>
          <a:prstGeom prst="roundRect">
            <a:avLst>
              <a:gd name="adj" fmla="val 3000"/>
            </a:avLst>
          </a:prstGeom>
          <a:solidFill>
            <a:srgbClr val="EEF3FA"/>
          </a:solidFill>
          <a:ln w="19050">
            <a:solidFill>
              <a:srgbClr val="004098"/>
            </a:solidFill>
            <a:prstDash val="solid"/>
          </a:ln>
        </p:spPr>
      </p:sp>
      <p:sp>
        <p:nvSpPr>
          <p:cNvPr id="9" name="Text 7"/>
          <p:cNvSpPr/>
          <p:nvPr/>
        </p:nvSpPr>
        <p:spPr>
          <a:xfrm>
            <a:off x="548640" y="1325880"/>
            <a:ext cx="8046720" cy="777240"/>
          </a:xfrm>
          <a:prstGeom prst="rect">
            <a:avLst/>
          </a:prstGeom>
          <a:noFill/>
          <a:ln/>
        </p:spPr>
        <p:txBody>
          <a:bodyPr wrap="square" lIns="0" tIns="0" rIns="0" bIns="0" rtlCol="0" anchor="t"/>
          <a:lstStyle/>
          <a:p>
            <a:pPr algn="l" indent="0" marL="0">
              <a:lnSpc>
                <a:spcPct val="150000"/>
              </a:lnSpc>
              <a:buNone/>
            </a:pPr>
            <a:r>
              <a:rPr lang="en-US" sz="1300" b="1" dirty="0">
                <a:solidFill>
                  <a:srgbClr val="004098"/>
                </a:solidFill>
                <a:latin typeface="Meiryo" pitchFamily="34" charset="0"/>
                <a:ea typeface="Meiryo" pitchFamily="34" charset="-122"/>
                <a:cs typeface="Meiryo" pitchFamily="34" charset="-120"/>
              </a:rPr>
              <a:t>承認依頼
</a:t>
            </a:r>
            <a:pPr algn="l" indent="0" marL="0">
              <a:lnSpc>
                <a:spcPct val="150000"/>
              </a:lnSpc>
              <a:buNone/>
            </a:pPr>
            <a:r>
              <a:rPr lang="en-US" sz="1200" dirty="0">
                <a:solidFill>
                  <a:srgbClr val="1A1A2E"/>
                </a:solidFill>
                <a:latin typeface="Meiryo" pitchFamily="34" charset="0"/>
                <a:ea typeface="Meiryo" pitchFamily="34" charset="-122"/>
                <a:cs typeface="Meiryo" pitchFamily="34" charset="-120"/>
              </a:rPr>
              <a:t>(1) DMチームの位置づけ：条件整備の責任組織として機能させる
</a:t>
            </a:r>
            <a:pPr algn="l" indent="0" marL="0">
              <a:lnSpc>
                <a:spcPct val="150000"/>
              </a:lnSpc>
              <a:buNone/>
            </a:pPr>
            <a:r>
              <a:rPr lang="en-US" sz="1200" dirty="0">
                <a:solidFill>
                  <a:srgbClr val="1A1A2E"/>
                </a:solidFill>
                <a:latin typeface="Meiryo" pitchFamily="34" charset="0"/>
                <a:ea typeface="Meiryo" pitchFamily="34" charset="-122"/>
                <a:cs typeface="Meiryo" pitchFamily="34" charset="-120"/>
              </a:rPr>
              <a:t>(2) 貢献の見せ方：因果チェーンで各プロダクトKRに接続する構造で運用する</a:t>
            </a:r>
            <a:endParaRPr lang="en-US" sz="1300" dirty="0"/>
          </a:p>
        </p:txBody>
      </p:sp>
      <p:sp>
        <p:nvSpPr>
          <p:cNvPr id="10" name="Text 8"/>
          <p:cNvSpPr/>
          <p:nvPr/>
        </p:nvSpPr>
        <p:spPr>
          <a:xfrm>
            <a:off x="365760" y="2286000"/>
            <a:ext cx="8412480" cy="274320"/>
          </a:xfrm>
          <a:prstGeom prst="rect">
            <a:avLst/>
          </a:prstGeom>
          <a:noFill/>
          <a:ln/>
        </p:spPr>
        <p:txBody>
          <a:bodyPr wrap="square" lIns="0" tIns="0" rIns="0" bIns="0" rtlCol="0" anchor="ctr"/>
          <a:lstStyle/>
          <a:p>
            <a:pPr algn="l" indent="0" marL="0">
              <a:buNone/>
            </a:pPr>
            <a:r>
              <a:rPr lang="en-US" sz="1200" b="1" dirty="0">
                <a:solidFill>
                  <a:srgbClr val="004098"/>
                </a:solidFill>
                <a:latin typeface="Meiryo" pitchFamily="34" charset="0"/>
                <a:ea typeface="Meiryo" pitchFamily="34" charset="-122"/>
                <a:cs typeface="Meiryo" pitchFamily="34" charset="-120"/>
              </a:rPr>
              <a:t>承認後のロードマップ</a:t>
            </a:r>
            <a:endParaRPr lang="en-US" sz="1200" dirty="0"/>
          </a:p>
        </p:txBody>
      </p:sp>
      <p:sp>
        <p:nvSpPr>
          <p:cNvPr id="11" name="Shape 9"/>
          <p:cNvSpPr/>
          <p:nvPr/>
        </p:nvSpPr>
        <p:spPr>
          <a:xfrm>
            <a:off x="365760" y="3026664"/>
            <a:ext cx="8412480" cy="27432"/>
          </a:xfrm>
          <a:prstGeom prst="rect">
            <a:avLst/>
          </a:prstGeom>
          <a:solidFill>
            <a:srgbClr val="CADCFC"/>
          </a:solidFill>
          <a:ln/>
        </p:spPr>
      </p:sp>
      <p:sp>
        <p:nvSpPr>
          <p:cNvPr id="12" name="Shape 10"/>
          <p:cNvSpPr/>
          <p:nvPr/>
        </p:nvSpPr>
        <p:spPr>
          <a:xfrm>
            <a:off x="1362456" y="2985516"/>
            <a:ext cx="109728" cy="109728"/>
          </a:xfrm>
          <a:prstGeom prst="ellipse">
            <a:avLst/>
          </a:prstGeom>
          <a:solidFill>
            <a:srgbClr val="004098"/>
          </a:solidFill>
          <a:ln/>
        </p:spPr>
      </p:sp>
      <p:sp>
        <p:nvSpPr>
          <p:cNvPr id="13" name="Text 11"/>
          <p:cNvSpPr/>
          <p:nvPr/>
        </p:nvSpPr>
        <p:spPr>
          <a:xfrm>
            <a:off x="365760" y="2606040"/>
            <a:ext cx="2103120" cy="368046"/>
          </a:xfrm>
          <a:prstGeom prst="rect">
            <a:avLst/>
          </a:prstGeom>
          <a:noFill/>
          <a:ln/>
        </p:spPr>
        <p:txBody>
          <a:bodyPr wrap="square" lIns="0" tIns="0" rIns="0" bIns="0" rtlCol="0" anchor="b"/>
          <a:lstStyle/>
          <a:p>
            <a:pPr algn="ctr" indent="0" marL="0">
              <a:buNone/>
            </a:pPr>
            <a:r>
              <a:rPr lang="en-US" sz="1200" b="1" dirty="0">
                <a:solidFill>
                  <a:srgbClr val="004098"/>
                </a:solidFill>
                <a:latin typeface="Arial" pitchFamily="34" charset="0"/>
                <a:ea typeface="Arial" pitchFamily="34" charset="-122"/>
                <a:cs typeface="Arial" pitchFamily="34" charset="-120"/>
              </a:rPr>
              <a:t>4月末</a:t>
            </a:r>
            <a:endParaRPr lang="en-US" sz="1200" dirty="0"/>
          </a:p>
        </p:txBody>
      </p:sp>
      <p:sp>
        <p:nvSpPr>
          <p:cNvPr id="14" name="Text 12"/>
          <p:cNvSpPr/>
          <p:nvPr/>
        </p:nvSpPr>
        <p:spPr>
          <a:xfrm>
            <a:off x="365760" y="3136392"/>
            <a:ext cx="2103120" cy="262890"/>
          </a:xfrm>
          <a:prstGeom prst="rect">
            <a:avLst/>
          </a:prstGeom>
          <a:noFill/>
          <a:ln/>
        </p:spPr>
        <p:txBody>
          <a:bodyPr wrap="square" lIns="0" tIns="0" rIns="0" bIns="0" rtlCol="0" anchor="t"/>
          <a:lstStyle/>
          <a:p>
            <a:pPr algn="ctr" indent="0" marL="0">
              <a:buNone/>
            </a:pPr>
            <a:r>
              <a:rPr lang="en-US" sz="1300" b="1" dirty="0">
                <a:solidFill>
                  <a:srgbClr val="1A1A2E"/>
                </a:solidFill>
                <a:latin typeface="Meiryo" pitchFamily="34" charset="0"/>
                <a:ea typeface="Meiryo" pitchFamily="34" charset="-122"/>
                <a:cs typeface="Meiryo" pitchFamily="34" charset="-120"/>
              </a:rPr>
              <a:t>プロダクト責任者4名握り</a:t>
            </a:r>
            <a:endParaRPr lang="en-US" sz="1300" dirty="0"/>
          </a:p>
        </p:txBody>
      </p:sp>
      <p:sp>
        <p:nvSpPr>
          <p:cNvPr id="15" name="Text 13"/>
          <p:cNvSpPr/>
          <p:nvPr/>
        </p:nvSpPr>
        <p:spPr>
          <a:xfrm>
            <a:off x="365760" y="3399282"/>
            <a:ext cx="2103120" cy="262890"/>
          </a:xfrm>
          <a:prstGeom prst="rect">
            <a:avLst/>
          </a:prstGeom>
          <a:noFill/>
          <a:ln/>
        </p:spPr>
        <p:txBody>
          <a:bodyPr wrap="square" lIns="0" tIns="0" rIns="0" bIns="0" rtlCol="0" anchor="t"/>
          <a:lstStyle/>
          <a:p>
            <a:pPr algn="ctr" indent="0" marL="0">
              <a:lnSpc>
                <a:spcPct val="130000"/>
              </a:lnSpc>
              <a:buNone/>
            </a:pPr>
            <a:r>
              <a:rPr lang="en-US" sz="1000" dirty="0">
                <a:solidFill>
                  <a:srgbClr val="444466"/>
                </a:solidFill>
                <a:latin typeface="Meiryo" pitchFamily="34" charset="0"/>
                <a:ea typeface="Meiryo" pitchFamily="34" charset="-122"/>
                <a:cs typeface="Meiryo" pitchFamily="34" charset="-120"/>
              </a:rPr>
              <a:t>片山／髙松／柏木／湯浅</a:t>
            </a:r>
            <a:endParaRPr lang="en-US" sz="1000" dirty="0"/>
          </a:p>
        </p:txBody>
      </p:sp>
      <p:sp>
        <p:nvSpPr>
          <p:cNvPr id="16" name="Shape 14"/>
          <p:cNvSpPr/>
          <p:nvPr/>
        </p:nvSpPr>
        <p:spPr>
          <a:xfrm>
            <a:off x="3465576" y="2985516"/>
            <a:ext cx="109728" cy="109728"/>
          </a:xfrm>
          <a:prstGeom prst="ellipse">
            <a:avLst/>
          </a:prstGeom>
          <a:solidFill>
            <a:srgbClr val="2563EB"/>
          </a:solidFill>
          <a:ln/>
        </p:spPr>
      </p:sp>
      <p:sp>
        <p:nvSpPr>
          <p:cNvPr id="17" name="Text 15"/>
          <p:cNvSpPr/>
          <p:nvPr/>
        </p:nvSpPr>
        <p:spPr>
          <a:xfrm>
            <a:off x="2468880" y="2606040"/>
            <a:ext cx="2103120" cy="368046"/>
          </a:xfrm>
          <a:prstGeom prst="rect">
            <a:avLst/>
          </a:prstGeom>
          <a:noFill/>
          <a:ln/>
        </p:spPr>
        <p:txBody>
          <a:bodyPr wrap="square" lIns="0" tIns="0" rIns="0" bIns="0" rtlCol="0" anchor="b"/>
          <a:lstStyle/>
          <a:p>
            <a:pPr algn="ctr" indent="0" marL="0">
              <a:buNone/>
            </a:pPr>
            <a:r>
              <a:rPr lang="en-US" sz="1200" b="1" dirty="0">
                <a:solidFill>
                  <a:srgbClr val="2563EB"/>
                </a:solidFill>
                <a:latin typeface="Arial" pitchFamily="34" charset="0"/>
                <a:ea typeface="Arial" pitchFamily="34" charset="-122"/>
                <a:cs typeface="Arial" pitchFamily="34" charset="-120"/>
              </a:rPr>
              <a:t>5月</a:t>
            </a:r>
            <a:endParaRPr lang="en-US" sz="1200" dirty="0"/>
          </a:p>
        </p:txBody>
      </p:sp>
      <p:sp>
        <p:nvSpPr>
          <p:cNvPr id="18" name="Text 16"/>
          <p:cNvSpPr/>
          <p:nvPr/>
        </p:nvSpPr>
        <p:spPr>
          <a:xfrm>
            <a:off x="2468880" y="3136392"/>
            <a:ext cx="2103120" cy="262890"/>
          </a:xfrm>
          <a:prstGeom prst="rect">
            <a:avLst/>
          </a:prstGeom>
          <a:noFill/>
          <a:ln/>
        </p:spPr>
        <p:txBody>
          <a:bodyPr wrap="square" lIns="0" tIns="0" rIns="0" bIns="0" rtlCol="0" anchor="t"/>
          <a:lstStyle/>
          <a:p>
            <a:pPr algn="ctr" indent="0" marL="0">
              <a:buNone/>
            </a:pPr>
            <a:r>
              <a:rPr lang="en-US" sz="1300" b="1" dirty="0">
                <a:solidFill>
                  <a:srgbClr val="1A1A2E"/>
                </a:solidFill>
                <a:latin typeface="Meiryo" pitchFamily="34" charset="0"/>
                <a:ea typeface="Meiryo" pitchFamily="34" charset="-122"/>
                <a:cs typeface="Meiryo" pitchFamily="34" charset="-120"/>
              </a:rPr>
              <a:t>方針確定・チーム共有</a:t>
            </a:r>
            <a:endParaRPr lang="en-US" sz="1300" dirty="0"/>
          </a:p>
        </p:txBody>
      </p:sp>
      <p:sp>
        <p:nvSpPr>
          <p:cNvPr id="19" name="Text 17"/>
          <p:cNvSpPr/>
          <p:nvPr/>
        </p:nvSpPr>
        <p:spPr>
          <a:xfrm>
            <a:off x="2468880" y="3399282"/>
            <a:ext cx="2103120" cy="262890"/>
          </a:xfrm>
          <a:prstGeom prst="rect">
            <a:avLst/>
          </a:prstGeom>
          <a:noFill/>
          <a:ln/>
        </p:spPr>
        <p:txBody>
          <a:bodyPr wrap="square" lIns="0" tIns="0" rIns="0" bIns="0" rtlCol="0" anchor="t"/>
          <a:lstStyle/>
          <a:p>
            <a:pPr algn="ctr" indent="0" marL="0">
              <a:lnSpc>
                <a:spcPct val="130000"/>
              </a:lnSpc>
              <a:buNone/>
            </a:pPr>
            <a:r>
              <a:rPr lang="en-US" sz="1000" dirty="0">
                <a:solidFill>
                  <a:srgbClr val="444466"/>
                </a:solidFill>
                <a:latin typeface="Meiryo" pitchFamily="34" charset="0"/>
                <a:ea typeface="Meiryo" pitchFamily="34" charset="-122"/>
                <a:cs typeface="Meiryo" pitchFamily="34" charset="-120"/>
              </a:rPr>
              <a:t>DMチーム内へ展開</a:t>
            </a:r>
            <a:endParaRPr lang="en-US" sz="1000" dirty="0"/>
          </a:p>
        </p:txBody>
      </p:sp>
      <p:sp>
        <p:nvSpPr>
          <p:cNvPr id="20" name="Shape 18"/>
          <p:cNvSpPr/>
          <p:nvPr/>
        </p:nvSpPr>
        <p:spPr>
          <a:xfrm>
            <a:off x="5568696" y="2985516"/>
            <a:ext cx="109728" cy="109728"/>
          </a:xfrm>
          <a:prstGeom prst="ellipse">
            <a:avLst/>
          </a:prstGeom>
          <a:solidFill>
            <a:srgbClr val="0891B2"/>
          </a:solidFill>
          <a:ln/>
        </p:spPr>
      </p:sp>
      <p:sp>
        <p:nvSpPr>
          <p:cNvPr id="21" name="Text 19"/>
          <p:cNvSpPr/>
          <p:nvPr/>
        </p:nvSpPr>
        <p:spPr>
          <a:xfrm>
            <a:off x="4572000" y="2606040"/>
            <a:ext cx="2103120" cy="368046"/>
          </a:xfrm>
          <a:prstGeom prst="rect">
            <a:avLst/>
          </a:prstGeom>
          <a:noFill/>
          <a:ln/>
        </p:spPr>
        <p:txBody>
          <a:bodyPr wrap="square" lIns="0" tIns="0" rIns="0" bIns="0" rtlCol="0" anchor="b"/>
          <a:lstStyle/>
          <a:p>
            <a:pPr algn="ctr" indent="0" marL="0">
              <a:buNone/>
            </a:pPr>
            <a:r>
              <a:rPr lang="en-US" sz="1200" b="1" dirty="0">
                <a:solidFill>
                  <a:srgbClr val="0891B2"/>
                </a:solidFill>
                <a:latin typeface="Arial" pitchFamily="34" charset="0"/>
                <a:ea typeface="Arial" pitchFamily="34" charset="-122"/>
                <a:cs typeface="Arial" pitchFamily="34" charset="-120"/>
              </a:rPr>
              <a:t>Q1末</a:t>
            </a:r>
            <a:endParaRPr lang="en-US" sz="1200" dirty="0"/>
          </a:p>
        </p:txBody>
      </p:sp>
      <p:sp>
        <p:nvSpPr>
          <p:cNvPr id="22" name="Text 20"/>
          <p:cNvSpPr/>
          <p:nvPr/>
        </p:nvSpPr>
        <p:spPr>
          <a:xfrm>
            <a:off x="4572000" y="3136392"/>
            <a:ext cx="2103120" cy="262890"/>
          </a:xfrm>
          <a:prstGeom prst="rect">
            <a:avLst/>
          </a:prstGeom>
          <a:noFill/>
          <a:ln/>
        </p:spPr>
        <p:txBody>
          <a:bodyPr wrap="square" lIns="0" tIns="0" rIns="0" bIns="0" rtlCol="0" anchor="t"/>
          <a:lstStyle/>
          <a:p>
            <a:pPr algn="ctr" indent="0" marL="0">
              <a:buNone/>
            </a:pPr>
            <a:r>
              <a:rPr lang="en-US" sz="1300" b="1" dirty="0">
                <a:solidFill>
                  <a:srgbClr val="1A1A2E"/>
                </a:solidFill>
                <a:latin typeface="Meiryo" pitchFamily="34" charset="0"/>
                <a:ea typeface="Meiryo" pitchFamily="34" charset="-122"/>
                <a:cs typeface="Meiryo" pitchFamily="34" charset="-120"/>
              </a:rPr>
              <a:t>KR1/2 数値目標セット</a:t>
            </a:r>
            <a:endParaRPr lang="en-US" sz="1300" dirty="0"/>
          </a:p>
        </p:txBody>
      </p:sp>
      <p:sp>
        <p:nvSpPr>
          <p:cNvPr id="23" name="Text 21"/>
          <p:cNvSpPr/>
          <p:nvPr/>
        </p:nvSpPr>
        <p:spPr>
          <a:xfrm>
            <a:off x="4572000" y="3399282"/>
            <a:ext cx="2103120" cy="262890"/>
          </a:xfrm>
          <a:prstGeom prst="rect">
            <a:avLst/>
          </a:prstGeom>
          <a:noFill/>
          <a:ln/>
        </p:spPr>
        <p:txBody>
          <a:bodyPr wrap="square" lIns="0" tIns="0" rIns="0" bIns="0" rtlCol="0" anchor="t"/>
          <a:lstStyle/>
          <a:p>
            <a:pPr algn="ctr" indent="0" marL="0">
              <a:lnSpc>
                <a:spcPct val="130000"/>
              </a:lnSpc>
              <a:buNone/>
            </a:pPr>
            <a:r>
              <a:rPr lang="en-US" sz="1000" dirty="0">
                <a:solidFill>
                  <a:srgbClr val="444466"/>
                </a:solidFill>
                <a:latin typeface="Meiryo" pitchFamily="34" charset="0"/>
                <a:ea typeface="Meiryo" pitchFamily="34" charset="-122"/>
                <a:cs typeface="Meiryo" pitchFamily="34" charset="-120"/>
              </a:rPr>
              <a:t>計測基盤＋目標値確定</a:t>
            </a:r>
            <a:endParaRPr lang="en-US" sz="1000" dirty="0"/>
          </a:p>
        </p:txBody>
      </p:sp>
      <p:sp>
        <p:nvSpPr>
          <p:cNvPr id="24" name="Shape 22"/>
          <p:cNvSpPr/>
          <p:nvPr/>
        </p:nvSpPr>
        <p:spPr>
          <a:xfrm>
            <a:off x="7671816" y="2985516"/>
            <a:ext cx="109728" cy="109728"/>
          </a:xfrm>
          <a:prstGeom prst="ellipse">
            <a:avLst/>
          </a:prstGeom>
          <a:solidFill>
            <a:srgbClr val="444466"/>
          </a:solidFill>
          <a:ln/>
        </p:spPr>
      </p:sp>
      <p:sp>
        <p:nvSpPr>
          <p:cNvPr id="25" name="Text 23"/>
          <p:cNvSpPr/>
          <p:nvPr/>
        </p:nvSpPr>
        <p:spPr>
          <a:xfrm>
            <a:off x="6675120" y="2606040"/>
            <a:ext cx="2103120" cy="368046"/>
          </a:xfrm>
          <a:prstGeom prst="rect">
            <a:avLst/>
          </a:prstGeom>
          <a:noFill/>
          <a:ln/>
        </p:spPr>
        <p:txBody>
          <a:bodyPr wrap="square" lIns="0" tIns="0" rIns="0" bIns="0" rtlCol="0" anchor="b"/>
          <a:lstStyle/>
          <a:p>
            <a:pPr algn="ctr" indent="0" marL="0">
              <a:buNone/>
            </a:pPr>
            <a:r>
              <a:rPr lang="en-US" sz="1200" b="1" dirty="0">
                <a:solidFill>
                  <a:srgbClr val="444466"/>
                </a:solidFill>
                <a:latin typeface="Arial" pitchFamily="34" charset="0"/>
                <a:ea typeface="Arial" pitchFamily="34" charset="-122"/>
                <a:cs typeface="Arial" pitchFamily="34" charset="-120"/>
              </a:rPr>
              <a:t>FY26後半</a:t>
            </a:r>
            <a:endParaRPr lang="en-US" sz="1200" dirty="0"/>
          </a:p>
        </p:txBody>
      </p:sp>
      <p:sp>
        <p:nvSpPr>
          <p:cNvPr id="26" name="Text 24"/>
          <p:cNvSpPr/>
          <p:nvPr/>
        </p:nvSpPr>
        <p:spPr>
          <a:xfrm>
            <a:off x="6675120" y="3136392"/>
            <a:ext cx="2103120" cy="262890"/>
          </a:xfrm>
          <a:prstGeom prst="rect">
            <a:avLst/>
          </a:prstGeom>
          <a:noFill/>
          <a:ln/>
        </p:spPr>
        <p:txBody>
          <a:bodyPr wrap="square" lIns="0" tIns="0" rIns="0" bIns="0" rtlCol="0" anchor="t"/>
          <a:lstStyle/>
          <a:p>
            <a:pPr algn="ctr" indent="0" marL="0">
              <a:buNone/>
            </a:pPr>
            <a:r>
              <a:rPr lang="en-US" sz="1300" b="1" dirty="0">
                <a:solidFill>
                  <a:srgbClr val="1A1A2E"/>
                </a:solidFill>
                <a:latin typeface="Meiryo" pitchFamily="34" charset="0"/>
                <a:ea typeface="Meiryo" pitchFamily="34" charset="-122"/>
                <a:cs typeface="Meiryo" pitchFamily="34" charset="-120"/>
              </a:rPr>
              <a:t>KR進捗レビュー開始</a:t>
            </a:r>
            <a:endParaRPr lang="en-US" sz="1300" dirty="0"/>
          </a:p>
        </p:txBody>
      </p:sp>
      <p:sp>
        <p:nvSpPr>
          <p:cNvPr id="27" name="Text 25"/>
          <p:cNvSpPr/>
          <p:nvPr/>
        </p:nvSpPr>
        <p:spPr>
          <a:xfrm>
            <a:off x="6675120" y="3399282"/>
            <a:ext cx="2103120" cy="262890"/>
          </a:xfrm>
          <a:prstGeom prst="rect">
            <a:avLst/>
          </a:prstGeom>
          <a:noFill/>
          <a:ln/>
        </p:spPr>
        <p:txBody>
          <a:bodyPr wrap="square" lIns="0" tIns="0" rIns="0" bIns="0" rtlCol="0" anchor="t"/>
          <a:lstStyle/>
          <a:p>
            <a:pPr algn="ctr" indent="0" marL="0">
              <a:lnSpc>
                <a:spcPct val="130000"/>
              </a:lnSpc>
              <a:buNone/>
            </a:pPr>
            <a:r>
              <a:rPr lang="en-US" sz="1000" dirty="0">
                <a:solidFill>
                  <a:srgbClr val="444466"/>
                </a:solidFill>
                <a:latin typeface="Meiryo" pitchFamily="34" charset="0"/>
                <a:ea typeface="Meiryo" pitchFamily="34" charset="-122"/>
                <a:cs typeface="Meiryo" pitchFamily="34" charset="-120"/>
              </a:rPr>
              <a:t>四半期レビューに組込</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3794760"/>
          <a:ext cx="8412480" cy="914400"/>
        </p:xfrm>
        <a:graphic>
          <a:graphicData uri="http://schemas.openxmlformats.org/drawingml/2006/table">
            <a:tbl>
              <a:tblPr/>
              <a:tblGrid>
                <a:gridCol w="3657600"/>
                <a:gridCol w="4754880"/>
              </a:tblGrid>
              <a:tr h="384048">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想定される問い</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先回り回答</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r>
              <a:tr h="384048">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プロダクト責任者は合意済みか</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承認後、4月末までに4名と個別に握りを完了させる</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384048">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事業成果が見えない組織にならないか</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KR3（学習ループ）で事業側月次FBを仕組み化し、外部検証の窓とする</a:t>
                      </a:r>
                      <a:endParaRPr lang="en-US" sz="10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DMチーム位置づけ GM向け承認資料</dc:title>
  <dc:subject>PptxGenJS Presentation</dc:subject>
  <dc:creator>PptxGenJS</dc:creator>
  <cp:lastModifiedBy>PptxGenJS</cp:lastModifiedBy>
  <cp:revision>1</cp:revision>
  <dcterms:created xsi:type="dcterms:W3CDTF">2026-04-19T02:41:59Z</dcterms:created>
  <dcterms:modified xsi:type="dcterms:W3CDTF">2026-04-19T02:41:59Z</dcterms:modified>
</cp:coreProperties>
</file>