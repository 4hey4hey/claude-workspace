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AIエージェント時代の環境変化</a:t>
            </a:r>
            <a:endParaRPr lang="en-US" sz="3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と東京ガスへの影響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主要プレイヤー動向・顧客行動変化・構造的リスクと対応方針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2026.03.30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デジタル推進部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2468880" cy="118872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3246120"/>
            <a:ext cx="2432304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全主要プレイヤーが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エージェント投入済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3232" y="3703320"/>
            <a:ext cx="292608" cy="29260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37560" y="3246120"/>
            <a:ext cx="2468880" cy="118872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55848" y="3246120"/>
            <a:ext cx="243230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顧客行動は3段階で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不可逆に変わる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10712" y="3703320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3410712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3246120"/>
            <a:ext cx="2468880" cy="1188720"/>
          </a:xfrm>
          <a:prstGeom prst="roundRect">
            <a:avLst>
              <a:gd name="adj" fmla="val 230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3328" y="3246120"/>
            <a:ext cx="243230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API非対応は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「選ばれない」リスク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08192" y="370332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108192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環境変化 / AIブラウザエージェントの一斉投入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2026年3月時点で全主要プレイヤーがブラウザエージェントを一般提供している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84124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50292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プレイヤー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サービス名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現在のステータス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Anthropic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Claude in Chrome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全有料プランにベータ提供（2025年12月〜）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OpenAI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ChatGPT Agent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Atlas（専用ブラウザ）公開（2025年10月〜）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Google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Gemini auto-browse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自律ブラウジングプレビュー公開（2026年1月〜）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Microsoft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Copilot Tasks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クラウド型自律エージェント プレビュー（2026年2月〜）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Apple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Siri 次世代版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WWDC26で発表予定（2026年6月）、iOS 27搭載見込み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環境変化 / 普及タイムライン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2026年後半からスマホOS標準搭載で「意識せず使う」層が急拡大する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289840"/>
            <a:ext cx="841248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1362456" y="2248692"/>
            <a:ext cx="109728" cy="1097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2103120" cy="723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399568"/>
            <a:ext cx="2103120" cy="51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916319"/>
            <a:ext cx="2103120" cy="51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PC/ブラウザベース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有料プランで利用可能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技術関心層が利用中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65576" y="2248692"/>
            <a:ext cx="109728" cy="10972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468880" y="1463040"/>
            <a:ext cx="2103120" cy="723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H2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399568"/>
            <a:ext cx="2103120" cy="51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スマホ搭載開始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2916319"/>
            <a:ext cx="2103120" cy="51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Apple Siri/Google Gemini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OS標準搭載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「意識せず使う」層が拡大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68696" y="224869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463040"/>
            <a:ext cx="2103120" cy="723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399568"/>
            <a:ext cx="2103120" cy="51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一般層に浸透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2916319"/>
            <a:ext cx="2103120" cy="51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操作代行が日常化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認証基盤の整備が鍵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71816" y="2248692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1463040"/>
            <a:ext cx="2103120" cy="7234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2028〜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2399568"/>
            <a:ext cx="2103120" cy="51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エージェント経済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2916319"/>
            <a:ext cx="2103120" cy="51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エージェント間取引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自律購買が本格化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（Gartner予測）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19449"/>
            <a:ext cx="8412480" cy="594360"/>
          </a:xfrm>
          <a:prstGeom prst="roundRect">
            <a:avLst>
              <a:gd name="adj" fmla="val 461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19449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Gartner予測: 2028年までにB2B購買の90%がAIエージェントで仲介、15兆ドル超がAIエージェント経由で処理される。B2Cでも同構造の変化が起きる。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顧客行動変化 / 3段階モデル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お客さまの行動は「聞く→任せる→委ねる」の3段階で不可逆に変わる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4696358" cy="1069848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95628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956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234440"/>
            <a:ext cx="410199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第1段階: AIに聞く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1638056"/>
            <a:ext cx="4101998" cy="55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情報検索の代理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既に発生中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79121" y="2304288"/>
            <a:ext cx="4696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532888"/>
            <a:ext cx="4696358" cy="1069848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39796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397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578608"/>
            <a:ext cx="410199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第2段階: AIに任せる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2982224"/>
            <a:ext cx="4101998" cy="55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単純操作の代理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2〜3年以内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79121" y="3648456"/>
            <a:ext cx="4696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4696358" cy="1069848"/>
          </a:xfrm>
          <a:prstGeom prst="roundRect">
            <a:avLst>
              <a:gd name="adj" fmla="val 2564"/>
            </a:avLst>
          </a:prstGeom>
          <a:solidFill>
            <a:srgbClr val="F1F5F9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8396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839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922776"/>
            <a:ext cx="4101998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第3段階: AIに委ねる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326392"/>
            <a:ext cx="4101998" cy="55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意思決定の代理</a:t>
            </a:r>
            <a:endParaRPr lang="en-US" sz="12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5年以内（若年層）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44998" y="1188720"/>
            <a:ext cx="3533242" cy="1191768"/>
          </a:xfrm>
          <a:prstGeom prst="roundRect">
            <a:avLst>
              <a:gd name="adj" fmla="val 2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63286" y="1188720"/>
            <a:ext cx="3496666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5382158" y="1325880"/>
            <a:ext cx="3258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FAQ・料金ページへのアクセスが構造的に減少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244998" y="2471928"/>
            <a:ext cx="3533242" cy="1191768"/>
          </a:xfrm>
          <a:prstGeom prst="roundRect">
            <a:avLst>
              <a:gd name="adj" fmla="val 2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63286" y="2471928"/>
            <a:ext cx="3496666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5382158" y="2609088"/>
            <a:ext cx="3258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ファネルの入口が細くなり手続き画面遷移が減少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244998" y="3755136"/>
            <a:ext cx="3533242" cy="1191768"/>
          </a:xfrm>
          <a:prstGeom prst="roundRect">
            <a:avLst>
              <a:gd name="adj" fmla="val 230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263286" y="3755136"/>
            <a:ext cx="3496666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382158" y="3892296"/>
            <a:ext cx="3258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「選ぶ」から「AIに選ばれる」立場に逆転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定量データ / 既に起きているトラフィック構造変化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Overview表示でオーガニックCTRが61%減少、公益事業は最も影響が大きい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1965960" cy="3758184"/>
          </a:xfrm>
          <a:prstGeom prst="roundRect">
            <a:avLst>
              <a:gd name="adj" fmla="val 13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280160"/>
            <a:ext cx="1783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%減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3255721"/>
            <a:ext cx="1783080" cy="751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Overview表示時の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オーガニックCTR低下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20104"/>
            <a:ext cx="1783080" cy="56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Seer Interactive 2025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514600" y="1188720"/>
            <a:ext cx="1965960" cy="3758184"/>
          </a:xfrm>
          <a:prstGeom prst="roundRect">
            <a:avLst>
              <a:gd name="adj" fmla="val 13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1280160"/>
            <a:ext cx="1783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</a:t>
            </a:r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606040" y="3255721"/>
            <a:ext cx="1783080" cy="751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公益事業の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Overview表示率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（全業界最高水準）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4120104"/>
            <a:ext cx="1783080" cy="56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BrightEdge 2025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188720"/>
            <a:ext cx="1965960" cy="3758184"/>
          </a:xfrm>
          <a:prstGeom prst="roundRect">
            <a:avLst>
              <a:gd name="adj" fmla="val 13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280160"/>
            <a:ext cx="1783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0.35</a:t>
            </a:r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54880" y="3255721"/>
            <a:ext cx="1783080" cy="751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公益事業の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AI経由直接流入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（全業界最低水準）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120104"/>
            <a:ext cx="1783080" cy="56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BrightEdge 2025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12280" y="1188720"/>
            <a:ext cx="1965960" cy="3758184"/>
          </a:xfrm>
          <a:prstGeom prst="roundRect">
            <a:avLst>
              <a:gd name="adj" fmla="val 139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03720" y="1280160"/>
            <a:ext cx="1783080" cy="18790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pPr algn="ctr" indent="0" marL="0">
              <a:buNone/>
            </a:pPr>
            <a:r>
              <a:rPr lang="en-US" sz="1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%減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03720" y="3255721"/>
            <a:ext cx="1783080" cy="751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検索エンジン経由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トラフィック減少予測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03720" y="4120104"/>
            <a:ext cx="1783080" cy="563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Gartner 2026年末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東京ガスのポジション / 強みとリスク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東京ガスは固有データを持つが、API化されていないことが最大のリスク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188720"/>
            <a:ext cx="4032504" cy="1728216"/>
          </a:xfrm>
          <a:prstGeom prst="roundRect">
            <a:avLst>
              <a:gd name="adj" fmla="val 1587"/>
            </a:avLst>
          </a:prstGeom>
          <a:solidFill>
            <a:srgbClr val="F1F5F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61872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現在の東京ガス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1600200"/>
            <a:ext cx="38496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固有データは豊富だがAPI未整備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エージェントからアクセス不能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早急にAPI基盤を構築すべき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45736" y="1188720"/>
            <a:ext cx="4032504" cy="1728216"/>
          </a:xfrm>
          <a:prstGeom prst="roundRect">
            <a:avLst>
              <a:gd name="adj" fmla="val 1587"/>
            </a:avLst>
          </a:prstGeom>
          <a:solidFill>
            <a:srgbClr val="F1F5F9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261872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目指すべき姿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37176" y="1600200"/>
            <a:ext cx="38496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固有データ × API整備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エージェントが「選ぶ」理由を提供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構造的な競争優位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90088"/>
            <a:ext cx="4032504" cy="1728216"/>
          </a:xfrm>
          <a:prstGeom prst="roundRect">
            <a:avLst>
              <a:gd name="adj" fmla="val 1587"/>
            </a:avLst>
          </a:prstGeom>
          <a:solidFill>
            <a:srgbClr val="F1F5F9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63240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一般的なWeb企業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401568"/>
            <a:ext cx="38496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固有データなし・API未整備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エージェント時代に淘汰リスク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45736" y="2990088"/>
            <a:ext cx="4032504" cy="1728216"/>
          </a:xfrm>
          <a:prstGeom prst="roundRect">
            <a:avLst>
              <a:gd name="adj" fmla="val 1587"/>
            </a:avLst>
          </a:prstGeom>
          <a:solidFill>
            <a:srgbClr val="F1F5F9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3063240"/>
            <a:ext cx="3849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大手プラットフォーマー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37176" y="3401568"/>
            <a:ext cx="384962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APIは整備済だが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エネルギー固有データなし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東京ガスと補完関係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 rot="16200000">
            <a:off x="365760" y="1188720"/>
            <a:ext cx="2286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← データの固有性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736592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API化の進捗 →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戦略の前提変化 / アプリ戦略の再考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「毎日使いたくなるアプリ」戦略の4つの前提がエージェント時代に崩れる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4069080" cy="3758184"/>
          </a:xfrm>
          <a:prstGeom prst="roundRect">
            <a:avLst>
              <a:gd name="adj" fmla="val 730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現在の前提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379476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お客さまがアプリを開いて情報を見る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機能追加でMAUが上がる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画面上のCTAでクロスセル導線を踏ませる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MAUが顧客接点の質を測る指標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269199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09160" y="1188720"/>
            <a:ext cx="4069080" cy="3758184"/>
          </a:xfrm>
          <a:prstGeom prst="roundRect">
            <a:avLst>
              <a:gd name="adj" fmla="val 730"/>
            </a:avLst>
          </a:prstGeom>
          <a:solidFill>
            <a:srgbClr val="F1F5F9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2801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エージェント時代の現実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79476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AIに聞けば画面を見なくて済む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ガス・電気に毎日確認の必然性がない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エージェントはバナーやCTAを見ない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エージェント経由の接点はMAU外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施策評価 / 効果逓減パターン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以下の施策パターンはエージェント時代に構造的に投資対効果が悪化する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560320"/>
                <a:gridCol w="3840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パターン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代表例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逓減の理由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3341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開かせるためのギミック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ポイント・ガチャ・スタンプラリー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画面を開かせる意味がなくなる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汎用コンテンツ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レシピ・暮らしコラム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AI検索に吸われる（CTR 61%減）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未パーソナライズ情報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天気連動の省エネTips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AIの方が個人最適化が上手い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大規模経済圏との消耗戦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クーポン・ECモール連携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d/楽天/PayPayと還元率で競争不能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F0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強い代替がある領域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家計簿、天気予報、防災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マネフォ・Yahoo!が圧倒的に強い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施策評価 / エージェント耐性の要件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310896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8404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エージェント時代に耐える施策は3つの要件を満たす必要がある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1051560"/>
            <a:ext cx="9144000" cy="914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88720"/>
            <a:ext cx="2779776" cy="1691183"/>
          </a:xfrm>
          <a:prstGeom prst="roundRect">
            <a:avLst>
              <a:gd name="adj" fmla="val 1081"/>
            </a:avLst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24358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481328"/>
            <a:ext cx="2633472" cy="473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固有データが中核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8912" y="1954859"/>
            <a:ext cx="2633472" cy="851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他社が真似できないデータ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（エネルギー消費・機器稼働・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点検情報）が中核にあること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1188720"/>
            <a:ext cx="2779776" cy="1691183"/>
          </a:xfrm>
          <a:prstGeom prst="roundRect">
            <a:avLst>
              <a:gd name="adj" fmla="val 1081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182112" y="124358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55264" y="1481328"/>
            <a:ext cx="2633472" cy="473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チャネル・KPI非依存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55264" y="1954859"/>
            <a:ext cx="2633472" cy="851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アプリ画面に閉じず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API経由でエージェントにも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提供できる設計であること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1188720"/>
            <a:ext cx="2779776" cy="1691183"/>
          </a:xfrm>
          <a:prstGeom prst="roundRect">
            <a:avLst>
              <a:gd name="adj" fmla="val 1081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98464" y="1243584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71616" y="1481328"/>
            <a:ext cx="2633472" cy="473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競争のモートを構築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71616" y="1954859"/>
            <a:ext cx="2633472" cy="851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エージェントが比較購買する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世界で「東京ガスが選ばれる」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理由を作ること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42976"/>
            <a:ext cx="2682240" cy="1691183"/>
          </a:xfrm>
          <a:prstGeom prst="roundRect">
            <a:avLst>
              <a:gd name="adj" fmla="val 162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3142976"/>
            <a:ext cx="2645664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280136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データ提供同意率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3645896"/>
            <a:ext cx="2407920" cy="1051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お客さまがAIエージェント等へのデータ提供に同意した割合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30880" y="3142976"/>
            <a:ext cx="2682240" cy="1691183"/>
          </a:xfrm>
          <a:prstGeom prst="roundRect">
            <a:avLst>
              <a:gd name="adj" fmla="val 162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9168" y="3142976"/>
            <a:ext cx="264566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3368040" y="3280136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既存顧客売上維持率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（NRR）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68040" y="3645896"/>
            <a:ext cx="2407920" cy="1051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エージェント経由のSW・アップセルも含めた収益指標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96000" y="3142976"/>
            <a:ext cx="2682240" cy="1691183"/>
          </a:xfrm>
          <a:prstGeom prst="roundRect">
            <a:avLst>
              <a:gd name="adj" fmla="val 162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14288" y="3142976"/>
            <a:ext cx="264566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233160" y="3280136"/>
            <a:ext cx="240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チャネル問わず転換率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33160" y="3645896"/>
            <a:ext cx="2407920" cy="1051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画面ファネルが細くなっても全体効果を見失わない指標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ネクストアクション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エージェント時代に「選ばれる」東京ガスを実現するために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Shape 4"/>
          <p:cNvSpPr/>
          <p:nvPr/>
        </p:nvSpPr>
        <p:spPr>
          <a:xfrm>
            <a:off x="1618488" y="1874520"/>
            <a:ext cx="292608" cy="29260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61848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" y="2240280"/>
            <a:ext cx="2606040" cy="1920240"/>
          </a:xfrm>
          <a:prstGeom prst="roundRect">
            <a:avLst>
              <a:gd name="adj" fmla="val 14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" y="2240280"/>
            <a:ext cx="2569464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598932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API基盤の構築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" y="27432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固有データ（エネルギー消費・機器稼働）をAPI経由で提供可能にする。まずmTGのデータ参照APIから着手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25696" y="1874520"/>
            <a:ext cx="292608" cy="29260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425696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68980" y="2240280"/>
            <a:ext cx="2606040" cy="1920240"/>
          </a:xfrm>
          <a:prstGeom prst="roundRect">
            <a:avLst>
              <a:gd name="adj" fmla="val 14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87268" y="2240280"/>
            <a:ext cx="2569464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340614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KPI体系の見直し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06140" y="27432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MAU/DAUに加え、データ提供同意率・NRR・チャネル問わず転換率を補助指標として導入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32904" y="187452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7232904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76188" y="2240280"/>
            <a:ext cx="2606040" cy="1920240"/>
          </a:xfrm>
          <a:prstGeom prst="roundRect">
            <a:avLst>
              <a:gd name="adj" fmla="val 1429"/>
            </a:avLst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94476" y="2240280"/>
            <a:ext cx="2569464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213348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認証基盤のスコープ拡張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3348" y="27432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Auth0刷新の中で、エージェントへの権限委任を将来追加できるスコープ設計を検討事項に含める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389120"/>
            <a:ext cx="8412480" cy="502920"/>
          </a:xfrm>
          <a:prstGeom prst="roundRect">
            <a:avLst>
              <a:gd name="adj" fmla="val 545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891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2400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重要: API基盤は新規投資ではなく、現在進行中のKraken連携・認証基盤刷新の設計思想に「エージェント対応」を組み込むことで追加コストを最小化できる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0" y="5084064"/>
            <a:ext cx="7315200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5084064"/>
            <a:ext cx="18288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AIエージェント時代の環境変化と東京ガスへの影響</dc:title>
  <dc:subject>PptxGenJS Presentation</dc:subject>
  <dc:creator>PptxGenJS</dc:creator>
  <cp:lastModifiedBy>PptxGenJS</cp:lastModifiedBy>
  <cp:revision>1</cp:revision>
  <dcterms:created xsi:type="dcterms:W3CDTF">2026-04-04T04:23:30Z</dcterms:created>
  <dcterms:modified xsi:type="dcterms:W3CDTF">2026-04-04T04:23:30Z</dcterms:modified>
</cp:coreProperties>
</file>