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デリバリーマネジメントチーム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 2026年度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開発投資のリターンを最大化するための挑戦目標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デリバリーマネジメントチーム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OKR全体像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3つの挑戦KRでバリューチェーン全区間をカバーし投資リターンを最大化する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Objective: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投資が最短・最確実に顧客価値へ変換されるデリバリーラインを確立する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529840" cy="1828800"/>
          </a:xfrm>
          <a:prstGeom prst="roundRect">
            <a:avLst>
              <a:gd name="adj" fmla="val 1500"/>
            </a:avLst>
          </a:prstGeom>
          <a:solidFill>
            <a:srgbClr val="EEF3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47672"/>
            <a:ext cx="2383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KR1: 入口品質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606040"/>
            <a:ext cx="2383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仕様起因の手戻りコストを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2028年度末に80%削減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見極める（PO主導）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87040" y="24231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7080" y="1874520"/>
            <a:ext cx="2529840" cy="1828800"/>
          </a:xfrm>
          <a:prstGeom prst="roundRect">
            <a:avLst>
              <a:gd name="adj" fmla="val 1500"/>
            </a:avLst>
          </a:prstGeom>
          <a:solidFill>
            <a:srgbClr val="EEF3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0232" y="1947672"/>
            <a:ext cx="2383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KR2: フロー効率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0232" y="2606040"/>
            <a:ext cx="2383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サイクルタイム中央値を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2028年度末に50%短縮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速くする（SM主導）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8360" y="24231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8400" y="1874520"/>
            <a:ext cx="2529840" cy="1828800"/>
          </a:xfrm>
          <a:prstGeom prst="roundRect">
            <a:avLst>
              <a:gd name="adj" fmla="val 1500"/>
            </a:avLst>
          </a:prstGeom>
          <a:solidFill>
            <a:srgbClr val="EEF3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1552" y="1947672"/>
            <a:ext cx="2383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KR3: 学習ループ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1552" y="2606040"/>
            <a:ext cx="2383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投資判断の学習サイクルを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2028年度末に全チーム定着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見極める（PO主導）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8130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学習がKR1の入口品質をさらに改善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412480" cy="475488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605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基盤KR: </a:t>
            </a:r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チーム健全性「良好」以上維持 ｜ チーフ育成マイルストーン達成率100%  — 全挑戦KRの前提条件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 / 入口品質 / 見極める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入口品質を確立し、仕様起因の手戻りコストを2028年度末にゼロに近づける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822960" cy="237744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15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11556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起因の手戻りが恒常的に発生しているが、原因分析の仕組みすら存在しない。Ready定義→手戻り原因可視化→仕様精度改善→PO判断高速化の因果チェーンを全チームに定着させること自体が未経験の挑戦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841248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2976" y="207111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基盤構築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Ready比率80%以上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手戻り30%削減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原因分類開始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17136" y="20711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6992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6992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改善加速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6992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手戻り50%削減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PO判断LT 2営業日以内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21296" y="20711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97408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2028年度末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7408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7408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手戻り80%削減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スコープ変更率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計測・制御運用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2026年度の重点施策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担い手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完了条件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Ready定義（受入条件テンプレ+Done定義）の標準化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全チームで「Ready未達PBIは着手しない」が徹底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手戻り原因分類プロセス導入（仕様/技術/外部）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PO+SM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スプリントレトロでトレンドレビューが運用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PO判断プロセス可視化・権限委譲ルール整備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判断待ち日数の計測開始、委譲基準が運用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スプリント中スコープ変更ルールの明文化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PO+SM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スコープ追加=PO承認+代替外し決定がルール化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 / フロー効率 / 速くする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サイクルタイム中央値を2028年度末までに現状比50%短縮する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822960" cy="237744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15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11556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KR1の入口品質改善（手戻り削減）が前提条件として効く。ボトルネック解消・PBI粒度の最適化・スプリント計画精度の向上を複合的に進めないと達成できない。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841248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2976" y="207111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計測+初期改善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ベースライン確立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20%短縮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ゴール達成率80%以上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17136" y="20711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6992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6992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6992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35%短縮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予測精度±3日以内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ゴール達成率85%以上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21296" y="20711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97408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2028年度末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7408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達成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7408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50%短縮達成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2026年度の重点施策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担い手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完了条件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サイクルタイム計測導入・レトロでトレンドレビュー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全チームのダッシュボード稼働、レトロで毎回確認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PBI粒度ガイドライン整備・小さく分割して流す習慣定着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SM+PO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1スプリントで完了可能なサイズが全チームの標準に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スプリントゴール達成率80%の全チーム目標設定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達成率が全チーム平均80%以上で推移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ボトルネック可視化（サイクルタイム工程別内訳）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滞留工程がダッシュボードで判別可能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KR間の因果関係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入口→フロー→学習の循環で投資判断の精度が向上し続ける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2286000" cy="1600200"/>
          </a:xfrm>
          <a:prstGeom prst="roundRect">
            <a:avLst>
              <a:gd name="adj" fmla="val 1714"/>
            </a:avLst>
          </a:prstGeom>
          <a:solidFill>
            <a:srgbClr val="EEF3F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35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KR1: 入口品質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良質な仕事を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フローに投入する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1885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03320" y="1325880"/>
            <a:ext cx="2286000" cy="1600200"/>
          </a:xfrm>
          <a:prstGeom prst="roundRect">
            <a:avLst>
              <a:gd name="adj" fmla="val 1714"/>
            </a:avLst>
          </a:prstGeom>
          <a:solidFill>
            <a:srgbClr val="EEF3F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435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KR2: フロー効率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投入された仕事を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速く流して届ける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885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1325880"/>
            <a:ext cx="2286000" cy="1600200"/>
          </a:xfrm>
          <a:prstGeom prst="roundRect">
            <a:avLst>
              <a:gd name="adj" fmla="val 1714"/>
            </a:avLst>
          </a:prstGeom>
          <a:solidFill>
            <a:srgbClr val="EEF3FA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435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KR3: 学習ループ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届けた結果を検証し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次の投資判断に活かす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08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KR3の学習結果 → PdMへフィードバック → 仮説精度向上 → バックログ品質向上 → KR1の入口品質がさらに改善（循環構造）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47872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因果関係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KR1 → KR2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入口品質↑（手戻り↓）がフロー効率改善を加速する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KR2 → KR3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速く届く → レビュー頻度↑ → 学習サイクルが速く回る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KR3 → KR1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学習結果がPdM経由で仮説精度を上げ、入口品質がさらに改善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 / 学習ループ / 見極める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投資判断の学習サイクルを2028年度末までに全チームで定着させる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822960" cy="237744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15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11556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スプリントレビューが「デモを見せて終わり」になりがち。「価値仮説を検証できたか？学びを次の優先順位にどう反映するか？」を構造的に扱う文化変革が必要。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841248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2976" y="207111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仕組み構築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レビュー価値検証導入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学習ログ運用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PdM月次FB開始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17136" y="20711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6992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6992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6992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価値仮説検証率80%以上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四半期計画に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学習レポート標準組込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21296" y="20711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974080" y="1600200"/>
            <a:ext cx="280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2028年度末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74080" y="222199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自律運用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74080" y="254203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バックログ優先順位変更の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検証起因50%以上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2026年度の重点施策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担い手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完了条件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スプリントレビューに「価値仮説の検証」枠を追加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全チームで仮説→結果の議題が含まれている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学習ログテンプレート作成・レビューごとに記録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仮説→結果→学び→次のアクションが蓄積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PdMへの月次フィードバックMTG設計・開始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月次「学びTop3+バックログ示唆」の共有が稼働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接続点（週次同期・レビュー・四半期計画）の運用品質計測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PO+SM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実施率・フィードバック件数が可視化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 / サステナビリティ / 守る・強くする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チーム健全性と育成基盤は全挑戦KRの前提条件として必達で守る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4114800" cy="3154680"/>
          </a:xfrm>
          <a:prstGeom prst="roundRect">
            <a:avLst>
              <a:gd name="adj" fmla="val 87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88720"/>
            <a:ext cx="407822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基盤KR1: チーム健全性「良好」以上で通年維持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【指標】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チーム健全性スコア: 全チーム「良好」以上（月次）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メンタル不調起因の離脱: 0件（月次）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負荷集中度: 特定メンバーへの偏り20%以内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【施策】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月次1on1で負荷・モチベーション・キャリアを確認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負荷分散ダッシュボード構築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チーム間の負荷調整ルール明文化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154680"/>
          </a:xfrm>
          <a:prstGeom prst="roundRect">
            <a:avLst>
              <a:gd name="adj" fmla="val 87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188720"/>
            <a:ext cx="407822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基盤KR2: チーフ育成マイルストーン達成率100%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【指標】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育成マイルストーン達成率: 100%（四半期）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リーダー実践機会: 年2回以上のリード経験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【施策】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Q1に育成計画（スキルマップ+マイルストーン）策定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スプリントリード・レトロファシリ等を計画的に委譲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四半期ごとに候補者・上長と3者レビュー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チームが健全でなければ改善活動自体が回らない。基盤KRは全挑戦KR（KR1-3）の前提条件として位置づける。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 アクションプラン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2026年度は計測基盤とプロセスの仕組みを構築し、改善サイクルの土台を作る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63240"/>
                <a:gridCol w="3977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2026年度末の到達目標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重点施策（抜粋）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入口品質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バックログ健全性80%以上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仕様起因手戻り30%削減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原因分類プロセス稼働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Ready定義標準化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手戻り原因分類（仕様/技術/外部）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PO判断プロセス可視化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フロー効率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サイクルタイム計測+20%短縮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スプリントゴール達成率80%以上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サイクルタイム・ボトルネック計測導入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PBI粒度ガイドライン整備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ゴール達成率の全チーム目標化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学習ループ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レビュー価値検証アジェンダ導入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学習ログ運用開始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PdM月次FB稼働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スプリントレビュー価値検証枠追加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学習ログテンプレート運用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接続点の運用品質計測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健全性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全チーム「良好」以上で通年維持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メンタル不調離脱ゼロ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月次1on1の質向上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負荷分散ダッシュボード構築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育成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チーフ育成マイルストーン達成率100%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育成計画策定（Q1）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リーダー業務の計画的委譲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2026年度は「仕組みを作る年」。2027年度以降に改善が加速し、2028年度末に挑戦KRの成果を刈り取る。短期的な数字の達成より、計測・改善のサイクルが回り始めることを最優先する。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デリバリーマネジメントチーム OKR 2026</dc:title>
  <dc:subject>PptxGenJS Presentation</dc:subject>
  <dc:creator>PptxGenJS</dc:creator>
  <cp:lastModifiedBy>PptxGenJS</cp:lastModifiedBy>
  <cp:revision>1</cp:revision>
  <dcterms:created xsi:type="dcterms:W3CDTF">2026-04-04T09:33:30Z</dcterms:created>
  <dcterms:modified xsi:type="dcterms:W3CDTF">2026-04-04T09:33:30Z</dcterms:modified>
</cp:coreProperties>
</file>